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e8e468d-06d9-33d7-dca3-a7ed1cac914b}">
          <p14:sldIdLst>
            <p14:sldId id="256"/>
            <p14:sldId id="257"/>
          </p14:sldIdLst>
        </p14:section>
        <p14:section name="The digital twin" id="{686723de-786e-3d71-e857-bcea11340dcb}">
          <p14:sldIdLst>
            <p14:sldId id="258"/>
            <p14:sldId id="259"/>
          </p14:sldIdLst>
        </p14:section>
        <p14:section name="Data" id="{4a501251-4526-85db-3933-59d8d6d1671d}">
          <p14:sldIdLst>
            <p14:sldId id="260"/>
            <p14:sldId id="261"/>
          </p14:sldIdLst>
        </p14:section>
        <p14:section name="Model · Sync · Simulate" id="{a8815f1c-17bf-722e-4e17-0067cbd7e97f}">
          <p14:sldIdLst>
            <p14:sldId id="262"/>
            <p14:sldId id="263"/>
            <p14:sldId id="264"/>
          </p14:sldIdLst>
        </p14:section>
        <p14:section name="Results" id="{6fa930e6-0da7-2f47-4d23-861957247f91}">
          <p14:sldIdLst>
            <p14:sldId id="265"/>
            <p14:sldId id="266"/>
            <p14:sldId id="267"/>
            <p14:sldId id="268"/>
            <p14:sldId id="269"/>
            <p14:sldId id="270"/>
            <p14:sldId id="271"/>
            <p14:sldId id="272"/>
          </p14:sldIdLst>
        </p14:section>
        <p14:section name="Dashboard" id="{c23e3608-f6fb-868c-2acb-5a4c06e4caed}">
          <p14:sldIdLst>
            <p14:sldId id="273"/>
            <p14:sldId id="274"/>
            <p14:sldId id="275"/>
            <p14:sldId id="276"/>
            <p14:sldId id="277"/>
          </p14:sldIdLst>
        </p14:section>
        <p14:section name="Responsible by design" id="{1c197fd3-c935-0df9-df03-0c2a17a6a9e0}">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MadhuTwin, from Madhumeha, the classical Indian name for diabetes, is a living virtual replica of each patient: it models their physiology, stays synchronised with their CGM, and simulates the next hours to warn the care team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India's diabetes burden is enormous, care is visit-based and reactive. The dangerous moments, post-meal spikes, nocturnal lows, illness, happen between visits. Wearables now capture them, but clinicians need the signal, not the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a digital twin and not just a classifier: model, sync, simulate. TwinNet adds machine learning on top of the twin, and learns how much to trust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EHR and wearable streams are ingested into one schema; the twin core models, syncs and simulates; TwinNet produces forecasts and alerts; the clinician sees them in the dashboard and any EHR can receive them as FHIR. Governance spans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EHR stream follows India's ABDM stack and exports as FHIR R4. Wearable streams come from CGM, smartwatch and logs. We use four sources: a synthetic India-calibrated cohort for scale, CGMacros as real-world validation, BIG IDEAs for real wristband heart rate and HRV, and ShanghaiT2DM as an external population with no wearables.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synthetic EHR and wearables are not two independent random tables. Both are generated from one simulated body, so a fusion model can learn genuine cross-stream relationships. Statistics match real CGM data by glycaemic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twin's five personal parameters are fitted from a week of CGM, meals and activity, with priors from the EHR. On 45 real people, the fitted parameters line up with laboratory measures: evidence the twin is physiologically meaningful, not a curve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Synchronisation is what keeps a twin alive. Besides glucose and insulin, the filter estimates how insulin sensitivity is drifting. On held-out synthetic patients it separates ill days from well days without any symptom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TwinNet: the dynamic stream goes through a causal temporal convolution, the EHR conditions it through FiLM, and the twin's forecast enters through a gate. The gate is interpretable: the network leans on physics more at longer horizons, where data-driven extrapolation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grows with horizon for every method, but MadhuTwin stays well below simply assuming glucose stays flat. Clarke Error Grid zones A and B are clinically acceptable. Conformal calibration keeps the 80% band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twin should get better the longer it knows you. On day k the mechanistic twin is fitted to the person's first k days and TwinNet is fine-tuned on the same days; error on the following week falls with more personal data, most of it after the very first day. Day zero is the population model with no personal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that cry wolf get switched off, so we fix the alert budget first: at most one false alert episode per patient-day, and report how many spikes are caught within it. The dashboard adds hysteresis so a flickering probability doesn't page anyone repeatedly. The lead time is measured from the first alert to the start of the sustained excursion.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a clinician asks. Are the probabilities honest? Training with class weights makes raw risks too high, so each site recalibrates on its own past patients; afterwards the calibration curve follows the diagonal. Is acting on them worth it? Decision-curve analysis shows net benefit over the default strategies. Does it work for everyone? Error is similar across subgroups; the hardest group is therapy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ask of the challenge: does fusing the static and dynamic streams help? The same model was retrained on each combination of streams; the full hybrid wins on both forecast error and event discrimination.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evidence: pretraining on the synthetic Indian cohort and fine-tuning on a few real patients (sim-to-real), then on each person, is the regime we recommend for deployment. BIG IDEAs tests real wristband heart rate and HRV; Shanghai shows the model still works when a whole modality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CGM sensors are expensive for many Indian families. A short CGM period teaches the twin the person's physiology; afterwards the twin uses cheap fingersticks and smartwatch data to keep an estimate of continuous glucose and time in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questions. Missing data: the same model degrades gracefully without a smartwatch, an EHR or meal logs, and when half of past CGM readings are lost. Whole-day fidelity: replaying every day open-loop, the twin tracks daily mean glucose and time in range but not short lows, which is why lows are left to the 2-hour forecast. Cost: milliseconds per forecast on 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patient on the panel is a live twin. Current lows first, then predicted lows, patients already high, and predicted new spikes. Status always uses an icon and a label, never colour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chart shows 24 hours of CGM, the 2-hour forecast cone and the physics twin's projection, with meals, medication and sleep lanes below. The risk card explains the alert. The virtual-patient panel turns fitted parameters into organ-level physiology a clinician recognises.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virtual patient is a real 3D human body, shaped from this patient's sex and BMI, with anatomical organs inside, each coloured by what the twin has learned about it. The heart beats at the patient's own night heart rate. Organ meshes: BodyParts3D, (c) 2008 Life Science Integrated Database Center, CC BY-SA 2.1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tests a meal swap or a walk on this patient's twin and sees the predicted peak change. Personal meal ranking shows which Indian meals suit this body. The patient companion delivers simple nudges in Hindi, Kannada or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therapy simulator replays yesterday's meals and activity for tomorrow, on this patient's synced twin, under the usual and an adjusted regimen: insulin and sulfonylurea doses and timing, DPP-4 and SGLT2 inhibitors, with stress tests such as a skipped lunch and a dose-response table. A trust check shows how well the twin reproduced the last 24 hours, and warns when it cannot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data is the most sensitive personal data. The design follows the DPDP Act and ABDM, every answer is explainable, and the evaluation states its limits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path forward: clinical co-design, a pilot in Bengaluru, then prospective validation. The goal is measurable: fewer lows, more time in range, earlier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8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7A8291"/>
                </a:solidFill>
                <a:latin typeface="Calibri" pitchFamily="34" charset="0"/>
                <a:ea typeface="Calibri" pitchFamily="34" charset="-122"/>
                <a:cs typeface="Calibri" pitchFamily="34" charset="-120"/>
              </a:rPr>
              <a:t>MadhuTwin · Happiest Health Digital Twin Challenge 2026</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55448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MadhuTwin</a:t>
            </a:r>
            <a:endParaRPr lang="en-US" sz="6000" dirty="0"/>
          </a:p>
        </p:txBody>
      </p:sp>
      <p:sp>
        <p:nvSpPr>
          <p:cNvPr id="3" name="Text 1"/>
          <p:cNvSpPr txBox="1"/>
          <p:nvPr/>
        </p:nvSpPr>
        <p:spPr>
          <a:xfrm>
            <a:off x="731520" y="2651760"/>
            <a:ext cx="9601200" cy="914400"/>
          </a:xfrm>
          <a:prstGeom prst="rect">
            <a:avLst/>
          </a:prstGeom>
          <a:noFill/>
          <a:ln/>
        </p:spPr>
        <p:txBody>
          <a:bodyPr wrap="square" lIns="0" tIns="0" rIns="0" bIns="0" rtlCol="0" anchor="ctr"/>
          <a:lstStyle/>
          <a:p>
            <a:pPr indent="0" marL="0">
              <a:buNone/>
            </a:pPr>
            <a:r>
              <a:rPr lang="en-US" sz="2200" dirty="0">
                <a:solidFill>
                  <a:srgbClr val="DCE4F2"/>
                </a:solidFill>
              </a:rPr>
              <a:t>A hybrid digital twin for Type 2 Diabetes that fuses EHR and wearable data to warn doctors up to 2 hours before glucose spikes and lows</a:t>
            </a:r>
            <a:endParaRPr lang="en-US" sz="2200" dirty="0"/>
          </a:p>
        </p:txBody>
      </p:sp>
      <p:sp>
        <p:nvSpPr>
          <p:cNvPr id="4" name="Shape 2"/>
          <p:cNvSpPr/>
          <p:nvPr/>
        </p:nvSpPr>
        <p:spPr>
          <a:xfrm>
            <a:off x="731520" y="3931920"/>
            <a:ext cx="1463040" cy="502920"/>
          </a:xfrm>
          <a:prstGeom prst="roundRect">
            <a:avLst>
              <a:gd name="adj" fmla="val 18182"/>
            </a:avLst>
          </a:prstGeom>
          <a:solidFill>
            <a:srgbClr val="E8A317"/>
          </a:solidFill>
          <a:ln w="12700">
            <a:solidFill>
              <a:srgbClr val="E8A317"/>
            </a:solidFill>
            <a:prstDash val="solid"/>
          </a:ln>
        </p:spPr>
      </p:sp>
      <p:sp>
        <p:nvSpPr>
          <p:cNvPr id="5" name="Text 3"/>
          <p:cNvSpPr txBox="1"/>
          <p:nvPr/>
        </p:nvSpPr>
        <p:spPr>
          <a:xfrm>
            <a:off x="731520" y="3931920"/>
            <a:ext cx="1463040" cy="502920"/>
          </a:xfrm>
          <a:prstGeom prst="rect">
            <a:avLst/>
          </a:prstGeom>
          <a:noFill/>
          <a:ln/>
        </p:spPr>
        <p:txBody>
          <a:bodyPr wrap="square" lIns="0" tIns="0" rIns="0" bIns="0" rtlCol="0" anchor="ctr"/>
          <a:lstStyle/>
          <a:p>
            <a:pPr algn="ctr" indent="0" marL="0">
              <a:buNone/>
            </a:pPr>
            <a:r>
              <a:rPr lang="en-US" sz="1400" b="1" dirty="0">
                <a:solidFill>
                  <a:srgbClr val="14284B"/>
                </a:solidFill>
              </a:rPr>
              <a:t>MODEL</a:t>
            </a:r>
            <a:endParaRPr lang="en-US" sz="1400" dirty="0"/>
          </a:p>
        </p:txBody>
      </p:sp>
      <p:sp>
        <p:nvSpPr>
          <p:cNvPr id="6" name="Shape 4"/>
          <p:cNvSpPr/>
          <p:nvPr/>
        </p:nvSpPr>
        <p:spPr>
          <a:xfrm>
            <a:off x="2331720" y="3931920"/>
            <a:ext cx="1463040" cy="502920"/>
          </a:xfrm>
          <a:prstGeom prst="roundRect">
            <a:avLst>
              <a:gd name="adj" fmla="val 18182"/>
            </a:avLst>
          </a:prstGeom>
          <a:solidFill>
            <a:srgbClr val="2A3F66"/>
          </a:solidFill>
          <a:ln w="12700">
            <a:solidFill>
              <a:srgbClr val="2A3F66"/>
            </a:solidFill>
            <a:prstDash val="solid"/>
          </a:ln>
        </p:spPr>
      </p:sp>
      <p:sp>
        <p:nvSpPr>
          <p:cNvPr id="7" name="Text 5"/>
          <p:cNvSpPr txBox="1"/>
          <p:nvPr/>
        </p:nvSpPr>
        <p:spPr>
          <a:xfrm>
            <a:off x="23317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SYNC</a:t>
            </a:r>
            <a:endParaRPr lang="en-US" sz="1400" dirty="0"/>
          </a:p>
        </p:txBody>
      </p:sp>
      <p:sp>
        <p:nvSpPr>
          <p:cNvPr id="8" name="Shape 6"/>
          <p:cNvSpPr/>
          <p:nvPr/>
        </p:nvSpPr>
        <p:spPr>
          <a:xfrm>
            <a:off x="3931920" y="3931920"/>
            <a:ext cx="1463040" cy="502920"/>
          </a:xfrm>
          <a:prstGeom prst="roundRect">
            <a:avLst>
              <a:gd name="adj" fmla="val 18182"/>
            </a:avLst>
          </a:prstGeom>
          <a:solidFill>
            <a:srgbClr val="2A3F66"/>
          </a:solidFill>
          <a:ln w="12700">
            <a:solidFill>
              <a:srgbClr val="2A3F66"/>
            </a:solidFill>
            <a:prstDash val="solid"/>
          </a:ln>
        </p:spPr>
      </p:sp>
      <p:sp>
        <p:nvSpPr>
          <p:cNvPr id="9" name="Text 7"/>
          <p:cNvSpPr txBox="1"/>
          <p:nvPr/>
        </p:nvSpPr>
        <p:spPr>
          <a:xfrm>
            <a:off x="39319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SIMULATE</a:t>
            </a:r>
            <a:endParaRPr lang="en-US" sz="1400" dirty="0"/>
          </a:p>
        </p:txBody>
      </p:sp>
      <p:sp>
        <p:nvSpPr>
          <p:cNvPr id="10" name="Text 8"/>
          <p:cNvSpPr txBox="1"/>
          <p:nvPr/>
        </p:nvSpPr>
        <p:spPr>
          <a:xfrm>
            <a:off x="731520" y="5120640"/>
            <a:ext cx="10058400" cy="365760"/>
          </a:xfrm>
          <a:prstGeom prst="rect">
            <a:avLst/>
          </a:prstGeom>
          <a:noFill/>
          <a:ln/>
        </p:spPr>
        <p:txBody>
          <a:bodyPr wrap="square" lIns="0" tIns="0" rIns="0" bIns="0" rtlCol="0" anchor="ctr"/>
          <a:lstStyle/>
          <a:p>
            <a:pPr indent="0" marL="0">
              <a:buNone/>
            </a:pPr>
            <a:r>
              <a:rPr lang="en-US" sz="1600" dirty="0">
                <a:solidFill>
                  <a:srgbClr val="FFFFFF"/>
                </a:solidFill>
              </a:rPr>
              <a:t>Team: TODO(team) · College / incubator: TODO(team)</a:t>
            </a:r>
            <a:endParaRPr lang="en-US" sz="1600" dirty="0"/>
          </a:p>
        </p:txBody>
      </p:sp>
      <p:sp>
        <p:nvSpPr>
          <p:cNvPr id="11" name="Text 9"/>
          <p:cNvSpPr txBox="1"/>
          <p:nvPr/>
        </p:nvSpPr>
        <p:spPr>
          <a:xfrm>
            <a:off x="731520" y="5532120"/>
            <a:ext cx="10058400" cy="365760"/>
          </a:xfrm>
          <a:prstGeom prst="rect">
            <a:avLst/>
          </a:prstGeom>
          <a:noFill/>
          <a:ln/>
        </p:spPr>
        <p:txBody>
          <a:bodyPr wrap="square" lIns="0" tIns="0" rIns="0" bIns="0" rtlCol="0" anchor="ctr"/>
          <a:lstStyle/>
          <a:p>
            <a:pPr indent="0" marL="0">
              <a:buNone/>
            </a:pPr>
            <a:r>
              <a:rPr lang="en-US" sz="1400" dirty="0">
                <a:solidFill>
                  <a:srgbClr val="AEBBD3"/>
                </a:solidFill>
              </a:rPr>
              <a:t>Happiest Health Digital Twin Challenge 2026 · Phase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Diabetes care in India is reactive</a:t>
            </a:r>
            <a:endParaRPr lang="en-US" sz="3000" dirty="0"/>
          </a:p>
        </p:txBody>
      </p:sp>
      <p:sp>
        <p:nvSpPr>
          <p:cNvPr id="3" name="Text 1"/>
          <p:cNvSpPr txBox="1"/>
          <p:nvPr/>
        </p:nvSpPr>
        <p:spPr>
          <a:xfrm>
            <a:off x="457200" y="155448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101 million</a:t>
            </a:r>
            <a:endParaRPr lang="en-US" sz="4000" dirty="0"/>
          </a:p>
        </p:txBody>
      </p:sp>
      <p:sp>
        <p:nvSpPr>
          <p:cNvPr id="4" name="Text 2"/>
          <p:cNvSpPr txBox="1"/>
          <p:nvPr/>
        </p:nvSpPr>
        <p:spPr>
          <a:xfrm>
            <a:off x="457200" y="2267712"/>
            <a:ext cx="3291840" cy="548640"/>
          </a:xfrm>
          <a:prstGeom prst="rect">
            <a:avLst/>
          </a:prstGeom>
          <a:noFill/>
          <a:ln/>
        </p:spPr>
        <p:txBody>
          <a:bodyPr wrap="square" lIns="0" tIns="0" rIns="0" bIns="0" rtlCol="0" anchor="t"/>
          <a:lstStyle/>
          <a:p>
            <a:pPr indent="0" marL="0">
              <a:buNone/>
            </a:pPr>
            <a:r>
              <a:rPr lang="en-US" sz="1300" dirty="0">
                <a:solidFill>
                  <a:srgbClr val="4A5260"/>
                </a:solidFill>
              </a:rPr>
              <a:t>adults in India live with diabetes</a:t>
            </a:r>
            <a:endParaRPr lang="en-US" sz="1300" dirty="0"/>
          </a:p>
        </p:txBody>
      </p:sp>
      <p:sp>
        <p:nvSpPr>
          <p:cNvPr id="5" name="Text 3"/>
          <p:cNvSpPr txBox="1"/>
          <p:nvPr/>
        </p:nvSpPr>
        <p:spPr>
          <a:xfrm>
            <a:off x="457200" y="310896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136 million</a:t>
            </a:r>
            <a:endParaRPr lang="en-US" sz="4000" dirty="0"/>
          </a:p>
        </p:txBody>
      </p:sp>
      <p:sp>
        <p:nvSpPr>
          <p:cNvPr id="6" name="Text 4"/>
          <p:cNvSpPr txBox="1"/>
          <p:nvPr/>
        </p:nvSpPr>
        <p:spPr>
          <a:xfrm>
            <a:off x="457200" y="3822192"/>
            <a:ext cx="3291840" cy="548640"/>
          </a:xfrm>
          <a:prstGeom prst="rect">
            <a:avLst/>
          </a:prstGeom>
          <a:noFill/>
          <a:ln/>
        </p:spPr>
        <p:txBody>
          <a:bodyPr wrap="square" lIns="0" tIns="0" rIns="0" bIns="0" rtlCol="0" anchor="t"/>
          <a:lstStyle/>
          <a:p>
            <a:pPr indent="0" marL="0">
              <a:buNone/>
            </a:pPr>
            <a:r>
              <a:rPr lang="en-US" sz="1300" dirty="0">
                <a:solidFill>
                  <a:srgbClr val="4A5260"/>
                </a:solidFill>
              </a:rPr>
              <a:t>more have prediabetes</a:t>
            </a:r>
            <a:endParaRPr lang="en-US" sz="1300" dirty="0"/>
          </a:p>
        </p:txBody>
      </p:sp>
      <p:sp>
        <p:nvSpPr>
          <p:cNvPr id="7" name="Text 5"/>
          <p:cNvSpPr txBox="1"/>
          <p:nvPr/>
        </p:nvSpPr>
        <p:spPr>
          <a:xfrm>
            <a:off x="457200" y="4572000"/>
            <a:ext cx="3474720" cy="365760"/>
          </a:xfrm>
          <a:prstGeom prst="rect">
            <a:avLst/>
          </a:prstGeom>
          <a:noFill/>
          <a:ln/>
        </p:spPr>
        <p:txBody>
          <a:bodyPr wrap="square" lIns="0" tIns="0" rIns="0" bIns="0" rtlCol="0" anchor="ctr"/>
          <a:lstStyle/>
          <a:p>
            <a:pPr indent="0" marL="0">
              <a:buNone/>
            </a:pPr>
            <a:r>
              <a:rPr lang="en-US" sz="1100" dirty="0">
                <a:solidFill>
                  <a:srgbClr val="7A8291"/>
                </a:solidFill>
              </a:rPr>
              <a:t>Source: ICMR-INDIAB, Lancet Diabetes &amp; Endocrinology 2023</a:t>
            </a:r>
            <a:endParaRPr lang="en-US" sz="1100" dirty="0"/>
          </a:p>
        </p:txBody>
      </p:sp>
      <p:sp>
        <p:nvSpPr>
          <p:cNvPr id="8" name="Shape 6"/>
          <p:cNvSpPr/>
          <p:nvPr/>
        </p:nvSpPr>
        <p:spPr>
          <a:xfrm>
            <a:off x="4389120" y="1554480"/>
            <a:ext cx="7315200" cy="1143000"/>
          </a:xfrm>
          <a:prstGeom prst="roundRect">
            <a:avLst>
              <a:gd name="adj" fmla="val 6400"/>
            </a:avLst>
          </a:prstGeom>
          <a:solidFill>
            <a:srgbClr val="F2F5FA"/>
          </a:solidFill>
          <a:ln w="12700">
            <a:solidFill>
              <a:srgbClr val="F2F5FA"/>
            </a:solidFill>
            <a:prstDash val="solid"/>
          </a:ln>
        </p:spPr>
      </p:sp>
      <p:sp>
        <p:nvSpPr>
          <p:cNvPr id="9" name="Text 7"/>
          <p:cNvSpPr txBox="1"/>
          <p:nvPr/>
        </p:nvSpPr>
        <p:spPr>
          <a:xfrm>
            <a:off x="4553712" y="166420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A quarterly HbA1c describes the past</a:t>
            </a:r>
            <a:endParaRPr lang="en-US" sz="1500" dirty="0"/>
          </a:p>
          <a:p>
            <a:pPr indent="0" marL="0">
              <a:spcAft>
                <a:spcPts val="400"/>
              </a:spcAft>
              <a:buNone/>
            </a:pPr>
            <a:r>
              <a:rPr lang="en-US" sz="1300" dirty="0">
                <a:solidFill>
                  <a:srgbClr val="4A5260"/>
                </a:solidFill>
              </a:rPr>
              <a:t>It cannot warn about tonight's low on a sulfonylurea or premixed insulin, or tomorrow's illness-driven rise.</a:t>
            </a:r>
            <a:endParaRPr lang="en-US" sz="1500" dirty="0"/>
          </a:p>
        </p:txBody>
      </p:sp>
      <p:sp>
        <p:nvSpPr>
          <p:cNvPr id="10" name="Shape 8"/>
          <p:cNvSpPr/>
          <p:nvPr/>
        </p:nvSpPr>
        <p:spPr>
          <a:xfrm>
            <a:off x="4389120" y="2834640"/>
            <a:ext cx="7315200" cy="1143000"/>
          </a:xfrm>
          <a:prstGeom prst="roundRect">
            <a:avLst>
              <a:gd name="adj" fmla="val 6400"/>
            </a:avLst>
          </a:prstGeom>
          <a:solidFill>
            <a:srgbClr val="F2F5FA"/>
          </a:solidFill>
          <a:ln w="12700">
            <a:solidFill>
              <a:srgbClr val="F2F5FA"/>
            </a:solidFill>
            <a:prstDash val="solid"/>
          </a:ln>
        </p:spPr>
      </p:sp>
      <p:sp>
        <p:nvSpPr>
          <p:cNvPr id="11" name="Text 9"/>
          <p:cNvSpPr txBox="1"/>
          <p:nvPr/>
        </p:nvSpPr>
        <p:spPr>
          <a:xfrm>
            <a:off x="4553712" y="294436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Post-meal spikes go unseen</a:t>
            </a:r>
            <a:endParaRPr lang="en-US" sz="1500" dirty="0"/>
          </a:p>
          <a:p>
            <a:pPr indent="0" marL="0">
              <a:spcAft>
                <a:spcPts val="400"/>
              </a:spcAft>
              <a:buNone/>
            </a:pPr>
            <a:r>
              <a:rPr lang="en-US" sz="1300" dirty="0">
                <a:solidFill>
                  <a:srgbClr val="4A5260"/>
                </a:solidFill>
              </a:rPr>
              <a:t>Rice- and roti-heavy meals, late dinners and festival sweets drive excursions that clinic visits never capture.</a:t>
            </a:r>
            <a:endParaRPr lang="en-US" sz="1500" dirty="0"/>
          </a:p>
        </p:txBody>
      </p:sp>
      <p:sp>
        <p:nvSpPr>
          <p:cNvPr id="12" name="Shape 10"/>
          <p:cNvSpPr/>
          <p:nvPr/>
        </p:nvSpPr>
        <p:spPr>
          <a:xfrm>
            <a:off x="4389120" y="4114800"/>
            <a:ext cx="7315200" cy="1143000"/>
          </a:xfrm>
          <a:prstGeom prst="roundRect">
            <a:avLst>
              <a:gd name="adj" fmla="val 6400"/>
            </a:avLst>
          </a:prstGeom>
          <a:solidFill>
            <a:srgbClr val="F2F5FA"/>
          </a:solidFill>
          <a:ln w="12700">
            <a:solidFill>
              <a:srgbClr val="F2F5FA"/>
            </a:solidFill>
            <a:prstDash val="solid"/>
          </a:ln>
        </p:spPr>
      </p:sp>
      <p:sp>
        <p:nvSpPr>
          <p:cNvPr id="13" name="Text 11"/>
          <p:cNvSpPr txBox="1"/>
          <p:nvPr/>
        </p:nvSpPr>
        <p:spPr>
          <a:xfrm>
            <a:off x="4553712" y="422452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Data exists, attention does not</a:t>
            </a:r>
            <a:endParaRPr lang="en-US" sz="1500" dirty="0"/>
          </a:p>
          <a:p>
            <a:pPr indent="0" marL="0">
              <a:spcAft>
                <a:spcPts val="400"/>
              </a:spcAft>
              <a:buNone/>
            </a:pPr>
            <a:r>
              <a:rPr lang="en-US" sz="1300" dirty="0">
                <a:solidFill>
                  <a:srgbClr val="4A5260"/>
                </a:solidFill>
              </a:rPr>
              <a:t>CGMs and smartwatches stream thousands of readings a day; no care team can watch hundreds of patients' streams.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MadhuTwin: a living virtual replica of each patient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Not just a predictor: the three defining properties of a digital twin</a:t>
            </a:r>
            <a:endParaRPr lang="en-US" sz="1500" dirty="0"/>
          </a:p>
        </p:txBody>
      </p:sp>
      <p:sp>
        <p:nvSpPr>
          <p:cNvPr id="4" name="Shape 2"/>
          <p:cNvSpPr/>
          <p:nvPr/>
        </p:nvSpPr>
        <p:spPr>
          <a:xfrm>
            <a:off x="457200" y="1691640"/>
            <a:ext cx="3611880" cy="3108960"/>
          </a:xfrm>
          <a:prstGeom prst="roundRect">
            <a:avLst>
              <a:gd name="adj" fmla="val 2941"/>
            </a:avLst>
          </a:prstGeom>
          <a:solidFill>
            <a:srgbClr val="14284B"/>
          </a:solidFill>
          <a:ln w="12700">
            <a:solidFill>
              <a:srgbClr val="14284B"/>
            </a:solidFill>
            <a:prstDash val="solid"/>
          </a:ln>
        </p:spPr>
      </p:sp>
      <p:sp>
        <p:nvSpPr>
          <p:cNvPr id="5" name="Text 3"/>
          <p:cNvSpPr txBox="1"/>
          <p:nvPr/>
        </p:nvSpPr>
        <p:spPr>
          <a:xfrm>
            <a:off x="68580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E8A317"/>
                </a:solidFill>
              </a:rPr>
              <a:t>MODEL</a:t>
            </a:r>
            <a:endParaRPr lang="en-US" sz="2200" dirty="0"/>
          </a:p>
          <a:p>
            <a:pPr indent="0" marL="0">
              <a:spcAft>
                <a:spcPts val="800"/>
              </a:spcAft>
              <a:buNone/>
            </a:pPr>
            <a:r>
              <a:rPr lang="en-US" sz="1600" b="1" dirty="0">
                <a:solidFill>
                  <a:srgbClr val="FFFFFF"/>
                </a:solidFill>
              </a:rPr>
              <a:t>Personalised glucose–insulin physiology</a:t>
            </a:r>
            <a:endParaRPr lang="en-US" sz="2200" dirty="0"/>
          </a:p>
          <a:p>
            <a:pPr indent="0" marL="0">
              <a:spcAft>
                <a:spcPts val="800"/>
              </a:spcAft>
              <a:buNone/>
            </a:pPr>
            <a:r>
              <a:rPr lang="en-US" sz="1400" dirty="0">
                <a:solidFill>
                  <a:srgbClr val="DCE4F2"/>
                </a:solidFill>
              </a:rPr>
              <a:t>An extended minimal model with meals, exercise, sleep, dawn effect and Indian therapies, fitted to each patient with EHR-based priors.</a:t>
            </a:r>
            <a:endParaRPr lang="en-US" sz="2200" dirty="0"/>
          </a:p>
        </p:txBody>
      </p:sp>
      <p:sp>
        <p:nvSpPr>
          <p:cNvPr id="6" name="Shape 4"/>
          <p:cNvSpPr/>
          <p:nvPr/>
        </p:nvSpPr>
        <p:spPr>
          <a:xfrm>
            <a:off x="4251960" y="1691640"/>
            <a:ext cx="3611880" cy="3108960"/>
          </a:xfrm>
          <a:prstGeom prst="roundRect">
            <a:avLst>
              <a:gd name="adj" fmla="val 2941"/>
            </a:avLst>
          </a:prstGeom>
          <a:solidFill>
            <a:srgbClr val="F2F5FA"/>
          </a:solidFill>
          <a:ln w="12700">
            <a:solidFill>
              <a:srgbClr val="F2F5FA"/>
            </a:solidFill>
            <a:prstDash val="solid"/>
          </a:ln>
        </p:spPr>
      </p:sp>
      <p:sp>
        <p:nvSpPr>
          <p:cNvPr id="7" name="Text 5"/>
          <p:cNvSpPr txBox="1"/>
          <p:nvPr/>
        </p:nvSpPr>
        <p:spPr>
          <a:xfrm>
            <a:off x="448056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SYNC</a:t>
            </a:r>
            <a:endParaRPr lang="en-US" sz="2200" dirty="0"/>
          </a:p>
          <a:p>
            <a:pPr indent="0" marL="0">
              <a:spcAft>
                <a:spcPts val="800"/>
              </a:spcAft>
              <a:buNone/>
            </a:pPr>
            <a:r>
              <a:rPr lang="en-US" sz="1600" b="1" dirty="0">
                <a:solidFill>
                  <a:srgbClr val="222833"/>
                </a:solidFill>
              </a:rPr>
              <a:t>Continuously updated from live data</a:t>
            </a:r>
            <a:endParaRPr lang="en-US" sz="2200" dirty="0"/>
          </a:p>
          <a:p>
            <a:pPr indent="0" marL="0">
              <a:spcAft>
                <a:spcPts val="800"/>
              </a:spcAft>
              <a:buNone/>
            </a:pPr>
            <a:r>
              <a:rPr lang="en-US" sz="1400" dirty="0">
                <a:solidFill>
                  <a:srgbClr val="4A5260"/>
                </a:solidFill>
              </a:rPr>
              <a:t>An Unscented Kalman Filter re-estimates hidden insulin state and a drifting insulin sensitivity every 5 minutes.</a:t>
            </a:r>
            <a:endParaRPr lang="en-US" sz="2200" dirty="0"/>
          </a:p>
        </p:txBody>
      </p:sp>
      <p:sp>
        <p:nvSpPr>
          <p:cNvPr id="8" name="Shape 6"/>
          <p:cNvSpPr/>
          <p:nvPr/>
        </p:nvSpPr>
        <p:spPr>
          <a:xfrm>
            <a:off x="8046720" y="1691640"/>
            <a:ext cx="3611880" cy="3108960"/>
          </a:xfrm>
          <a:prstGeom prst="roundRect">
            <a:avLst>
              <a:gd name="adj" fmla="val 2941"/>
            </a:avLst>
          </a:prstGeom>
          <a:solidFill>
            <a:srgbClr val="F2F5FA"/>
          </a:solidFill>
          <a:ln w="12700">
            <a:solidFill>
              <a:srgbClr val="F2F5FA"/>
            </a:solidFill>
            <a:prstDash val="solid"/>
          </a:ln>
        </p:spPr>
      </p:sp>
      <p:sp>
        <p:nvSpPr>
          <p:cNvPr id="9" name="Text 7"/>
          <p:cNvSpPr txBox="1"/>
          <p:nvPr/>
        </p:nvSpPr>
        <p:spPr>
          <a:xfrm>
            <a:off x="827532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SIMULATE</a:t>
            </a:r>
            <a:endParaRPr lang="en-US" sz="2200" dirty="0"/>
          </a:p>
          <a:p>
            <a:pPr indent="0" marL="0">
              <a:spcAft>
                <a:spcPts val="800"/>
              </a:spcAft>
              <a:buNone/>
            </a:pPr>
            <a:r>
              <a:rPr lang="en-US" sz="1600" b="1" dirty="0">
                <a:solidFill>
                  <a:srgbClr val="222833"/>
                </a:solidFill>
              </a:rPr>
              <a:t>Run forward to predict and explore</a:t>
            </a:r>
            <a:endParaRPr lang="en-US" sz="2200" dirty="0"/>
          </a:p>
          <a:p>
            <a:pPr indent="0" marL="0">
              <a:spcAft>
                <a:spcPts val="800"/>
              </a:spcAft>
              <a:buNone/>
            </a:pPr>
            <a:r>
              <a:rPr lang="en-US" sz="1400" dirty="0">
                <a:solidFill>
                  <a:srgbClr val="4A5260"/>
                </a:solidFill>
              </a:rPr>
              <a:t>Causal 2-hour forecasts and what-ifs: a different meal, a walk after dinner, a short night, an illness.</a:t>
            </a:r>
            <a:endParaRPr lang="en-US" sz="2200" dirty="0"/>
          </a:p>
        </p:txBody>
      </p:sp>
      <p:sp>
        <p:nvSpPr>
          <p:cNvPr id="10" name="Text 8"/>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600" dirty="0">
                <a:solidFill>
                  <a:srgbClr val="14284B"/>
                </a:solidFill>
              </a:rPr>
              <a:t>On top: TwinNet, a physics-gated network that fuses both data streams with the twin's own forecast. It is then fine-tuned to each person and explains every alert in plain language.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Architecture: two data streams fused into the twin</a:t>
            </a:r>
            <a:endParaRPr lang="en-US" sz="3000" dirty="0"/>
          </a:p>
        </p:txBody>
      </p:sp>
      <p:pic>
        <p:nvPicPr>
          <p:cNvPr id="3" name="architecture.png" descr="F:\Digital Twin\docs\figures\architecture.png">    </p:cNvPr>
          <p:cNvPicPr>
            <a:picLocks noChangeAspect="1"/>
          </p:cNvPicPr>
          <p:nvPr/>
        </p:nvPicPr>
        <p:blipFill>
          <a:blip r:embed="rId1"/>
          <a:srcRect l="0" r="0" t="0" b="0"/>
          <a:stretch/>
        </p:blipFill>
        <p:spPr>
          <a:xfrm>
            <a:off x="457200" y="1143000"/>
            <a:ext cx="11247120" cy="516636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Two data streams, four open or synthetic sources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Sandbox rules respected: no real Indian patient data is used</a:t>
            </a:r>
            <a:endParaRPr lang="en-US" sz="1500" dirty="0"/>
          </a:p>
        </p:txBody>
      </p:sp>
      <p:sp>
        <p:nvSpPr>
          <p:cNvPr id="4" name="Shape 2"/>
          <p:cNvSpPr/>
          <p:nvPr/>
        </p:nvSpPr>
        <p:spPr>
          <a:xfrm>
            <a:off x="457200" y="1600200"/>
            <a:ext cx="5486400" cy="2057400"/>
          </a:xfrm>
          <a:prstGeom prst="roundRect">
            <a:avLst>
              <a:gd name="adj" fmla="val 3556"/>
            </a:avLst>
          </a:prstGeom>
          <a:solidFill>
            <a:srgbClr val="EAF2FC"/>
          </a:solidFill>
          <a:ln w="12700">
            <a:solidFill>
              <a:srgbClr val="EAF2FC"/>
            </a:solidFill>
            <a:prstDash val="solid"/>
          </a:ln>
        </p:spPr>
      </p:sp>
      <p:sp>
        <p:nvSpPr>
          <p:cNvPr id="5" name="Text 3"/>
          <p:cNvSpPr txBox="1"/>
          <p:nvPr/>
        </p:nvSpPr>
        <p:spPr>
          <a:xfrm>
            <a:off x="621792" y="170992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Static / historical: EHR</a:t>
            </a:r>
            <a:endParaRPr lang="en-US" sz="1500" dirty="0"/>
          </a:p>
          <a:p>
            <a:pPr indent="0" marL="0">
              <a:spcAft>
                <a:spcPts val="400"/>
              </a:spcAft>
              <a:buNone/>
            </a:pPr>
            <a:r>
              <a:rPr lang="en-US" sz="1300" dirty="0">
                <a:solidFill>
                  <a:srgbClr val="4A5260"/>
                </a:solidFill>
              </a:rPr>
              <a:t>Demographics · diagnoses (SNOMED CT) · labs incl. HbA1c, fasting glucose &amp; insulin, lipids, eGFR (LOINC) · medications with timing (WHO ATC) · 2-year lab history · family history · TCF7L2 rs7903146 genotype · polygenic risk score</a:t>
            </a:r>
            <a:endParaRPr lang="en-US" sz="1500" dirty="0"/>
          </a:p>
        </p:txBody>
      </p:sp>
      <p:sp>
        <p:nvSpPr>
          <p:cNvPr id="6" name="Shape 4"/>
          <p:cNvSpPr/>
          <p:nvPr/>
        </p:nvSpPr>
        <p:spPr>
          <a:xfrm>
            <a:off x="457200" y="3794760"/>
            <a:ext cx="5486400" cy="2057400"/>
          </a:xfrm>
          <a:prstGeom prst="roundRect">
            <a:avLst>
              <a:gd name="adj" fmla="val 3556"/>
            </a:avLst>
          </a:prstGeom>
          <a:solidFill>
            <a:srgbClr val="FDF0EA"/>
          </a:solidFill>
          <a:ln w="12700">
            <a:solidFill>
              <a:srgbClr val="FDF0EA"/>
            </a:solidFill>
            <a:prstDash val="solid"/>
          </a:ln>
        </p:spPr>
      </p:sp>
      <p:sp>
        <p:nvSpPr>
          <p:cNvPr id="7" name="Text 5"/>
          <p:cNvSpPr txBox="1"/>
          <p:nvPr/>
        </p:nvSpPr>
        <p:spPr>
          <a:xfrm>
            <a:off x="621792" y="390448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Dynamic / real-time: wearables &amp; IoT</a:t>
            </a:r>
            <a:endParaRPr lang="en-US" sz="1500" dirty="0"/>
          </a:p>
          <a:p>
            <a:pPr indent="0" marL="0">
              <a:spcAft>
                <a:spcPts val="400"/>
              </a:spcAft>
              <a:buNone/>
            </a:pPr>
            <a:r>
              <a:rPr lang="en-US" sz="1300" dirty="0">
                <a:solidFill>
                  <a:srgbClr val="4A5260"/>
                </a:solidFill>
              </a:rPr>
              <a:t>CGM (5- or 15-min) · heart rate · HRV (RMSSD) · steps &amp; METs · sleep stages · logged meals from an Indian food table · insulin and tablet doses</a:t>
            </a:r>
            <a:endParaRPr lang="en-US" sz="1500" dirty="0"/>
          </a:p>
        </p:txBody>
      </p:sp>
      <p:sp>
        <p:nvSpPr>
          <p:cNvPr id="8" name="Text 6"/>
          <p:cNvSpPr txBox="1"/>
          <p:nvPr/>
        </p:nvSpPr>
        <p:spPr>
          <a:xfrm>
            <a:off x="6309360" y="1600200"/>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1,000 × 14 days</a:t>
            </a:r>
            <a:endParaRPr lang="en-US" sz="2600" dirty="0"/>
          </a:p>
        </p:txBody>
      </p:sp>
      <p:sp>
        <p:nvSpPr>
          <p:cNvPr id="9" name="Text 7"/>
          <p:cNvSpPr txBox="1"/>
          <p:nvPr/>
        </p:nvSpPr>
        <p:spPr>
          <a:xfrm>
            <a:off x="8686800" y="1600200"/>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Synthetic India-calibrated patients</a:t>
            </a:r>
            <a:endParaRPr lang="en-US" sz="1500" dirty="0"/>
          </a:p>
          <a:p>
            <a:pPr indent="0" marL="0">
              <a:buNone/>
            </a:pPr>
            <a:r>
              <a:rPr lang="en-US" sz="1300" dirty="0">
                <a:solidFill>
                  <a:srgbClr val="4A5260"/>
                </a:solidFill>
              </a:rPr>
              <a:t>ICMR-INDIAB mix, regional diets, Indian prescribing; streams generated by the same physiology</a:t>
            </a:r>
            <a:endParaRPr lang="en-US" sz="1500" dirty="0"/>
          </a:p>
        </p:txBody>
      </p:sp>
      <p:sp>
        <p:nvSpPr>
          <p:cNvPr id="10" name="Text 8"/>
          <p:cNvSpPr txBox="1"/>
          <p:nvPr/>
        </p:nvSpPr>
        <p:spPr>
          <a:xfrm>
            <a:off x="6309360" y="2679192"/>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45 people</a:t>
            </a:r>
            <a:endParaRPr lang="en-US" sz="2600" dirty="0"/>
          </a:p>
        </p:txBody>
      </p:sp>
      <p:sp>
        <p:nvSpPr>
          <p:cNvPr id="11" name="Text 9"/>
          <p:cNvSpPr txBox="1"/>
          <p:nvPr/>
        </p:nvSpPr>
        <p:spPr>
          <a:xfrm>
            <a:off x="8686800" y="2679192"/>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CGMacros (PhysioNet)</a:t>
            </a:r>
            <a:endParaRPr lang="en-US" sz="1500" dirty="0"/>
          </a:p>
          <a:p>
            <a:pPr indent="0" marL="0">
              <a:buNone/>
            </a:pPr>
            <a:r>
              <a:rPr lang="en-US" sz="1300" dirty="0">
                <a:solidFill>
                  <a:srgbClr val="4A5260"/>
                </a:solidFill>
              </a:rPr>
              <a:t>Real CGM, Fitbit, meals, labs; healthy to T2D (USA)</a:t>
            </a:r>
            <a:endParaRPr lang="en-US" sz="1500" dirty="0"/>
          </a:p>
        </p:txBody>
      </p:sp>
      <p:sp>
        <p:nvSpPr>
          <p:cNvPr id="12" name="Text 10"/>
          <p:cNvSpPr txBox="1"/>
          <p:nvPr/>
        </p:nvSpPr>
        <p:spPr>
          <a:xfrm>
            <a:off x="6309360" y="3758184"/>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16 people</a:t>
            </a:r>
            <a:endParaRPr lang="en-US" sz="2600" dirty="0"/>
          </a:p>
        </p:txBody>
      </p:sp>
      <p:sp>
        <p:nvSpPr>
          <p:cNvPr id="13" name="Text 11"/>
          <p:cNvSpPr txBox="1"/>
          <p:nvPr/>
        </p:nvSpPr>
        <p:spPr>
          <a:xfrm>
            <a:off x="8686800" y="3758184"/>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BIG IDEAs (PhysioNet)</a:t>
            </a:r>
            <a:endParaRPr lang="en-US" sz="1500" dirty="0"/>
          </a:p>
          <a:p>
            <a:pPr indent="0" marL="0">
              <a:buNone/>
            </a:pPr>
            <a:r>
              <a:rPr lang="en-US" sz="1300" dirty="0">
                <a:solidFill>
                  <a:srgbClr val="4A5260"/>
                </a:solidFill>
              </a:rPr>
              <a:t>Real wristband heart rate and HRV, Dexcom CGM, food logs (USA)</a:t>
            </a:r>
            <a:endParaRPr lang="en-US" sz="1500" dirty="0"/>
          </a:p>
        </p:txBody>
      </p:sp>
      <p:sp>
        <p:nvSpPr>
          <p:cNvPr id="14" name="Text 12"/>
          <p:cNvSpPr txBox="1"/>
          <p:nvPr/>
        </p:nvSpPr>
        <p:spPr>
          <a:xfrm>
            <a:off x="6309360" y="4837176"/>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 patients</a:t>
            </a:r>
            <a:endParaRPr lang="en-US" sz="2600" dirty="0"/>
          </a:p>
        </p:txBody>
      </p:sp>
      <p:sp>
        <p:nvSpPr>
          <p:cNvPr id="15" name="Text 13"/>
          <p:cNvSpPr txBox="1"/>
          <p:nvPr/>
        </p:nvSpPr>
        <p:spPr>
          <a:xfrm>
            <a:off x="8686800" y="4837176"/>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ShanghaiT2DM (Figshare)</a:t>
            </a:r>
            <a:endParaRPr lang="en-US" sz="1500" dirty="0"/>
          </a:p>
          <a:p>
            <a:pPr indent="0" marL="0">
              <a:buNone/>
            </a:pPr>
            <a:r>
              <a:rPr lang="en-US" sz="1300" dirty="0">
                <a:solidFill>
                  <a:srgbClr val="4A5260"/>
                </a:solidFill>
              </a:rPr>
              <a:t>External: rice-based diet, insulin users, no wearables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Synthetic Indian cohort, causally linked streams</a:t>
            </a:r>
            <a:endParaRPr lang="en-US" sz="3000" dirty="0"/>
          </a:p>
        </p:txBody>
      </p:sp>
      <p:pic>
        <p:nvPicPr>
          <p:cNvPr id="3" name="synthetic_realism.png" descr="F:\Digital Twin\docs\figures\synthetic_realism.png">    </p:cNvPr>
          <p:cNvPicPr>
            <a:picLocks noChangeAspect="1"/>
          </p:cNvPicPr>
          <p:nvPr/>
        </p:nvPicPr>
        <p:blipFill>
          <a:blip r:embed="rId1"/>
          <a:srcRect l="0" r="0" t="0" b="0"/>
          <a:stretch/>
        </p:blipFill>
        <p:spPr>
          <a:xfrm>
            <a:off x="457200" y="1234440"/>
            <a:ext cx="6949440" cy="2377440"/>
          </a:xfrm>
          <a:prstGeom prst="rect">
            <a:avLst/>
          </a:prstGeom>
        </p:spPr>
      </p:pic>
      <p:sp>
        <p:nvSpPr>
          <p:cNvPr id="4" name="Text 1"/>
          <p:cNvSpPr txBox="1"/>
          <p:nvPr/>
        </p:nvSpPr>
        <p:spPr>
          <a:xfrm>
            <a:off x="7680960" y="1280160"/>
            <a:ext cx="4023360" cy="4846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Status mix, South-Asian BMI phenotype, comorbidities and prescribing calibrated to Indian clinics: premixed 30/70 insulin, gliclazide, teneligliptin</a:t>
            </a:r>
            <a:endParaRPr lang="en-US" sz="1400" dirty="0"/>
          </a:p>
          <a:p>
            <a:pPr marL="342900" indent="-342900">
              <a:spcAft>
                <a:spcPts val="800"/>
              </a:spcAft>
              <a:buSzPct val="100000"/>
              <a:buChar char="•"/>
            </a:pPr>
            <a:r>
              <a:rPr lang="en-US" sz="1400" dirty="0">
                <a:solidFill>
                  <a:srgbClr val="222833"/>
                </a:solidFill>
              </a:rPr>
              <a:t>Regional meals from IFCT 2017: idli-sambar, roti-sabzi, ragi mudde, biryani, chai with sugar, festival sweets</a:t>
            </a:r>
            <a:endParaRPr lang="en-US" sz="1400" dirty="0"/>
          </a:p>
          <a:p>
            <a:pPr marL="342900" indent="-342900">
              <a:spcAft>
                <a:spcPts val="800"/>
              </a:spcAft>
              <a:buSzPct val="100000"/>
              <a:buChar char="•"/>
            </a:pPr>
            <a:r>
              <a:rPr lang="en-US" sz="1400" dirty="0">
                <a:solidFill>
                  <a:srgbClr val="222833"/>
                </a:solidFill>
              </a:rPr>
              <a:t>Wearables are simulated by the same physiology, and labs are measured from the simulated body (HbA1c from mean glucose)</a:t>
            </a:r>
            <a:endParaRPr lang="en-US" sz="1400" dirty="0"/>
          </a:p>
          <a:p>
            <a:pPr marL="342900" indent="-342900">
              <a:spcAft>
                <a:spcPts val="800"/>
              </a:spcAft>
              <a:buSzPct val="100000"/>
              <a:buChar char="•"/>
            </a:pPr>
            <a:r>
              <a:rPr lang="en-US" sz="1400" dirty="0">
                <a:solidFill>
                  <a:srgbClr val="222833"/>
                </a:solidFill>
              </a:rPr>
              <a:t>Realistic imperfection: unlogged meals, carb misestimation, CGM noise and compression lows, missed doses, illness and stress days</a:t>
            </a:r>
            <a:endParaRPr lang="en-US" sz="1400" dirty="0"/>
          </a:p>
        </p:txBody>
      </p:sp>
      <p:sp>
        <p:nvSpPr>
          <p:cNvPr id="5" name="Text 2"/>
          <p:cNvSpPr txBox="1"/>
          <p:nvPr/>
        </p:nvSpPr>
        <p:spPr>
          <a:xfrm>
            <a:off x="457200" y="3840480"/>
            <a:ext cx="6949440" cy="822960"/>
          </a:xfrm>
          <a:prstGeom prst="rect">
            <a:avLst/>
          </a:prstGeom>
          <a:noFill/>
          <a:ln/>
        </p:spPr>
        <p:txBody>
          <a:bodyPr wrap="square" lIns="0" tIns="0" rIns="0" bIns="0" rtlCol="0" anchor="ctr"/>
          <a:lstStyle/>
          <a:p>
            <a:pPr indent="0" marL="0">
              <a:buNone/>
            </a:pPr>
            <a:r>
              <a:rPr lang="en-US" sz="1400" dirty="0">
                <a:solidFill>
                  <a:srgbClr val="14284B"/>
                </a:solidFill>
              </a:rPr>
              <a:t>Physiology parameters are sampled from relationships measured by fitting twins to 45 real people, so synthetic glucose behaves like real glucose.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MODEL: twins recover real physiology from CGM</a:t>
            </a:r>
            <a:endParaRPr lang="en-US" sz="3000" dirty="0"/>
          </a:p>
        </p:txBody>
      </p:sp>
      <p:sp>
        <p:nvSpPr>
          <p:cNvPr id="3" name="triad-MODEL"/>
          <p:cNvSpPr/>
          <p:nvPr/>
        </p:nvSpPr>
        <p:spPr>
          <a:xfrm>
            <a:off x="10332720" y="347472"/>
            <a:ext cx="566928" cy="384048"/>
          </a:xfrm>
          <a:prstGeom prst="roundRect">
            <a:avLst>
              <a:gd name="adj" fmla="val 19048"/>
            </a:avLst>
          </a:prstGeom>
          <a:solidFill>
            <a:srgbClr val="14284B"/>
          </a:solidFill>
          <a:ln w="12700">
            <a:solidFill>
              <a:srgbClr val="14284B"/>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twin_validity.png" descr="F:\Digital Twin\docs\figures\twin_validity.png">    </p:cNvPr>
          <p:cNvPicPr>
            <a:picLocks noChangeAspect="1"/>
          </p:cNvPicPr>
          <p:nvPr/>
        </p:nvPicPr>
        <p:blipFill>
          <a:blip r:embed="rId1"/>
          <a:srcRect l="0" r="0" t="0" b="0"/>
          <a:stretch/>
        </p:blipFill>
        <p:spPr>
          <a:xfrm>
            <a:off x="457200" y="1234440"/>
            <a:ext cx="7680960" cy="3291840"/>
          </a:xfrm>
          <a:prstGeom prst="rect">
            <a:avLst/>
          </a:prstGeom>
        </p:spPr>
      </p:pic>
      <p:sp>
        <p:nvSpPr>
          <p:cNvPr id="10" name="Text 7"/>
          <p:cNvSpPr txBox="1"/>
          <p:nvPr/>
        </p:nvSpPr>
        <p:spPr>
          <a:xfrm>
            <a:off x="8503920" y="137160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37.7 → 26.6</a:t>
            </a:r>
            <a:endParaRPr lang="en-US" sz="4000" dirty="0"/>
          </a:p>
        </p:txBody>
      </p:sp>
      <p:sp>
        <p:nvSpPr>
          <p:cNvPr id="11" name="Text 8"/>
          <p:cNvSpPr txBox="1"/>
          <p:nvPr/>
        </p:nvSpPr>
        <p:spPr>
          <a:xfrm>
            <a:off x="8503920" y="2084832"/>
            <a:ext cx="3291840" cy="548640"/>
          </a:xfrm>
          <a:prstGeom prst="rect">
            <a:avLst/>
          </a:prstGeom>
          <a:noFill/>
          <a:ln/>
        </p:spPr>
        <p:txBody>
          <a:bodyPr wrap="square" lIns="0" tIns="0" rIns="0" bIns="0" rtlCol="0" anchor="t"/>
          <a:lstStyle/>
          <a:p>
            <a:pPr indent="0" marL="0">
              <a:buNone/>
            </a:pPr>
            <a:r>
              <a:rPr lang="en-US" sz="1300" dirty="0">
                <a:solidFill>
                  <a:srgbClr val="4A5260"/>
                </a:solidFill>
              </a:rPr>
              <a:t>mg/dL twin error, EHR prior → personalised (45 real people, 1–4 h windows)</a:t>
            </a:r>
            <a:endParaRPr lang="en-US" sz="1300" dirty="0"/>
          </a:p>
        </p:txBody>
      </p:sp>
      <p:sp>
        <p:nvSpPr>
          <p:cNvPr id="12" name="Text 9"/>
          <p:cNvSpPr txBox="1"/>
          <p:nvPr/>
        </p:nvSpPr>
        <p:spPr>
          <a:xfrm>
            <a:off x="8503920" y="301752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29% lower</a:t>
            </a:r>
            <a:endParaRPr lang="en-US" sz="4000" dirty="0"/>
          </a:p>
        </p:txBody>
      </p:sp>
      <p:sp>
        <p:nvSpPr>
          <p:cNvPr id="13" name="Text 10"/>
          <p:cNvSpPr txBox="1"/>
          <p:nvPr/>
        </p:nvSpPr>
        <p:spPr>
          <a:xfrm>
            <a:off x="8503920" y="3730752"/>
            <a:ext cx="3291840" cy="548640"/>
          </a:xfrm>
          <a:prstGeom prst="rect">
            <a:avLst/>
          </a:prstGeom>
          <a:noFill/>
          <a:ln/>
        </p:spPr>
        <p:txBody>
          <a:bodyPr wrap="square" lIns="0" tIns="0" rIns="0" bIns="0" rtlCol="0" anchor="t"/>
          <a:lstStyle/>
          <a:p>
            <a:pPr indent="0" marL="0">
              <a:buNone/>
            </a:pPr>
            <a:r>
              <a:rPr lang="en-US" sz="1300" dirty="0">
                <a:solidFill>
                  <a:srgbClr val="4A5260"/>
                </a:solidFill>
              </a:rPr>
              <a:t>error once the twin is fitted to the individual</a:t>
            </a:r>
            <a:endParaRPr lang="en-US" sz="1300" dirty="0"/>
          </a:p>
        </p:txBody>
      </p:sp>
      <p:sp>
        <p:nvSpPr>
          <p:cNvPr id="14" name="Text 11"/>
          <p:cNvSpPr txBox="1"/>
          <p:nvPr/>
        </p:nvSpPr>
        <p:spPr>
          <a:xfrm>
            <a:off x="457200" y="4754880"/>
            <a:ext cx="11247120" cy="731520"/>
          </a:xfrm>
          <a:prstGeom prst="rect">
            <a:avLst/>
          </a:prstGeom>
          <a:noFill/>
          <a:ln/>
        </p:spPr>
        <p:txBody>
          <a:bodyPr wrap="square" lIns="0" tIns="0" rIns="0" bIns="0" rtlCol="0" anchor="ctr"/>
          <a:lstStyle/>
          <a:p>
            <a:pPr indent="0" marL="0">
              <a:buNone/>
            </a:pPr>
            <a:r>
              <a:rPr lang="en-US" sz="1500" dirty="0">
                <a:solidFill>
                  <a:srgbClr val="14284B"/>
                </a:solidFill>
              </a:rPr>
              <a:t>Fitted insulin sensitivity tracks lab HOMA-IR and beta-cell response tracks HbA1c, without the model ever seeing those relationships during fitting.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SYNC: the twin notices illness from CGM alone</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14284B"/>
          </a:solidFill>
          <a:ln w="12700">
            <a:solidFill>
              <a:srgbClr val="14284B"/>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illness_detection.png" descr="F:\Digital Twin\docs\figures\illness_detection.png">    </p:cNvPr>
          <p:cNvPicPr>
            <a:picLocks noChangeAspect="1"/>
          </p:cNvPicPr>
          <p:nvPr/>
        </p:nvPicPr>
        <p:blipFill>
          <a:blip r:embed="rId1"/>
          <a:srcRect l="0" r="0" t="0" b="0"/>
          <a:stretch/>
        </p:blipFill>
        <p:spPr>
          <a:xfrm>
            <a:off x="457200" y="1234440"/>
            <a:ext cx="5852160" cy="4297680"/>
          </a:xfrm>
          <a:prstGeom prst="rect">
            <a:avLst/>
          </a:prstGeom>
        </p:spPr>
      </p:pic>
      <p:sp>
        <p:nvSpPr>
          <p:cNvPr id="10" name="Text 7"/>
          <p:cNvSpPr txBox="1"/>
          <p:nvPr/>
        </p:nvSpPr>
        <p:spPr>
          <a:xfrm>
            <a:off x="6766560" y="137160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0.89</a:t>
            </a:r>
            <a:endParaRPr lang="en-US" sz="4000" dirty="0"/>
          </a:p>
        </p:txBody>
      </p:sp>
      <p:sp>
        <p:nvSpPr>
          <p:cNvPr id="11" name="Text 8"/>
          <p:cNvSpPr txBox="1"/>
          <p:nvPr/>
        </p:nvSpPr>
        <p:spPr>
          <a:xfrm>
            <a:off x="6766560" y="2084832"/>
            <a:ext cx="4846320" cy="548640"/>
          </a:xfrm>
          <a:prstGeom prst="rect">
            <a:avLst/>
          </a:prstGeom>
          <a:noFill/>
          <a:ln/>
        </p:spPr>
        <p:txBody>
          <a:bodyPr wrap="square" lIns="0" tIns="0" rIns="0" bIns="0" rtlCol="0" anchor="t"/>
          <a:lstStyle/>
          <a:p>
            <a:pPr indent="0" marL="0">
              <a:buNone/>
            </a:pPr>
            <a:r>
              <a:rPr lang="en-US" sz="1300" dirty="0">
                <a:solidFill>
                  <a:srgbClr val="4A5260"/>
                </a:solidFill>
              </a:rPr>
              <a:t>AUROC for identifying ill days from the synced insulin-sensitivity trace (55 ill days, 2786 patient-days)</a:t>
            </a:r>
            <a:endParaRPr lang="en-US" sz="1300" dirty="0"/>
          </a:p>
        </p:txBody>
      </p:sp>
      <p:sp>
        <p:nvSpPr>
          <p:cNvPr id="12" name="Text 9"/>
          <p:cNvSpPr txBox="1"/>
          <p:nvPr/>
        </p:nvSpPr>
        <p:spPr>
          <a:xfrm>
            <a:off x="6766560" y="301752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0.57× vs 0.87×</a:t>
            </a:r>
            <a:endParaRPr lang="en-US" sz="4000" dirty="0"/>
          </a:p>
        </p:txBody>
      </p:sp>
      <p:sp>
        <p:nvSpPr>
          <p:cNvPr id="13" name="Text 10"/>
          <p:cNvSpPr txBox="1"/>
          <p:nvPr/>
        </p:nvSpPr>
        <p:spPr>
          <a:xfrm>
            <a:off x="6766560" y="3730752"/>
            <a:ext cx="4846320" cy="548640"/>
          </a:xfrm>
          <a:prstGeom prst="rect">
            <a:avLst/>
          </a:prstGeom>
          <a:noFill/>
          <a:ln/>
        </p:spPr>
        <p:txBody>
          <a:bodyPr wrap="square" lIns="0" tIns="0" rIns="0" bIns="0" rtlCol="0" anchor="t"/>
          <a:lstStyle/>
          <a:p>
            <a:pPr indent="0" marL="0">
              <a:buNone/>
            </a:pPr>
            <a:r>
              <a:rPr lang="en-US" sz="1300" dirty="0">
                <a:solidFill>
                  <a:srgbClr val="4A5260"/>
                </a:solidFill>
              </a:rPr>
              <a:t>insulin sensitivity relative to baseline on ill vs well days</a:t>
            </a:r>
            <a:endParaRPr lang="en-US" sz="1300" dirty="0"/>
          </a:p>
        </p:txBody>
      </p:sp>
      <p:sp>
        <p:nvSpPr>
          <p:cNvPr id="14" name="Text 11"/>
          <p:cNvSpPr txBox="1"/>
          <p:nvPr/>
        </p:nvSpPr>
        <p:spPr>
          <a:xfrm>
            <a:off x="6766560" y="4663440"/>
            <a:ext cx="4937760" cy="1188720"/>
          </a:xfrm>
          <a:prstGeom prst="rect">
            <a:avLst/>
          </a:prstGeom>
          <a:noFill/>
          <a:ln/>
        </p:spPr>
        <p:txBody>
          <a:bodyPr wrap="square" lIns="0" tIns="0" rIns="0" bIns="0" rtlCol="0" anchor="ctr"/>
          <a:lstStyle/>
          <a:p>
            <a:pPr indent="0" marL="0">
              <a:buNone/>
            </a:pPr>
            <a:r>
              <a:rPr lang="en-US" sz="1400" dirty="0">
                <a:solidFill>
                  <a:srgbClr val="4A5260"/>
                </a:solidFill>
              </a:rPr>
              <a:t>The Unscented Kalman Filter tracks a drifting insulin-sensitivity factor every 5 minutes. A sustained drop prompts the dashboard insight: check for infection, stress or steroid use.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SIMULATE: TwinNet fuses both streams with the twin</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14284B"/>
          </a:solidFill>
          <a:ln w="12700">
            <a:solidFill>
              <a:srgbClr val="14284B"/>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SIM</a:t>
            </a:r>
            <a:endParaRPr lang="en-US" sz="900" dirty="0"/>
          </a:p>
        </p:txBody>
      </p:sp>
      <p:sp>
        <p:nvSpPr>
          <p:cNvPr id="9" name="Shape 7"/>
          <p:cNvSpPr/>
          <p:nvPr/>
        </p:nvSpPr>
        <p:spPr>
          <a:xfrm>
            <a:off x="457200" y="1554480"/>
            <a:ext cx="2743200" cy="868680"/>
          </a:xfrm>
          <a:prstGeom prst="roundRect">
            <a:avLst>
              <a:gd name="adj" fmla="val 8421"/>
            </a:avLst>
          </a:prstGeom>
          <a:solidFill>
            <a:srgbClr val="FDF0EA"/>
          </a:solidFill>
          <a:ln w="12700">
            <a:solidFill>
              <a:srgbClr val="FDF0EA"/>
            </a:solidFill>
            <a:prstDash val="solid"/>
          </a:ln>
        </p:spPr>
      </p:sp>
      <p:sp>
        <p:nvSpPr>
          <p:cNvPr id="10" name="Text 8"/>
          <p:cNvSpPr txBox="1"/>
          <p:nvPr/>
        </p:nvSpPr>
        <p:spPr>
          <a:xfrm>
            <a:off x="548640" y="1554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6 h × 21 channels: CGM, HR, HRV, steps, sleep, carbs/insulin on board</a:t>
            </a:r>
            <a:endParaRPr lang="en-US" sz="1300" dirty="0"/>
          </a:p>
        </p:txBody>
      </p:sp>
      <p:sp>
        <p:nvSpPr>
          <p:cNvPr id="11" name="Shape 9"/>
          <p:cNvSpPr/>
          <p:nvPr/>
        </p:nvSpPr>
        <p:spPr>
          <a:xfrm>
            <a:off x="457200" y="2697480"/>
            <a:ext cx="2743200" cy="868680"/>
          </a:xfrm>
          <a:prstGeom prst="roundRect">
            <a:avLst>
              <a:gd name="adj" fmla="val 8421"/>
            </a:avLst>
          </a:prstGeom>
          <a:solidFill>
            <a:srgbClr val="EAF2FC"/>
          </a:solidFill>
          <a:ln w="12700">
            <a:solidFill>
              <a:srgbClr val="EAF2FC"/>
            </a:solidFill>
            <a:prstDash val="solid"/>
          </a:ln>
        </p:spPr>
      </p:sp>
      <p:sp>
        <p:nvSpPr>
          <p:cNvPr id="12" name="Text 10"/>
          <p:cNvSpPr txBox="1"/>
          <p:nvPr/>
        </p:nvSpPr>
        <p:spPr>
          <a:xfrm>
            <a:off x="548640" y="2697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EHR vector: labs, therapy, comorbidities, genetics</a:t>
            </a:r>
            <a:endParaRPr lang="en-US" sz="1300" dirty="0"/>
          </a:p>
        </p:txBody>
      </p:sp>
      <p:sp>
        <p:nvSpPr>
          <p:cNvPr id="13" name="Shape 11"/>
          <p:cNvSpPr/>
          <p:nvPr/>
        </p:nvSpPr>
        <p:spPr>
          <a:xfrm>
            <a:off x="457200" y="3840480"/>
            <a:ext cx="2743200" cy="868680"/>
          </a:xfrm>
          <a:prstGeom prst="roundRect">
            <a:avLst>
              <a:gd name="adj" fmla="val 8421"/>
            </a:avLst>
          </a:prstGeom>
          <a:solidFill>
            <a:srgbClr val="14284B"/>
          </a:solidFill>
          <a:ln w="12700">
            <a:solidFill>
              <a:srgbClr val="14284B"/>
            </a:solidFill>
            <a:prstDash val="solid"/>
          </a:ln>
        </p:spPr>
      </p:sp>
      <p:sp>
        <p:nvSpPr>
          <p:cNvPr id="14" name="Text 12"/>
          <p:cNvSpPr txBox="1"/>
          <p:nvPr/>
        </p:nvSpPr>
        <p:spPr>
          <a:xfrm>
            <a:off x="548640" y="3840480"/>
            <a:ext cx="2560320" cy="868680"/>
          </a:xfrm>
          <a:prstGeom prst="rect">
            <a:avLst/>
          </a:prstGeom>
          <a:noFill/>
          <a:ln/>
        </p:spPr>
        <p:txBody>
          <a:bodyPr wrap="square" lIns="0" tIns="0" rIns="0" bIns="0" rtlCol="0" anchor="ctr"/>
          <a:lstStyle/>
          <a:p>
            <a:pPr algn="ctr" indent="0" marL="0">
              <a:buNone/>
            </a:pPr>
            <a:r>
              <a:rPr lang="en-US" sz="1300" dirty="0">
                <a:solidFill>
                  <a:srgbClr val="FFFFFF"/>
                </a:solidFill>
              </a:rPr>
              <a:t>Physics twin forecast + synced hidden state</a:t>
            </a:r>
            <a:endParaRPr lang="en-US" sz="1300" dirty="0"/>
          </a:p>
        </p:txBody>
      </p:sp>
      <p:sp>
        <p:nvSpPr>
          <p:cNvPr id="15" name="Shape 13"/>
          <p:cNvSpPr/>
          <p:nvPr/>
        </p:nvSpPr>
        <p:spPr>
          <a:xfrm>
            <a:off x="3749040" y="1554480"/>
            <a:ext cx="2103120" cy="868680"/>
          </a:xfrm>
          <a:prstGeom prst="roundRect">
            <a:avLst>
              <a:gd name="adj" fmla="val 8421"/>
            </a:avLst>
          </a:prstGeom>
          <a:solidFill>
            <a:srgbClr val="F2F5FA"/>
          </a:solidFill>
          <a:ln w="12700">
            <a:solidFill>
              <a:srgbClr val="F2F5FA"/>
            </a:solidFill>
            <a:prstDash val="solid"/>
          </a:ln>
        </p:spPr>
      </p:sp>
      <p:sp>
        <p:nvSpPr>
          <p:cNvPr id="16" name="Text 14"/>
          <p:cNvSpPr txBox="1"/>
          <p:nvPr/>
        </p:nvSpPr>
        <p:spPr>
          <a:xfrm>
            <a:off x="3840480" y="1554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Causal dilated TCN</a:t>
            </a:r>
            <a:endParaRPr lang="en-US" sz="1300" dirty="0"/>
          </a:p>
        </p:txBody>
      </p:sp>
      <p:sp>
        <p:nvSpPr>
          <p:cNvPr id="17" name="Shape 15"/>
          <p:cNvSpPr/>
          <p:nvPr/>
        </p:nvSpPr>
        <p:spPr>
          <a:xfrm>
            <a:off x="3749040" y="2697480"/>
            <a:ext cx="2103120" cy="868680"/>
          </a:xfrm>
          <a:prstGeom prst="roundRect">
            <a:avLst>
              <a:gd name="adj" fmla="val 8421"/>
            </a:avLst>
          </a:prstGeom>
          <a:solidFill>
            <a:srgbClr val="F2F5FA"/>
          </a:solidFill>
          <a:ln w="12700">
            <a:solidFill>
              <a:srgbClr val="F2F5FA"/>
            </a:solidFill>
            <a:prstDash val="solid"/>
          </a:ln>
        </p:spPr>
      </p:sp>
      <p:sp>
        <p:nvSpPr>
          <p:cNvPr id="18" name="Text 16"/>
          <p:cNvSpPr txBox="1"/>
          <p:nvPr/>
        </p:nvSpPr>
        <p:spPr>
          <a:xfrm>
            <a:off x="3840480" y="2697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 → FiLM conditions the TCN</a:t>
            </a:r>
            <a:endParaRPr lang="en-US" sz="1300" dirty="0"/>
          </a:p>
        </p:txBody>
      </p:sp>
      <p:sp>
        <p:nvSpPr>
          <p:cNvPr id="19" name="Shape 17"/>
          <p:cNvSpPr/>
          <p:nvPr/>
        </p:nvSpPr>
        <p:spPr>
          <a:xfrm>
            <a:off x="3749040" y="3840480"/>
            <a:ext cx="2103120" cy="868680"/>
          </a:xfrm>
          <a:prstGeom prst="roundRect">
            <a:avLst>
              <a:gd name="adj" fmla="val 8421"/>
            </a:avLst>
          </a:prstGeom>
          <a:solidFill>
            <a:srgbClr val="F2F5FA"/>
          </a:solidFill>
          <a:ln w="12700">
            <a:solidFill>
              <a:srgbClr val="F2F5FA"/>
            </a:solidFill>
            <a:prstDash val="solid"/>
          </a:ln>
        </p:spPr>
      </p:sp>
      <p:sp>
        <p:nvSpPr>
          <p:cNvPr id="20" name="Text 18"/>
          <p:cNvSpPr txBox="1"/>
          <p:nvPr/>
        </p:nvSpPr>
        <p:spPr>
          <a:xfrm>
            <a:off x="3840480" y="3840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a:t>
            </a:r>
            <a:endParaRPr lang="en-US" sz="1300" dirty="0"/>
          </a:p>
        </p:txBody>
      </p:sp>
      <p:sp>
        <p:nvSpPr>
          <p:cNvPr id="21" name="Shape 19"/>
          <p:cNvSpPr/>
          <p:nvPr/>
        </p:nvSpPr>
        <p:spPr>
          <a:xfrm>
            <a:off x="6400800" y="2697480"/>
            <a:ext cx="1828800" cy="868680"/>
          </a:xfrm>
          <a:prstGeom prst="roundRect">
            <a:avLst>
              <a:gd name="adj" fmla="val 8421"/>
            </a:avLst>
          </a:prstGeom>
          <a:solidFill>
            <a:srgbClr val="F2F5FA"/>
          </a:solidFill>
          <a:ln w="12700">
            <a:solidFill>
              <a:srgbClr val="F2F5FA"/>
            </a:solidFill>
            <a:prstDash val="solid"/>
          </a:ln>
        </p:spPr>
      </p:sp>
      <p:sp>
        <p:nvSpPr>
          <p:cNvPr id="22" name="Text 20"/>
          <p:cNvSpPr txBox="1"/>
          <p:nvPr/>
        </p:nvSpPr>
        <p:spPr>
          <a:xfrm>
            <a:off x="6492240" y="2697480"/>
            <a:ext cx="1645920" cy="868680"/>
          </a:xfrm>
          <a:prstGeom prst="rect">
            <a:avLst/>
          </a:prstGeom>
          <a:noFill/>
          <a:ln/>
        </p:spPr>
        <p:txBody>
          <a:bodyPr wrap="square" lIns="0" tIns="0" rIns="0" bIns="0" rtlCol="0" anchor="ctr"/>
          <a:lstStyle/>
          <a:p>
            <a:pPr algn="ctr" indent="0" marL="0">
              <a:buNone/>
            </a:pPr>
            <a:r>
              <a:rPr lang="en-US" sz="1300" dirty="0">
                <a:solidFill>
                  <a:srgbClr val="222833"/>
                </a:solidFill>
              </a:rPr>
              <a:t>Fusion</a:t>
            </a:r>
            <a:endParaRPr lang="en-US" sz="1300" dirty="0"/>
          </a:p>
        </p:txBody>
      </p:sp>
      <p:sp>
        <p:nvSpPr>
          <p:cNvPr id="23" name="Shape 21"/>
          <p:cNvSpPr/>
          <p:nvPr/>
        </p:nvSpPr>
        <p:spPr>
          <a:xfrm>
            <a:off x="8778240" y="1737360"/>
            <a:ext cx="2926080" cy="914400"/>
          </a:xfrm>
          <a:prstGeom prst="roundRect">
            <a:avLst>
              <a:gd name="adj" fmla="val 8000"/>
            </a:avLst>
          </a:prstGeom>
          <a:solidFill>
            <a:srgbClr val="EAF7F1"/>
          </a:solidFill>
          <a:ln w="12700">
            <a:solidFill>
              <a:srgbClr val="EAF7F1"/>
            </a:solidFill>
            <a:prstDash val="solid"/>
          </a:ln>
        </p:spPr>
      </p:sp>
      <p:sp>
        <p:nvSpPr>
          <p:cNvPr id="24" name="Text 22"/>
          <p:cNvSpPr txBox="1"/>
          <p:nvPr/>
        </p:nvSpPr>
        <p:spPr>
          <a:xfrm>
            <a:off x="8869680" y="173736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Glucose 5–120 min: median + 80% band (conformal)</a:t>
            </a:r>
            <a:endParaRPr lang="en-US" sz="1300" dirty="0"/>
          </a:p>
        </p:txBody>
      </p:sp>
      <p:sp>
        <p:nvSpPr>
          <p:cNvPr id="25" name="Shape 23"/>
          <p:cNvSpPr/>
          <p:nvPr/>
        </p:nvSpPr>
        <p:spPr>
          <a:xfrm>
            <a:off x="8778240" y="2926080"/>
            <a:ext cx="2926080" cy="914400"/>
          </a:xfrm>
          <a:prstGeom prst="roundRect">
            <a:avLst>
              <a:gd name="adj" fmla="val 8000"/>
            </a:avLst>
          </a:prstGeom>
          <a:solidFill>
            <a:srgbClr val="EAF7F1"/>
          </a:solidFill>
          <a:ln w="12700">
            <a:solidFill>
              <a:srgbClr val="EAF7F1"/>
            </a:solidFill>
            <a:prstDash val="solid"/>
          </a:ln>
        </p:spPr>
      </p:sp>
      <p:sp>
        <p:nvSpPr>
          <p:cNvPr id="26" name="Text 24"/>
          <p:cNvSpPr txBox="1"/>
          <p:nvPr/>
        </p:nvSpPr>
        <p:spPr>
          <a:xfrm>
            <a:off x="8869680" y="292608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P(spike &gt; 180) · P(hypo &lt; 70) in 2 h</a:t>
            </a:r>
            <a:endParaRPr lang="en-US" sz="1300" dirty="0"/>
          </a:p>
        </p:txBody>
      </p:sp>
      <p:sp>
        <p:nvSpPr>
          <p:cNvPr id="27" name="Shape 25"/>
          <p:cNvSpPr/>
          <p:nvPr/>
        </p:nvSpPr>
        <p:spPr>
          <a:xfrm>
            <a:off x="8778240" y="4114800"/>
            <a:ext cx="2926080" cy="914400"/>
          </a:xfrm>
          <a:prstGeom prst="roundRect">
            <a:avLst>
              <a:gd name="adj" fmla="val 8000"/>
            </a:avLst>
          </a:prstGeom>
          <a:solidFill>
            <a:srgbClr val="FFF5DC"/>
          </a:solidFill>
          <a:ln w="12700">
            <a:solidFill>
              <a:srgbClr val="FFF5DC"/>
            </a:solidFill>
            <a:prstDash val="solid"/>
          </a:ln>
        </p:spPr>
      </p:sp>
      <p:sp>
        <p:nvSpPr>
          <p:cNvPr id="28" name="Text 26"/>
          <p:cNvSpPr txBox="1"/>
          <p:nvPr/>
        </p:nvSpPr>
        <p:spPr>
          <a:xfrm>
            <a:off x="8869680" y="411480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Gate: trust in physics per horizon</a:t>
            </a:r>
            <a:endParaRPr lang="en-US" sz="1300" dirty="0"/>
          </a:p>
        </p:txBody>
      </p:sp>
      <p:sp>
        <p:nvSpPr>
          <p:cNvPr id="29" name="Shape 27"/>
          <p:cNvSpPr/>
          <p:nvPr/>
        </p:nvSpPr>
        <p:spPr>
          <a:xfrm>
            <a:off x="3200400" y="1984248"/>
            <a:ext cx="548640" cy="0"/>
          </a:xfrm>
          <a:prstGeom prst="line">
            <a:avLst/>
          </a:prstGeom>
          <a:noFill/>
          <a:ln w="22225">
            <a:solidFill>
              <a:srgbClr val="8A93A3"/>
            </a:solidFill>
            <a:prstDash val="solid"/>
            <a:tailEnd type="triangle"/>
          </a:ln>
        </p:spPr>
      </p:sp>
      <p:sp>
        <p:nvSpPr>
          <p:cNvPr id="30" name="Shape 28"/>
          <p:cNvSpPr/>
          <p:nvPr/>
        </p:nvSpPr>
        <p:spPr>
          <a:xfrm>
            <a:off x="3200400" y="3127248"/>
            <a:ext cx="548640" cy="0"/>
          </a:xfrm>
          <a:prstGeom prst="line">
            <a:avLst/>
          </a:prstGeom>
          <a:noFill/>
          <a:ln w="22225">
            <a:solidFill>
              <a:srgbClr val="8A93A3"/>
            </a:solidFill>
            <a:prstDash val="solid"/>
            <a:tailEnd type="triangle"/>
          </a:ln>
        </p:spPr>
      </p:sp>
      <p:sp>
        <p:nvSpPr>
          <p:cNvPr id="31" name="Shape 29"/>
          <p:cNvSpPr/>
          <p:nvPr/>
        </p:nvSpPr>
        <p:spPr>
          <a:xfrm>
            <a:off x="3200400" y="4270248"/>
            <a:ext cx="548640" cy="0"/>
          </a:xfrm>
          <a:prstGeom prst="line">
            <a:avLst/>
          </a:prstGeom>
          <a:noFill/>
          <a:ln w="22225">
            <a:solidFill>
              <a:srgbClr val="8A93A3"/>
            </a:solidFill>
            <a:prstDash val="solid"/>
            <a:tailEnd type="triangle"/>
          </a:ln>
        </p:spPr>
      </p:sp>
      <p:sp>
        <p:nvSpPr>
          <p:cNvPr id="32" name="Shape 30"/>
          <p:cNvSpPr/>
          <p:nvPr/>
        </p:nvSpPr>
        <p:spPr>
          <a:xfrm>
            <a:off x="5852160" y="1984248"/>
            <a:ext cx="548640" cy="941832"/>
          </a:xfrm>
          <a:prstGeom prst="line">
            <a:avLst/>
          </a:prstGeom>
          <a:noFill/>
          <a:ln w="22225">
            <a:solidFill>
              <a:srgbClr val="8A93A3"/>
            </a:solidFill>
            <a:prstDash val="solid"/>
            <a:tailEnd type="triangle"/>
          </a:ln>
        </p:spPr>
      </p:sp>
      <p:sp>
        <p:nvSpPr>
          <p:cNvPr id="33" name="Shape 31"/>
          <p:cNvSpPr/>
          <p:nvPr/>
        </p:nvSpPr>
        <p:spPr>
          <a:xfrm>
            <a:off x="5852160" y="3127248"/>
            <a:ext cx="548640" cy="0"/>
          </a:xfrm>
          <a:prstGeom prst="line">
            <a:avLst/>
          </a:prstGeom>
          <a:noFill/>
          <a:ln w="22225">
            <a:solidFill>
              <a:srgbClr val="8A93A3"/>
            </a:solidFill>
            <a:prstDash val="solid"/>
            <a:tailEnd type="triangle"/>
          </a:ln>
        </p:spPr>
      </p:sp>
      <p:sp>
        <p:nvSpPr>
          <p:cNvPr id="34" name="Shape 32"/>
          <p:cNvSpPr/>
          <p:nvPr/>
        </p:nvSpPr>
        <p:spPr>
          <a:xfrm flipV="1">
            <a:off x="5852160" y="3337560"/>
            <a:ext cx="548640" cy="932688"/>
          </a:xfrm>
          <a:prstGeom prst="line">
            <a:avLst/>
          </a:prstGeom>
          <a:noFill/>
          <a:ln w="22225">
            <a:solidFill>
              <a:srgbClr val="8A93A3"/>
            </a:solidFill>
            <a:prstDash val="solid"/>
            <a:tailEnd type="triangle"/>
          </a:ln>
        </p:spPr>
      </p:sp>
      <p:sp>
        <p:nvSpPr>
          <p:cNvPr id="35" name="Shape 33"/>
          <p:cNvSpPr/>
          <p:nvPr/>
        </p:nvSpPr>
        <p:spPr>
          <a:xfrm flipV="1">
            <a:off x="8229600" y="2194560"/>
            <a:ext cx="548640" cy="932688"/>
          </a:xfrm>
          <a:prstGeom prst="line">
            <a:avLst/>
          </a:prstGeom>
          <a:noFill/>
          <a:ln w="22225">
            <a:solidFill>
              <a:srgbClr val="8A93A3"/>
            </a:solidFill>
            <a:prstDash val="solid"/>
            <a:tailEnd type="triangle"/>
          </a:ln>
        </p:spPr>
      </p:sp>
      <p:sp>
        <p:nvSpPr>
          <p:cNvPr id="36" name="Shape 34"/>
          <p:cNvSpPr/>
          <p:nvPr/>
        </p:nvSpPr>
        <p:spPr>
          <a:xfrm>
            <a:off x="8229600" y="3127248"/>
            <a:ext cx="548640" cy="256032"/>
          </a:xfrm>
          <a:prstGeom prst="line">
            <a:avLst/>
          </a:prstGeom>
          <a:noFill/>
          <a:ln w="22225">
            <a:solidFill>
              <a:srgbClr val="8A93A3"/>
            </a:solidFill>
            <a:prstDash val="solid"/>
            <a:tailEnd type="triangle"/>
          </a:ln>
        </p:spPr>
      </p:sp>
      <p:sp>
        <p:nvSpPr>
          <p:cNvPr id="37" name="Shape 35"/>
          <p:cNvSpPr/>
          <p:nvPr/>
        </p:nvSpPr>
        <p:spPr>
          <a:xfrm>
            <a:off x="8229600" y="3127248"/>
            <a:ext cx="548640" cy="1444752"/>
          </a:xfrm>
          <a:prstGeom prst="line">
            <a:avLst/>
          </a:prstGeom>
          <a:noFill/>
          <a:ln w="22225">
            <a:solidFill>
              <a:srgbClr val="8A93A3"/>
            </a:solidFill>
            <a:prstDash val="solid"/>
            <a:tailEnd type="triangle"/>
          </a:ln>
        </p:spPr>
      </p:sp>
      <p:sp>
        <p:nvSpPr>
          <p:cNvPr id="38" name="Text 36"/>
          <p:cNvSpPr txBox="1"/>
          <p:nvPr/>
        </p:nvSpPr>
        <p:spPr>
          <a:xfrm>
            <a:off x="457200" y="5120640"/>
            <a:ext cx="11247120" cy="822960"/>
          </a:xfrm>
          <a:prstGeom prst="rect">
            <a:avLst/>
          </a:prstGeom>
          <a:noFill/>
          <a:ln/>
        </p:spPr>
        <p:txBody>
          <a:bodyPr wrap="square" lIns="0" tIns="0" rIns="0" bIns="0" rtlCol="0" anchor="ctr"/>
          <a:lstStyle/>
          <a:p>
            <a:pPr indent="0" marL="0">
              <a:buNone/>
            </a:pPr>
            <a:r>
              <a:rPr lang="en-US" sz="1400" dirty="0">
                <a:solidFill>
                  <a:srgbClr val="14284B"/>
                </a:solidFill>
              </a:rPr>
              <a:t>Learned trust in the physics twin rises with horizon: 0.71 at 30 min, 0.82 at 60 min, 0.92 at 2 h. Modality dropout lets the same model run without wearables or EHR. Pretrained on synthetic patients, fine-tuned on real ones, then on each person: averaged with LightGBM, this is the MadhuTwin ensemble.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Accurate 2-hour glucose forecasts on unseen patients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199 held-out patients · days 8–14 after personalisation · 1,29,956 forecasts</a:t>
            </a:r>
            <a:endParaRPr lang="en-US" sz="1500" dirty="0"/>
          </a:p>
        </p:txBody>
      </p:sp>
      <p:pic>
        <p:nvPicPr>
          <p:cNvPr id="4" name="rmse_by_horizon_synthetic.png" descr="F:\Digital Twin\docs\figures\rmse_by_horizon_synthetic.png">    </p:cNvPr>
          <p:cNvPicPr>
            <a:picLocks noChangeAspect="1"/>
          </p:cNvPicPr>
          <p:nvPr/>
        </p:nvPicPr>
        <p:blipFill>
          <a:blip r:embed="rId1"/>
          <a:srcRect l="0" r="0" t="0" b="0"/>
          <a:stretch/>
        </p:blipFill>
        <p:spPr>
          <a:xfrm>
            <a:off x="457200" y="1463040"/>
            <a:ext cx="6766560" cy="393192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18.0 mg/dL</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60-min error (RMSE), MadhuTwin; persistence 35.8 · TwinNet 19.0 · LightGBM 18.4</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99.5%</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60-min forecasts in Clarke zones A+B (clinically acceptable)</a:t>
            </a:r>
            <a:endParaRPr lang="en-US" sz="1300" dirty="0"/>
          </a:p>
        </p:txBody>
      </p:sp>
      <p:sp>
        <p:nvSpPr>
          <p:cNvPr id="9" name="Text 6"/>
          <p:cNvSpPr txBox="1"/>
          <p:nvPr/>
        </p:nvSpPr>
        <p:spPr>
          <a:xfrm>
            <a:off x="7589520" y="457200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79%</a:t>
            </a:r>
            <a:endParaRPr lang="en-US" sz="4000" dirty="0"/>
          </a:p>
        </p:txBody>
      </p:sp>
      <p:sp>
        <p:nvSpPr>
          <p:cNvPr id="10" name="Text 7"/>
          <p:cNvSpPr txBox="1"/>
          <p:nvPr/>
        </p:nvSpPr>
        <p:spPr>
          <a:xfrm>
            <a:off x="7589520" y="528523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outcomes inside the 80% interval (target 80%)</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twin learns you</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50 unseen people with T2D · twin fitted and TwinNet fine-tuned on their first days · scored on days 8–14</a:t>
            </a:r>
            <a:endParaRPr lang="en-US" sz="1500" dirty="0"/>
          </a:p>
        </p:txBody>
      </p:sp>
      <p:pic>
        <p:nvPicPr>
          <p:cNvPr id="4" name="twin_learns_you.png" descr="F:\Digital Twin\docs\figures\twin_learns_you.png">    </p:cNvPr>
          <p:cNvPicPr>
            <a:picLocks noChangeAspect="1"/>
          </p:cNvPicPr>
          <p:nvPr/>
        </p:nvPicPr>
        <p:blipFill>
          <a:blip r:embed="rId1"/>
          <a:srcRect l="0" r="0" t="0" b="0"/>
          <a:stretch/>
        </p:blipFill>
        <p:spPr>
          <a:xfrm>
            <a:off x="457200" y="1463040"/>
            <a:ext cx="6766560" cy="402336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31.4 → 27.2</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mg/dL 2-hour error: no personal data → after 7 days of personal data</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 lower</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2-hour error after a week (after one day: 28.2 mg/dL)</a:t>
            </a:r>
            <a:endParaRPr lang="en-US" sz="1300" dirty="0"/>
          </a:p>
        </p:txBody>
      </p:sp>
      <p:sp>
        <p:nvSpPr>
          <p:cNvPr id="9" name="Text 6"/>
          <p:cNvSpPr txBox="1"/>
          <p:nvPr/>
        </p:nvSpPr>
        <p:spPr>
          <a:xfrm>
            <a:off x="7589520" y="4663440"/>
            <a:ext cx="4114800" cy="1097280"/>
          </a:xfrm>
          <a:prstGeom prst="rect">
            <a:avLst/>
          </a:prstGeom>
          <a:noFill/>
          <a:ln/>
        </p:spPr>
        <p:txBody>
          <a:bodyPr wrap="square" lIns="0" tIns="0" rIns="0" bIns="0" rtlCol="0" anchor="ctr"/>
          <a:lstStyle/>
          <a:p>
            <a:pPr indent="0" marL="0">
              <a:buNone/>
            </a:pPr>
            <a:r>
              <a:rPr lang="en-US" sz="1400" dirty="0">
                <a:solidFill>
                  <a:srgbClr val="14284B"/>
                </a:solidFill>
              </a:rPr>
              <a:t>Fitting the twin and fine-tuning TwinNet take seconds on a CPU, use only the person's earlier data, and can run every night as new CGM arrives.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Early warnings with lead time a clinician can act on</a:t>
            </a:r>
            <a:endParaRPr lang="en-US" sz="3000" dirty="0"/>
          </a:p>
        </p:txBody>
      </p:sp>
      <p:sp>
        <p:nvSpPr>
          <p:cNvPr id="3" name="Text 1"/>
          <p:cNvSpPr txBox="1"/>
          <p:nvPr/>
        </p:nvSpPr>
        <p:spPr>
          <a:xfrm>
            <a:off x="45720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90%</a:t>
            </a:r>
            <a:endParaRPr lang="en-US" sz="4000" dirty="0"/>
          </a:p>
        </p:txBody>
      </p:sp>
      <p:sp>
        <p:nvSpPr>
          <p:cNvPr id="4" name="Text 2"/>
          <p:cNvSpPr txBox="1"/>
          <p:nvPr/>
        </p:nvSpPr>
        <p:spPr>
          <a:xfrm>
            <a:off x="45720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of sustained spikes (&gt;180) flagged in advance</a:t>
            </a:r>
            <a:endParaRPr lang="en-US" sz="1300" dirty="0"/>
          </a:p>
        </p:txBody>
      </p:sp>
      <p:sp>
        <p:nvSpPr>
          <p:cNvPr id="5" name="Text 3"/>
          <p:cNvSpPr txBox="1"/>
          <p:nvPr/>
        </p:nvSpPr>
        <p:spPr>
          <a:xfrm>
            <a:off x="338328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110 min</a:t>
            </a:r>
            <a:endParaRPr lang="en-US" sz="4000" dirty="0"/>
          </a:p>
        </p:txBody>
      </p:sp>
      <p:sp>
        <p:nvSpPr>
          <p:cNvPr id="6" name="Text 4"/>
          <p:cNvSpPr txBox="1"/>
          <p:nvPr/>
        </p:nvSpPr>
        <p:spPr>
          <a:xfrm>
            <a:off x="338328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median warning before the spike begins</a:t>
            </a:r>
            <a:endParaRPr lang="en-US" sz="1300" dirty="0"/>
          </a:p>
        </p:txBody>
      </p:sp>
      <p:sp>
        <p:nvSpPr>
          <p:cNvPr id="7" name="Text 5"/>
          <p:cNvSpPr txBox="1"/>
          <p:nvPr/>
        </p:nvSpPr>
        <p:spPr>
          <a:xfrm>
            <a:off x="6309360" y="1371600"/>
            <a:ext cx="2560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 1</a:t>
            </a:r>
            <a:endParaRPr lang="en-US" sz="4000" dirty="0"/>
          </a:p>
        </p:txBody>
      </p:sp>
      <p:sp>
        <p:nvSpPr>
          <p:cNvPr id="8" name="Text 6"/>
          <p:cNvSpPr txBox="1"/>
          <p:nvPr/>
        </p:nvSpPr>
        <p:spPr>
          <a:xfrm>
            <a:off x="6309360" y="2084832"/>
            <a:ext cx="2560320" cy="548640"/>
          </a:xfrm>
          <a:prstGeom prst="rect">
            <a:avLst/>
          </a:prstGeom>
          <a:noFill/>
          <a:ln/>
        </p:spPr>
        <p:txBody>
          <a:bodyPr wrap="square" lIns="0" tIns="0" rIns="0" bIns="0" rtlCol="0" anchor="t"/>
          <a:lstStyle/>
          <a:p>
            <a:pPr indent="0" marL="0">
              <a:buNone/>
            </a:pPr>
            <a:r>
              <a:rPr lang="en-US" sz="1300" dirty="0">
                <a:solidFill>
                  <a:srgbClr val="4A5260"/>
                </a:solidFill>
              </a:rPr>
              <a:t>false alert episodes per patient-day</a:t>
            </a:r>
            <a:endParaRPr lang="en-US" sz="1300" dirty="0"/>
          </a:p>
        </p:txBody>
      </p:sp>
      <p:sp>
        <p:nvSpPr>
          <p:cNvPr id="9" name="Text 7"/>
          <p:cNvSpPr txBox="1"/>
          <p:nvPr/>
        </p:nvSpPr>
        <p:spPr>
          <a:xfrm>
            <a:off x="9052560" y="1371600"/>
            <a:ext cx="26517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0.97</a:t>
            </a:r>
            <a:endParaRPr lang="en-US" sz="4000" dirty="0"/>
          </a:p>
        </p:txBody>
      </p:sp>
      <p:sp>
        <p:nvSpPr>
          <p:cNvPr id="10" name="Text 8"/>
          <p:cNvSpPr txBox="1"/>
          <p:nvPr/>
        </p:nvSpPr>
        <p:spPr>
          <a:xfrm>
            <a:off x="9052560" y="2084832"/>
            <a:ext cx="2651760" cy="548640"/>
          </a:xfrm>
          <a:prstGeom prst="rect">
            <a:avLst/>
          </a:prstGeom>
          <a:noFill/>
          <a:ln/>
        </p:spPr>
        <p:txBody>
          <a:bodyPr wrap="square" lIns="0" tIns="0" rIns="0" bIns="0" rtlCol="0" anchor="t"/>
          <a:lstStyle/>
          <a:p>
            <a:pPr indent="0" marL="0">
              <a:buNone/>
            </a:pPr>
            <a:r>
              <a:rPr lang="en-US" sz="1300" dirty="0">
                <a:solidFill>
                  <a:srgbClr val="4A5260"/>
                </a:solidFill>
              </a:rPr>
              <a:t>hypoglycaemia AUROC (spike AUROC 0.96)</a:t>
            </a:r>
            <a:endParaRPr lang="en-US" sz="1300" dirty="0"/>
          </a:p>
        </p:txBody>
      </p:sp>
      <p:pic>
        <p:nvPicPr>
          <p:cNvPr id="11" name="example_forecast.png" descr="F:\Digital Twin\docs\figures\example_forecast.png">    </p:cNvPr>
          <p:cNvPicPr>
            <a:picLocks noChangeAspect="1"/>
          </p:cNvPicPr>
          <p:nvPr/>
        </p:nvPicPr>
        <p:blipFill>
          <a:blip r:embed="rId1"/>
          <a:srcRect l="0" r="0" t="0" b="0"/>
          <a:stretch/>
        </p:blipFill>
        <p:spPr>
          <a:xfrm>
            <a:off x="457200" y="2880360"/>
            <a:ext cx="7498080" cy="3429000"/>
          </a:xfrm>
          <a:prstGeom prst="rect">
            <a:avLst/>
          </a:prstGeom>
        </p:spPr>
      </p:pic>
      <p:sp>
        <p:nvSpPr>
          <p:cNvPr id="12" name="Text 9"/>
          <p:cNvSpPr txBox="1"/>
          <p:nvPr/>
        </p:nvSpPr>
        <p:spPr>
          <a:xfrm>
            <a:off x="8229600" y="3108960"/>
            <a:ext cx="3474720" cy="2194560"/>
          </a:xfrm>
          <a:prstGeom prst="rect">
            <a:avLst/>
          </a:prstGeom>
          <a:noFill/>
          <a:ln/>
        </p:spPr>
        <p:txBody>
          <a:bodyPr wrap="square" lIns="0" tIns="0" rIns="0" bIns="0" rtlCol="0" anchor="ctr"/>
          <a:lstStyle/>
          <a:p>
            <a:pPr indent="0" marL="0">
              <a:buNone/>
            </a:pPr>
            <a:r>
              <a:rPr lang="en-US" sz="1400" dirty="0">
                <a:solidFill>
                  <a:srgbClr val="4A5260"/>
                </a:solidFill>
              </a:rPr>
              <a:t>Every alert carries its reasons from the event model, e.g. carbohydrate still absorbing, a rising trend, insulin sensitivity below baseline, or a sedentary hour after a meal.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Calibrated, useful and fair</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What a diabetologist asks beyond AUROC</a:t>
            </a:r>
            <a:endParaRPr lang="en-US" sz="1500" dirty="0"/>
          </a:p>
        </p:txBody>
      </p:sp>
      <p:pic>
        <p:nvPicPr>
          <p:cNvPr id="4" name="calibration_spike.png" descr="F:\Digital Twin\docs\figures\calibration_spike.png">    </p:cNvPr>
          <p:cNvPicPr>
            <a:picLocks noChangeAspect="1"/>
          </p:cNvPicPr>
          <p:nvPr/>
        </p:nvPicPr>
        <p:blipFill>
          <a:blip r:embed="rId1"/>
          <a:srcRect l="0" r="0" t="0" b="0"/>
          <a:stretch/>
        </p:blipFill>
        <p:spPr>
          <a:xfrm>
            <a:off x="457200" y="1463040"/>
            <a:ext cx="3931920" cy="3657600"/>
          </a:xfrm>
          <a:prstGeom prst="rect">
            <a:avLst/>
          </a:prstGeom>
        </p:spPr>
      </p:pic>
      <p:pic>
        <p:nvPicPr>
          <p:cNvPr id="5" name="decision_curve_spike.png" descr="F:\Digital Twin\docs\figures\decision_curve_spike.png">    </p:cNvPr>
          <p:cNvPicPr>
            <a:picLocks noChangeAspect="1"/>
          </p:cNvPicPr>
          <p:nvPr/>
        </p:nvPicPr>
        <p:blipFill>
          <a:blip r:embed="rId2"/>
          <a:srcRect l="0" r="0" t="0" b="0"/>
          <a:stretch/>
        </p:blipFill>
        <p:spPr>
          <a:xfrm>
            <a:off x="4572000" y="1463040"/>
            <a:ext cx="7132320" cy="2743200"/>
          </a:xfrm>
          <a:prstGeom prst="rect">
            <a:avLst/>
          </a:prstGeom>
        </p:spPr>
      </p:pic>
      <p:sp>
        <p:nvSpPr>
          <p:cNvPr id="6" name="Text 2"/>
          <p:cNvSpPr txBox="1"/>
          <p:nvPr/>
        </p:nvSpPr>
        <p:spPr>
          <a:xfrm>
            <a:off x="4572000" y="4389120"/>
            <a:ext cx="713232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Calibrated: after recalibration on held-out patients (class-weighted training inflates raw risks), a 30% spike risk comes true about 30% of the time</a:t>
            </a:r>
            <a:endParaRPr lang="en-US" sz="1400" dirty="0"/>
          </a:p>
          <a:p>
            <a:pPr marL="342900" indent="-342900">
              <a:spcAft>
                <a:spcPts val="800"/>
              </a:spcAft>
              <a:buSzPct val="100000"/>
              <a:buChar char="•"/>
            </a:pPr>
            <a:r>
              <a:rPr lang="en-US" sz="1400" dirty="0">
                <a:solidFill>
                  <a:srgbClr val="222833"/>
                </a:solidFill>
              </a:rPr>
              <a:t>Useful: alerting on MadhuTwin's risk gives more net benefit than alerting everyone or no one across thresholds</a:t>
            </a:r>
            <a:endParaRPr lang="en-US" sz="1400" dirty="0"/>
          </a:p>
          <a:p>
            <a:pPr marL="342900" indent="-342900">
              <a:spcAft>
                <a:spcPts val="800"/>
              </a:spcAft>
              <a:buSzPct val="100000"/>
              <a:buChar char="•"/>
            </a:pPr>
            <a:r>
              <a:rPr lang="en-US" sz="1400" dirty="0">
                <a:solidFill>
                  <a:srgbClr val="222833"/>
                </a:solidFill>
              </a:rPr>
              <a:t>Fair: 1-hour error ranges 12.8–22.7 mg/dL across 19 subgroups of sex, age, BMI (Asian cut-offs), status, therapy and region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Fusing both streams matters; the twin adds most</a:t>
            </a:r>
            <a:endParaRPr lang="en-US" sz="3000" dirty="0"/>
          </a:p>
        </p:txBody>
      </p:sp>
      <p:pic>
        <p:nvPicPr>
          <p:cNvPr id="3" name="ablation_streams.png" descr="F:\Digital Twin\docs\figures\ablation_streams.png">    </p:cNvPr>
          <p:cNvPicPr>
            <a:picLocks noChangeAspect="1"/>
          </p:cNvPicPr>
          <p:nvPr/>
        </p:nvPicPr>
        <p:blipFill>
          <a:blip r:embed="rId1"/>
          <a:srcRect l="0" r="0" t="0" b="0"/>
          <a:stretch/>
        </p:blipFill>
        <p:spPr>
          <a:xfrm>
            <a:off x="457200" y="1234440"/>
            <a:ext cx="7132320" cy="4206240"/>
          </a:xfrm>
          <a:prstGeom prst="rect">
            <a:avLst/>
          </a:prstGeom>
        </p:spPr>
      </p:pic>
      <p:sp>
        <p:nvSpPr>
          <p:cNvPr id="4" name="Text 1"/>
          <p:cNvSpPr txBox="1"/>
          <p:nvPr/>
        </p:nvSpPr>
        <p:spPr>
          <a:xfrm>
            <a:off x="7863840" y="1371600"/>
            <a:ext cx="384048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833"/>
                </a:solidFill>
              </a:rPr>
              <a:t>CGM alone: 24.9 mg/dL at 60 min; spike AUROC 0.92</a:t>
            </a:r>
            <a:endParaRPr lang="en-US" sz="1500" dirty="0"/>
          </a:p>
          <a:p>
            <a:pPr marL="342900" indent="-342900">
              <a:spcAft>
                <a:spcPts val="800"/>
              </a:spcAft>
              <a:buSzPct val="100000"/>
              <a:buChar char="•"/>
            </a:pPr>
            <a:r>
              <a:rPr lang="en-US" sz="1500" dirty="0">
                <a:solidFill>
                  <a:srgbClr val="222833"/>
                </a:solidFill>
              </a:rPr>
              <a:t>Both streams (wearables + meals/meds + EHR): 20.1; AUROC 0.95</a:t>
            </a:r>
            <a:endParaRPr lang="en-US" sz="1500" dirty="0"/>
          </a:p>
          <a:p>
            <a:pPr marL="342900" indent="-342900">
              <a:spcAft>
                <a:spcPts val="800"/>
              </a:spcAft>
              <a:buSzPct val="100000"/>
              <a:buChar char="•"/>
            </a:pPr>
            <a:r>
              <a:rPr lang="en-US" sz="1500" dirty="0">
                <a:solidFill>
                  <a:srgbClr val="222833"/>
                </a:solidFill>
              </a:rPr>
              <a:t>+ physics twin: 18.4; AUROC 0.96</a:t>
            </a:r>
            <a:endParaRPr lang="en-US" sz="1500" dirty="0"/>
          </a:p>
          <a:p>
            <a:pPr marL="342900" indent="-342900">
              <a:spcAft>
                <a:spcPts val="800"/>
              </a:spcAft>
              <a:buSzPct val="100000"/>
              <a:buChar char="•"/>
            </a:pPr>
            <a:r>
              <a:rPr lang="en-US" sz="1500" dirty="0">
                <a:solidFill>
                  <a:srgbClr val="222833"/>
                </a:solidFill>
              </a:rPr>
              <a:t>Each stream helps; the EHR helps most in combination, telling the model whose body the wearables describe</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It transfers to real people and to an external population</a:t>
            </a:r>
            <a:endParaRPr lang="en-US" sz="3000" dirty="0"/>
          </a:p>
        </p:txBody>
      </p:sp>
      <p:pic>
        <p:nvPicPr>
          <p:cNvPr id="3" name="rmse_by_horizon_cgmacros.png" descr="F:\Digital Twin\docs\figures\rmse_by_horizon_cgmacros.png">    </p:cNvPr>
          <p:cNvPicPr>
            <a:picLocks noChangeAspect="1"/>
          </p:cNvPicPr>
          <p:nvPr/>
        </p:nvPicPr>
        <p:blipFill>
          <a:blip r:embed="rId1"/>
          <a:srcRect l="0" r="0" t="0" b="0"/>
          <a:stretch/>
        </p:blipFill>
        <p:spPr>
          <a:xfrm>
            <a:off x="457200" y="1234440"/>
            <a:ext cx="6766560" cy="393192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325880"/>
          <a:ext cx="4480560" cy="914400"/>
        </p:xfrm>
        <a:graphic>
          <a:graphicData uri="http://schemas.openxmlformats.org/drawingml/2006/table">
            <a:tbl>
              <a:tblPr/>
              <a:tblGrid>
                <a:gridCol w="1783080"/>
                <a:gridCol w="868680"/>
                <a:gridCol w="960120"/>
                <a:gridCol w="868680"/>
              </a:tblGrid>
              <a:tr h="0">
                <a:tc>
                  <a:txBody>
                    <a:bodyPr/>
                    <a:lstStyle/>
                    <a:p>
                      <a:pPr indent="0" marL="0">
                        <a:buNone/>
                      </a:pPr>
                      <a:r>
                        <a:rPr lang="en-US" sz="1200" b="1" dirty="0">
                          <a:solidFill>
                            <a:srgbClr val="222833"/>
                          </a:solidFill>
                        </a:rPr>
                        <a:t>60-min RMSE (mg/dL)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CGMacros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BIG IDEAs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Shanghai</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Persistence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28.3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synthetic only</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26.4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20.7</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32.9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sim-to-real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22.3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22833"/>
                          </a:solidFill>
                        </a:rPr>
                        <a:t>MadhuTwin ensemble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22.4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21.1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Clarke A+B, MadhuTwin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98.9%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269480" y="4160520"/>
            <a:ext cx="4480560" cy="1371600"/>
          </a:xfrm>
          <a:prstGeom prst="rect">
            <a:avLst/>
          </a:prstGeom>
          <a:noFill/>
          <a:ln/>
        </p:spPr>
        <p:txBody>
          <a:bodyPr wrap="square" lIns="0" tIns="0" rIns="0" bIns="0" rtlCol="0" anchor="ctr"/>
          <a:lstStyle/>
          <a:p>
            <a:pPr indent="0" marL="0">
              <a:buNone/>
            </a:pPr>
            <a:r>
              <a:rPr lang="en-US" sz="1300" dirty="0">
                <a:solidFill>
                  <a:srgbClr val="4A5260"/>
                </a:solidFill>
              </a:rPr>
              <a:t>45 CGMacros and 16 BIG IDEAs participants (real wristband heart rate and HRV), 5-fold patient cross-validation, and 109 ShanghaiT2DM recordings from a different country, sensor and diet, with no wearables at all.</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CGM-light: one week of CGM, then fingersticks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An affordability mode for India: the twin keeps estimating continuous glucose after the sensor comes off</a:t>
            </a:r>
            <a:endParaRPr lang="en-US" sz="1500" dirty="0"/>
          </a:p>
        </p:txBody>
      </p:sp>
      <p:sp>
        <p:nvSpPr>
          <p:cNvPr id="4" name="Text 2"/>
          <p:cNvSpPr txBox="1"/>
          <p:nvPr/>
        </p:nvSpPr>
        <p:spPr>
          <a:xfrm>
            <a:off x="45720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6.4%</a:t>
            </a:r>
            <a:endParaRPr lang="en-US" sz="4000" dirty="0"/>
          </a:p>
        </p:txBody>
      </p:sp>
      <p:sp>
        <p:nvSpPr>
          <p:cNvPr id="5" name="Text 3"/>
          <p:cNvSpPr txBox="1"/>
          <p:nvPr/>
        </p:nvSpPr>
        <p:spPr>
          <a:xfrm>
            <a:off x="45720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twin MARD vs true glucose (carry-forward fingersticks: 23.8%)</a:t>
            </a:r>
            <a:endParaRPr lang="en-US" sz="1300" dirty="0"/>
          </a:p>
        </p:txBody>
      </p:sp>
      <p:sp>
        <p:nvSpPr>
          <p:cNvPr id="6" name="Text 4"/>
          <p:cNvSpPr txBox="1"/>
          <p:nvPr/>
        </p:nvSpPr>
        <p:spPr>
          <a:xfrm>
            <a:off x="429768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95%</a:t>
            </a:r>
            <a:endParaRPr lang="en-US" sz="4000" dirty="0"/>
          </a:p>
        </p:txBody>
      </p:sp>
      <p:sp>
        <p:nvSpPr>
          <p:cNvPr id="7" name="Text 5"/>
          <p:cNvSpPr txBox="1"/>
          <p:nvPr/>
        </p:nvSpPr>
        <p:spPr>
          <a:xfrm>
            <a:off x="429768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of twin estimates within 20% of true glucose (carry-forward: 56%)</a:t>
            </a:r>
            <a:endParaRPr lang="en-US" sz="1300" dirty="0"/>
          </a:p>
        </p:txBody>
      </p:sp>
      <p:sp>
        <p:nvSpPr>
          <p:cNvPr id="8" name="Text 6"/>
          <p:cNvSpPr txBox="1"/>
          <p:nvPr/>
        </p:nvSpPr>
        <p:spPr>
          <a:xfrm>
            <a:off x="813816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±3.8 pp</a:t>
            </a:r>
            <a:endParaRPr lang="en-US" sz="4000" dirty="0"/>
          </a:p>
        </p:txBody>
      </p:sp>
      <p:sp>
        <p:nvSpPr>
          <p:cNvPr id="9" name="Text 7"/>
          <p:cNvSpPr txBox="1"/>
          <p:nvPr/>
        </p:nvSpPr>
        <p:spPr>
          <a:xfrm>
            <a:off x="813816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error in weekly time-in-range (fingersticks alone: ±5.4 pp)</a:t>
            </a:r>
            <a:endParaRPr lang="en-US" sz="1300" dirty="0"/>
          </a:p>
        </p:txBody>
      </p:sp>
      <p:sp>
        <p:nvSpPr>
          <p:cNvPr id="10" name="Shape 8"/>
          <p:cNvSpPr/>
          <p:nvPr/>
        </p:nvSpPr>
        <p:spPr>
          <a:xfrm>
            <a:off x="457200" y="3840480"/>
            <a:ext cx="11247120" cy="1737360"/>
          </a:xfrm>
          <a:prstGeom prst="roundRect">
            <a:avLst>
              <a:gd name="adj" fmla="val 4211"/>
            </a:avLst>
          </a:prstGeom>
          <a:solidFill>
            <a:srgbClr val="F2F5FA"/>
          </a:solidFill>
          <a:ln w="12700">
            <a:solidFill>
              <a:srgbClr val="F2F5FA"/>
            </a:solidFill>
            <a:prstDash val="solid"/>
          </a:ln>
        </p:spPr>
      </p:sp>
      <p:sp>
        <p:nvSpPr>
          <p:cNvPr id="11" name="Text 9"/>
          <p:cNvSpPr txBox="1"/>
          <p:nvPr/>
        </p:nvSpPr>
        <p:spPr>
          <a:xfrm>
            <a:off x="621792" y="3950208"/>
            <a:ext cx="10917936" cy="151790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How it works</a:t>
            </a:r>
            <a:endParaRPr lang="en-US" sz="1500" dirty="0"/>
          </a:p>
          <a:p>
            <a:pPr indent="0" marL="0">
              <a:spcAft>
                <a:spcPts val="400"/>
              </a:spcAft>
              <a:buNone/>
            </a:pPr>
            <a:r>
              <a:rPr lang="en-US" sz="1300" dirty="0">
                <a:solidFill>
                  <a:srgbClr val="4A5260"/>
                </a:solidFill>
              </a:rPr>
              <a:t>Week 1 personalises the twin on CGM. In week 2 only 4 fingerstick checks a day remain; the Unscented Kalman Filter fuses them with logged meals, doses and smartwatch activity to estimate glucose in between. Evaluated on 199 held-out synthetic patients against their true glucose; because the simulator shares the twin's structure this is an upper bound until tested on real CGM-off data.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Robust, fast and honest about its limits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Three questions any deployment raises</a:t>
            </a:r>
            <a:endParaRPr lang="en-US" sz="1500" dirty="0"/>
          </a:p>
        </p:txBody>
      </p:sp>
      <p:sp>
        <p:nvSpPr>
          <p:cNvPr id="4" name="Text 2"/>
          <p:cNvSpPr txBox="1"/>
          <p:nvPr/>
        </p:nvSpPr>
        <p:spPr>
          <a:xfrm>
            <a:off x="457200" y="1463040"/>
            <a:ext cx="5852160" cy="365760"/>
          </a:xfrm>
          <a:prstGeom prst="rect">
            <a:avLst/>
          </a:prstGeom>
          <a:noFill/>
          <a:ln/>
        </p:spPr>
        <p:txBody>
          <a:bodyPr wrap="square" lIns="0" tIns="0" rIns="0" bIns="0" rtlCol="0" anchor="ctr"/>
          <a:lstStyle/>
          <a:p>
            <a:pPr indent="0" marL="0">
              <a:buNone/>
            </a:pPr>
            <a:r>
              <a:rPr lang="en-US" sz="1600" b="1" dirty="0">
                <a:solidFill>
                  <a:srgbClr val="14284B"/>
                </a:solidFill>
              </a:rPr>
              <a:t>1 · No smartwatch, no records?</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5852160" cy="914400"/>
        </p:xfrm>
        <a:graphic>
          <a:graphicData uri="http://schemas.openxmlformats.org/drawingml/2006/table">
            <a:tbl>
              <a:tblPr/>
              <a:tblGrid>
                <a:gridCol w="3657600"/>
                <a:gridCol w="1005840"/>
                <a:gridCol w="1188720"/>
              </a:tblGrid>
              <a:tr h="0">
                <a:tc>
                  <a:txBody>
                    <a:bodyPr/>
                    <a:lstStyle/>
                    <a:p>
                      <a:pPr indent="0" marL="0">
                        <a:buNone/>
                      </a:pPr>
                      <a:r>
                        <a:rPr lang="en-US" sz="1200" b="1" dirty="0">
                          <a:solidFill>
                            <a:srgbClr val="222833"/>
                          </a:solidFill>
                        </a:rPr>
                        <a:t>Missing at inference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RMSE 60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Spike AUROC</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All data</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smartwatch (wearables missing)</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EHR</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meal or dose logs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physics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21.2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Only CGM (no smartwatch, EHR, logs or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50% of past CGM readings lost</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5074920"/>
            <a:ext cx="5852160" cy="731520"/>
          </a:xfrm>
          <a:prstGeom prst="rect">
            <a:avLst/>
          </a:prstGeom>
          <a:noFill/>
          <a:ln/>
        </p:spPr>
        <p:txBody>
          <a:bodyPr wrap="square" lIns="0" tIns="0" rIns="0" bIns="0" rtlCol="0" anchor="ctr"/>
          <a:lstStyle/>
          <a:p>
            <a:pPr indent="0" marL="0">
              <a:buNone/>
            </a:pPr>
            <a:r>
              <a:rPr lang="en-US" sz="1200" dirty="0">
                <a:solidFill>
                  <a:srgbClr val="4A5260"/>
                </a:solidFill>
              </a:rPr>
              <a:t>One deployed model; data removed at inference (synthetic test patients). The physics twin is the input it misses most.</a:t>
            </a:r>
            <a:endParaRPr lang="en-US" sz="1200" dirty="0"/>
          </a:p>
        </p:txBody>
      </p:sp>
      <p:sp>
        <p:nvSpPr>
          <p:cNvPr id="7" name="Text 4"/>
          <p:cNvSpPr txBox="1"/>
          <p:nvPr/>
        </p:nvSpPr>
        <p:spPr>
          <a:xfrm>
            <a:off x="6675120" y="146304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2 · Can the twin be trusted for a whole day?</a:t>
            </a:r>
            <a:endParaRPr lang="en-US" sz="1600" dirty="0"/>
          </a:p>
        </p:txBody>
      </p:sp>
      <p:sp>
        <p:nvSpPr>
          <p:cNvPr id="8" name="Text 5"/>
          <p:cNvSpPr txBox="1"/>
          <p:nvPr/>
        </p:nvSpPr>
        <p:spPr>
          <a:xfrm>
            <a:off x="6675120" y="178308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7.0 mg/dL</a:t>
            </a:r>
            <a:endParaRPr lang="en-US" sz="4000" dirty="0"/>
          </a:p>
        </p:txBody>
      </p:sp>
      <p:sp>
        <p:nvSpPr>
          <p:cNvPr id="9" name="Text 6"/>
          <p:cNvSpPr txBox="1"/>
          <p:nvPr/>
        </p:nvSpPr>
        <p:spPr>
          <a:xfrm>
            <a:off x="6675120" y="2496312"/>
            <a:ext cx="2377440" cy="548640"/>
          </a:xfrm>
          <a:prstGeom prst="rect">
            <a:avLst/>
          </a:prstGeom>
          <a:noFill/>
          <a:ln/>
        </p:spPr>
        <p:txBody>
          <a:bodyPr wrap="square" lIns="0" tIns="0" rIns="0" bIns="0" rtlCol="0" anchor="t"/>
          <a:lstStyle/>
          <a:p>
            <a:pPr indent="0" marL="0">
              <a:buNone/>
            </a:pPr>
            <a:r>
              <a:rPr lang="en-US" sz="1300" dirty="0">
                <a:solidFill>
                  <a:srgbClr val="4A5260"/>
                </a:solidFill>
              </a:rPr>
              <a:t>median error in daily mean glucose, 24-h replay (CGMacros)</a:t>
            </a:r>
            <a:endParaRPr lang="en-US" sz="1300" dirty="0"/>
          </a:p>
        </p:txBody>
      </p:sp>
      <p:sp>
        <p:nvSpPr>
          <p:cNvPr id="10" name="Text 7"/>
          <p:cNvSpPr txBox="1"/>
          <p:nvPr/>
        </p:nvSpPr>
        <p:spPr>
          <a:xfrm>
            <a:off x="9235440" y="178308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2.8 pp</a:t>
            </a:r>
            <a:endParaRPr lang="en-US" sz="4000" dirty="0"/>
          </a:p>
        </p:txBody>
      </p:sp>
      <p:sp>
        <p:nvSpPr>
          <p:cNvPr id="11" name="Text 8"/>
          <p:cNvSpPr txBox="1"/>
          <p:nvPr/>
        </p:nvSpPr>
        <p:spPr>
          <a:xfrm>
            <a:off x="9235440" y="2496312"/>
            <a:ext cx="2468880" cy="548640"/>
          </a:xfrm>
          <a:prstGeom prst="rect">
            <a:avLst/>
          </a:prstGeom>
          <a:noFill/>
          <a:ln/>
        </p:spPr>
        <p:txBody>
          <a:bodyPr wrap="square" lIns="0" tIns="0" rIns="0" bIns="0" rtlCol="0" anchor="t"/>
          <a:lstStyle/>
          <a:p>
            <a:pPr indent="0" marL="0">
              <a:buNone/>
            </a:pPr>
            <a:r>
              <a:rPr lang="en-US" sz="1300" dirty="0">
                <a:solidFill>
                  <a:srgbClr val="4A5260"/>
                </a:solidFill>
              </a:rPr>
              <a:t>median time-in-range error (ShanghaiT2DM: 7.3 pp)</a:t>
            </a:r>
            <a:endParaRPr lang="en-US" sz="1300" dirty="0"/>
          </a:p>
        </p:txBody>
      </p:sp>
      <p:sp>
        <p:nvSpPr>
          <p:cNvPr id="12" name="Text 9"/>
          <p:cNvSpPr txBox="1"/>
          <p:nvPr/>
        </p:nvSpPr>
        <p:spPr>
          <a:xfrm>
            <a:off x="6675120" y="3246120"/>
            <a:ext cx="5029200" cy="685800"/>
          </a:xfrm>
          <a:prstGeom prst="rect">
            <a:avLst/>
          </a:prstGeom>
          <a:noFill/>
          <a:ln/>
        </p:spPr>
        <p:txBody>
          <a:bodyPr wrap="square" lIns="0" tIns="0" rIns="0" bIns="0" rtlCol="0" anchor="ctr"/>
          <a:lstStyle/>
          <a:p>
            <a:pPr indent="0" marL="0">
              <a:buNone/>
            </a:pPr>
            <a:r>
              <a:rPr lang="en-US" sz="1200" dirty="0">
                <a:solidFill>
                  <a:srgbClr val="4A5260"/>
                </a:solidFill>
              </a:rPr>
              <a:t>Short lows are not reproduced over 24 h, so hypo warnings come from the 2-hour forecast; each patient's replay is shown as a trust check.</a:t>
            </a:r>
            <a:endParaRPr lang="en-US" sz="1200" dirty="0"/>
          </a:p>
        </p:txBody>
      </p:sp>
      <p:sp>
        <p:nvSpPr>
          <p:cNvPr id="13" name="Text 10"/>
          <p:cNvSpPr txBox="1"/>
          <p:nvPr/>
        </p:nvSpPr>
        <p:spPr>
          <a:xfrm>
            <a:off x="6675120" y="406908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3 · What does it cost to run?</a:t>
            </a:r>
            <a:endParaRPr lang="en-US" sz="1600" dirty="0"/>
          </a:p>
        </p:txBody>
      </p:sp>
      <p:sp>
        <p:nvSpPr>
          <p:cNvPr id="14" name="Text 11"/>
          <p:cNvSpPr txBox="1"/>
          <p:nvPr/>
        </p:nvSpPr>
        <p:spPr>
          <a:xfrm>
            <a:off x="6675120" y="438912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2.2 ms</a:t>
            </a:r>
            <a:endParaRPr lang="en-US" sz="4000" dirty="0"/>
          </a:p>
        </p:txBody>
      </p:sp>
      <p:sp>
        <p:nvSpPr>
          <p:cNvPr id="15" name="Text 12"/>
          <p:cNvSpPr txBox="1"/>
          <p:nvPr/>
        </p:nvSpPr>
        <p:spPr>
          <a:xfrm>
            <a:off x="6675120" y="5102352"/>
            <a:ext cx="2377440" cy="548640"/>
          </a:xfrm>
          <a:prstGeom prst="rect">
            <a:avLst/>
          </a:prstGeom>
          <a:noFill/>
          <a:ln/>
        </p:spPr>
        <p:txBody>
          <a:bodyPr wrap="square" lIns="0" tIns="0" rIns="0" bIns="0" rtlCol="0" anchor="t"/>
          <a:lstStyle/>
          <a:p>
            <a:pPr indent="0" marL="0">
              <a:buNone/>
            </a:pPr>
            <a:r>
              <a:rPr lang="en-US" sz="1300" dirty="0">
                <a:solidFill>
                  <a:srgbClr val="4A5260"/>
                </a:solidFill>
              </a:rPr>
              <a:t>per 2-hour forecast on a laptop CPU, no GPU</a:t>
            </a:r>
            <a:endParaRPr lang="en-US" sz="1300" dirty="0"/>
          </a:p>
        </p:txBody>
      </p:sp>
      <p:sp>
        <p:nvSpPr>
          <p:cNvPr id="16" name="Text 13"/>
          <p:cNvSpPr txBox="1"/>
          <p:nvPr/>
        </p:nvSpPr>
        <p:spPr>
          <a:xfrm>
            <a:off x="9235440" y="438912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 s</a:t>
            </a:r>
            <a:endParaRPr lang="en-US" sz="4000" dirty="0"/>
          </a:p>
        </p:txBody>
      </p:sp>
      <p:sp>
        <p:nvSpPr>
          <p:cNvPr id="17" name="Text 14"/>
          <p:cNvSpPr txBox="1"/>
          <p:nvPr/>
        </p:nvSpPr>
        <p:spPr>
          <a:xfrm>
            <a:off x="9235440" y="5102352"/>
            <a:ext cx="2468880" cy="548640"/>
          </a:xfrm>
          <a:prstGeom prst="rect">
            <a:avLst/>
          </a:prstGeom>
          <a:noFill/>
          <a:ln/>
        </p:spPr>
        <p:txBody>
          <a:bodyPr wrap="square" lIns="0" tIns="0" rIns="0" bIns="0" rtlCol="0" anchor="t"/>
          <a:lstStyle/>
          <a:p>
            <a:pPr indent="0" marL="0">
              <a:buNone/>
            </a:pPr>
            <a:r>
              <a:rPr lang="en-US" sz="1300" dirty="0">
                <a:solidFill>
                  <a:srgbClr val="4A5260"/>
                </a:solidFill>
              </a:rPr>
              <a:t>to personalise a new patient (twin + TwinNet)</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doctor's view: a risk-ranked panel</a:t>
            </a:r>
            <a:endParaRPr lang="en-US" sz="3000" dirty="0"/>
          </a:p>
        </p:txBody>
      </p:sp>
      <p:pic>
        <p:nvPicPr>
          <p:cNvPr id="3" name="panel_light.png" descr="F:\Digital Twin\docs\screenshots\panel_light.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Virtual patient: forecast, reasons, physiology</a:t>
            </a:r>
            <a:endParaRPr lang="en-US" sz="3000" dirty="0"/>
          </a:p>
        </p:txBody>
      </p:sp>
      <p:pic>
        <p:nvPicPr>
          <p:cNvPr id="3" name="patient_crop.png" descr="F:\Digital Twin\docs\screenshots\patient_crop.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virtual patient, in 3D</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 real human body shaped like the patient, with anatomical organs coloured by the twin</a:t>
            </a:r>
            <a:endParaRPr lang="en-US" sz="1500" dirty="0"/>
          </a:p>
        </p:txBody>
      </p:sp>
      <p:pic>
        <p:nvPicPr>
          <p:cNvPr id="4" name="vp3d_crop.png" descr="F:\Digital Twin\docs\screenshots\vp3d_crop.png">    </p:cNvPr>
          <p:cNvPicPr>
            <a:picLocks noChangeAspect="1"/>
          </p:cNvPicPr>
          <p:nvPr/>
        </p:nvPicPr>
        <p:blipFill>
          <a:blip r:embed="rId1"/>
          <a:srcRect l="0" r="0" t="0" b="0"/>
          <a:stretch/>
        </p:blipFill>
        <p:spPr>
          <a:xfrm>
            <a:off x="457200" y="1417320"/>
            <a:ext cx="7680960" cy="4480560"/>
          </a:xfrm>
          <a:prstGeom prst="rect">
            <a:avLst/>
          </a:prstGeom>
        </p:spPr>
      </p:pic>
      <p:sp>
        <p:nvSpPr>
          <p:cNvPr id="5" name="Text 2"/>
          <p:cNvSpPr txBox="1"/>
          <p:nvPr/>
        </p:nvSpPr>
        <p:spPr>
          <a:xfrm>
            <a:off x="8412480" y="1463040"/>
            <a:ext cx="3291840" cy="4480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Body from the MakeHuman mesh (CC0), shaped from the patient's sex and BMI in the EHR</a:t>
            </a:r>
            <a:endParaRPr lang="en-US" sz="1400" dirty="0"/>
          </a:p>
          <a:p>
            <a:pPr marL="342900" indent="-342900">
              <a:spcAft>
                <a:spcPts val="800"/>
              </a:spcAft>
              <a:buSzPct val="100000"/>
              <a:buChar char="•"/>
            </a:pPr>
            <a:r>
              <a:rPr lang="en-US" sz="1400" dirty="0">
                <a:solidFill>
                  <a:srgbClr val="222833"/>
                </a:solidFill>
              </a:rPr>
              <a:t>Anatomical organs from BodyParts3D, placed by skeletal landmarks (2 cm mean fit error)</a:t>
            </a:r>
            <a:endParaRPr lang="en-US" sz="1400" dirty="0"/>
          </a:p>
          <a:p>
            <a:pPr marL="342900" indent="-342900">
              <a:spcAft>
                <a:spcPts val="800"/>
              </a:spcAft>
              <a:buSzPct val="100000"/>
              <a:buChar char="•"/>
            </a:pPr>
            <a:r>
              <a:rPr lang="en-US" sz="1400" dirty="0">
                <a:solidFill>
                  <a:srgbClr val="222833"/>
                </a:solidFill>
              </a:rPr>
              <a:t>Each organ coloured by the twin's estimate: beta-cell response, insulin sensitivity, fasting set-point, absorption, kidney function</a:t>
            </a:r>
            <a:endParaRPr lang="en-US" sz="1400" dirty="0"/>
          </a:p>
          <a:p>
            <a:pPr marL="342900" indent="-342900">
              <a:spcAft>
                <a:spcPts val="800"/>
              </a:spcAft>
              <a:buSzPct val="100000"/>
              <a:buChar char="•"/>
            </a:pPr>
            <a:r>
              <a:rPr lang="en-US" sz="1400" dirty="0">
                <a:solidFill>
                  <a:srgbClr val="222833"/>
                </a:solidFill>
              </a:rPr>
              <a:t>The heart beats at the patient's own night heart rate; rotate, zoom, hover an organ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What-if on their twin, nudges in their language</a:t>
            </a:r>
            <a:endParaRPr lang="en-US" sz="3000" dirty="0"/>
          </a:p>
        </p:txBody>
      </p:sp>
      <p:pic>
        <p:nvPicPr>
          <p:cNvPr id="3" name="whatif_crop.png" descr="F:\Digital Twin\docs\screenshots\whatif_crop.png">    </p:cNvPr>
          <p:cNvPicPr>
            <a:picLocks noChangeAspect="1"/>
          </p:cNvPicPr>
          <p:nvPr/>
        </p:nvPicPr>
        <p:blipFill>
          <a:blip r:embed="rId1"/>
          <a:srcRect l="0" r="0" t="0" b="0"/>
          <a:stretch/>
        </p:blipFill>
        <p:spPr>
          <a:xfrm>
            <a:off x="457200" y="1188720"/>
            <a:ext cx="8138160" cy="5120640"/>
          </a:xfrm>
          <a:prstGeom prst="rect">
            <a:avLst/>
          </a:prstGeom>
        </p:spPr>
      </p:pic>
      <p:pic>
        <p:nvPicPr>
          <p:cNvPr id="4" name="companion_hi.png" descr="F:\Digital Twin\docs\screenshots\companion_hi.png">    </p:cNvPr>
          <p:cNvPicPr>
            <a:picLocks noChangeAspect="1"/>
          </p:cNvPicPr>
          <p:nvPr/>
        </p:nvPicPr>
        <p:blipFill>
          <a:blip r:embed="rId2"/>
          <a:srcRect l="0" r="0" t="0" b="0"/>
          <a:stretch/>
        </p:blipFill>
        <p:spPr>
          <a:xfrm>
            <a:off x="8869680" y="1188720"/>
            <a:ext cx="283464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Try a prescription on the twin first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Neha Agarwal: SGLT2 inhibitor with eGFR 51. Should it be stopped?</a:t>
            </a:r>
            <a:endParaRPr lang="en-US" sz="1500" dirty="0"/>
          </a:p>
        </p:txBody>
      </p:sp>
      <p:pic>
        <p:nvPicPr>
          <p:cNvPr id="4" name="therapy_crop.png" descr="F:\Digital Twin\docs\screenshots\therapy_crop.png">    </p:cNvPr>
          <p:cNvPicPr>
            <a:picLocks noChangeAspect="1"/>
          </p:cNvPicPr>
          <p:nvPr/>
        </p:nvPicPr>
        <p:blipFill>
          <a:blip r:embed="rId1"/>
          <a:srcRect l="0" r="0" t="0" b="0"/>
          <a:stretch/>
        </p:blipFill>
        <p:spPr>
          <a:xfrm>
            <a:off x="457200" y="1371600"/>
            <a:ext cx="11247120" cy="3429000"/>
          </a:xfrm>
          <a:prstGeom prst="rect">
            <a:avLst/>
          </a:prstGeom>
        </p:spPr>
      </p:pic>
      <p:sp>
        <p:nvSpPr>
          <p:cNvPr id="5" name="Text 2"/>
          <p:cNvSpPr txBox="1"/>
          <p:nvPr/>
        </p:nvSpPr>
        <p:spPr>
          <a:xfrm>
            <a:off x="4572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86.5% → 72.6%</a:t>
            </a:r>
            <a:endParaRPr lang="en-US" sz="4000" dirty="0"/>
          </a:p>
        </p:txBody>
      </p:sp>
      <p:sp>
        <p:nvSpPr>
          <p:cNvPr id="6" name="Text 3"/>
          <p:cNvSpPr txBox="1"/>
          <p:nvPr/>
        </p:nvSpPr>
        <p:spPr>
          <a:xfrm>
            <a:off x="4572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time in range over the next 24 h if the SGLT2 inhibitor is stopped</a:t>
            </a:r>
            <a:endParaRPr lang="en-US" sz="1300" dirty="0"/>
          </a:p>
        </p:txBody>
      </p:sp>
      <p:sp>
        <p:nvSpPr>
          <p:cNvPr id="7" name="Text 4"/>
          <p:cNvSpPr txBox="1"/>
          <p:nvPr/>
        </p:nvSpPr>
        <p:spPr>
          <a:xfrm>
            <a:off x="43434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88.5%</a:t>
            </a:r>
            <a:endParaRPr lang="en-US" sz="4000" dirty="0"/>
          </a:p>
        </p:txBody>
      </p:sp>
      <p:sp>
        <p:nvSpPr>
          <p:cNvPr id="8" name="Text 5"/>
          <p:cNvSpPr txBox="1"/>
          <p:nvPr/>
        </p:nvSpPr>
        <p:spPr>
          <a:xfrm>
            <a:off x="43434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keeping it and adding a DPP-4 inhibitor: as much as doubling Gliclazide (88.5%)</a:t>
            </a:r>
            <a:endParaRPr lang="en-US" sz="1300" dirty="0"/>
          </a:p>
        </p:txBody>
      </p:sp>
      <p:sp>
        <p:nvSpPr>
          <p:cNvPr id="9" name="Text 6"/>
          <p:cNvSpPr txBox="1"/>
          <p:nvPr/>
        </p:nvSpPr>
        <p:spPr>
          <a:xfrm>
            <a:off x="8229600" y="4846320"/>
            <a:ext cx="34747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11.4 mg/dL</a:t>
            </a:r>
            <a:endParaRPr lang="en-US" sz="4000" dirty="0"/>
          </a:p>
        </p:txBody>
      </p:sp>
      <p:sp>
        <p:nvSpPr>
          <p:cNvPr id="10" name="Text 7"/>
          <p:cNvSpPr txBox="1"/>
          <p:nvPr/>
        </p:nvSpPr>
        <p:spPr>
          <a:xfrm>
            <a:off x="8229600" y="5559552"/>
            <a:ext cx="3474720" cy="548640"/>
          </a:xfrm>
          <a:prstGeom prst="rect">
            <a:avLst/>
          </a:prstGeom>
          <a:noFill/>
          <a:ln/>
        </p:spPr>
        <p:txBody>
          <a:bodyPr wrap="square" lIns="0" tIns="0" rIns="0" bIns="0" rtlCol="0" anchor="t"/>
          <a:lstStyle/>
          <a:p>
            <a:pPr indent="0" marL="0">
              <a:buNone/>
            </a:pPr>
            <a:r>
              <a:rPr lang="en-US" sz="1300" dirty="0">
                <a:solidFill>
                  <a:srgbClr val="4A5260"/>
                </a:solidFill>
              </a:rPr>
              <a:t>trust check: the twin's replay of the last 24 h vs CGM (agreement good)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Responsible by design</a:t>
            </a:r>
            <a:endParaRPr lang="en-US" sz="3000" dirty="0"/>
          </a:p>
        </p:txBody>
      </p:sp>
      <p:sp>
        <p:nvSpPr>
          <p:cNvPr id="3" name="Shape 1"/>
          <p:cNvSpPr/>
          <p:nvPr/>
        </p:nvSpPr>
        <p:spPr>
          <a:xfrm>
            <a:off x="502920" y="1463040"/>
            <a:ext cx="457200" cy="457200"/>
          </a:xfrm>
          <a:prstGeom prst="ellipse">
            <a:avLst/>
          </a:prstGeom>
          <a:solidFill>
            <a:srgbClr val="E8A317"/>
          </a:solidFill>
          <a:ln w="12700">
            <a:solidFill>
              <a:srgbClr val="E8A317"/>
            </a:solidFill>
            <a:prstDash val="solid"/>
          </a:ln>
        </p:spPr>
      </p:sp>
      <p:sp>
        <p:nvSpPr>
          <p:cNvPr id="4" name="Text 2"/>
          <p:cNvSpPr txBox="1"/>
          <p:nvPr/>
        </p:nvSpPr>
        <p:spPr>
          <a:xfrm>
            <a:off x="502920" y="1463040"/>
            <a:ext cx="457200" cy="457200"/>
          </a:xfrm>
          <a:prstGeom prst="rect">
            <a:avLst/>
          </a:prstGeom>
          <a:noFill/>
          <a:ln/>
        </p:spPr>
        <p:txBody>
          <a:bodyPr wrap="square" lIns="0" tIns="0" rIns="0" bIns="0" rtlCol="0" anchor="ctr"/>
          <a:lstStyle/>
          <a:p>
            <a:pPr algn="ctr" indent="0" marL="0">
              <a:buNone/>
            </a:pPr>
            <a:r>
              <a:rPr lang="en-US" sz="1400" b="1" dirty="0">
                <a:solidFill>
                  <a:srgbClr val="14284B"/>
                </a:solidFill>
              </a:rPr>
              <a:t>1</a:t>
            </a:r>
            <a:endParaRPr lang="en-US" sz="1400" dirty="0"/>
          </a:p>
        </p:txBody>
      </p:sp>
      <p:sp>
        <p:nvSpPr>
          <p:cNvPr id="5" name="Text 3"/>
          <p:cNvSpPr txBox="1"/>
          <p:nvPr/>
        </p:nvSpPr>
        <p:spPr>
          <a:xfrm>
            <a:off x="1188720" y="137160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DPDP Act 2023</a:t>
            </a:r>
            <a:endParaRPr lang="en-US" sz="1600" dirty="0"/>
          </a:p>
          <a:p>
            <a:pPr indent="0" marL="0">
              <a:buNone/>
            </a:pPr>
            <a:r>
              <a:rPr lang="en-US" sz="1400" dirty="0">
                <a:solidFill>
                  <a:srgbClr val="4A5260"/>
                </a:solidFill>
              </a:rPr>
              <a:t>Consent artefacts, purpose limitation, data minimisation, purpose-tagged audit trail; synthetic and de-identified data only</a:t>
            </a:r>
            <a:endParaRPr lang="en-US" sz="1600" dirty="0"/>
          </a:p>
        </p:txBody>
      </p:sp>
      <p:sp>
        <p:nvSpPr>
          <p:cNvPr id="6" name="Shape 4"/>
          <p:cNvSpPr/>
          <p:nvPr/>
        </p:nvSpPr>
        <p:spPr>
          <a:xfrm>
            <a:off x="502920" y="2423160"/>
            <a:ext cx="457200" cy="457200"/>
          </a:xfrm>
          <a:prstGeom prst="ellipse">
            <a:avLst/>
          </a:prstGeom>
          <a:solidFill>
            <a:srgbClr val="14284B"/>
          </a:solidFill>
          <a:ln w="12700">
            <a:solidFill>
              <a:srgbClr val="14284B"/>
            </a:solidFill>
            <a:prstDash val="solid"/>
          </a:ln>
        </p:spPr>
      </p:sp>
      <p:sp>
        <p:nvSpPr>
          <p:cNvPr id="7" name="Text 5"/>
          <p:cNvSpPr txBox="1"/>
          <p:nvPr/>
        </p:nvSpPr>
        <p:spPr>
          <a:xfrm>
            <a:off x="50292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33172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ABDM-ready interoperability</a:t>
            </a:r>
            <a:endParaRPr lang="en-US" sz="1600" dirty="0"/>
          </a:p>
          <a:p>
            <a:pPr indent="0" marL="0">
              <a:buNone/>
            </a:pPr>
            <a:r>
              <a:rPr lang="en-US" sz="1400" dirty="0">
                <a:solidFill>
                  <a:srgbClr val="4A5260"/>
                </a:solidFill>
              </a:rPr>
              <a:t>FHIR R4 with SNOMED CT, LOINC, WHO ATC; CGM as SampledData; the forecast exported as a RiskAssessment</a:t>
            </a:r>
            <a:endParaRPr lang="en-US" sz="1600" dirty="0"/>
          </a:p>
        </p:txBody>
      </p:sp>
      <p:sp>
        <p:nvSpPr>
          <p:cNvPr id="9" name="Shape 7"/>
          <p:cNvSpPr/>
          <p:nvPr/>
        </p:nvSpPr>
        <p:spPr>
          <a:xfrm>
            <a:off x="502920" y="3383280"/>
            <a:ext cx="457200" cy="457200"/>
          </a:xfrm>
          <a:prstGeom prst="ellipse">
            <a:avLst/>
          </a:prstGeom>
          <a:solidFill>
            <a:srgbClr val="14284B"/>
          </a:solidFill>
          <a:ln w="12700">
            <a:solidFill>
              <a:srgbClr val="14284B"/>
            </a:solidFill>
            <a:prstDash val="solid"/>
          </a:ln>
        </p:spPr>
      </p:sp>
      <p:sp>
        <p:nvSpPr>
          <p:cNvPr id="10" name="Text 8"/>
          <p:cNvSpPr txBox="1"/>
          <p:nvPr/>
        </p:nvSpPr>
        <p:spPr>
          <a:xfrm>
            <a:off x="502920" y="33832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29184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Explainable</a:t>
            </a:r>
            <a:endParaRPr lang="en-US" sz="1600" dirty="0"/>
          </a:p>
          <a:p>
            <a:pPr indent="0" marL="0">
              <a:buNone/>
            </a:pPr>
            <a:r>
              <a:rPr lang="en-US" sz="1400" dirty="0">
                <a:solidFill>
                  <a:srgbClr val="4A5260"/>
                </a:solidFill>
              </a:rPr>
              <a:t>Reasons on every alert (SHAP), a visible trust-in-physics gate, organ-level physiology, AGP report</a:t>
            </a:r>
            <a:endParaRPr lang="en-US" sz="1600" dirty="0"/>
          </a:p>
        </p:txBody>
      </p:sp>
      <p:sp>
        <p:nvSpPr>
          <p:cNvPr id="12" name="Shape 10"/>
          <p:cNvSpPr/>
          <p:nvPr/>
        </p:nvSpPr>
        <p:spPr>
          <a:xfrm>
            <a:off x="502920" y="4343400"/>
            <a:ext cx="457200" cy="457200"/>
          </a:xfrm>
          <a:prstGeom prst="ellipse">
            <a:avLst/>
          </a:prstGeom>
          <a:solidFill>
            <a:srgbClr val="14284B"/>
          </a:solidFill>
          <a:ln w="12700">
            <a:solidFill>
              <a:srgbClr val="14284B"/>
            </a:solidFill>
            <a:prstDash val="solid"/>
          </a:ln>
        </p:spPr>
      </p:sp>
      <p:sp>
        <p:nvSpPr>
          <p:cNvPr id="13" name="Text 11"/>
          <p:cNvSpPr txBox="1"/>
          <p:nvPr/>
        </p:nvSpPr>
        <p:spPr>
          <a:xfrm>
            <a:off x="50292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25196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Honest evaluation</a:t>
            </a:r>
            <a:endParaRPr lang="en-US" sz="1600" dirty="0"/>
          </a:p>
          <a:p>
            <a:pPr indent="0" marL="0">
              <a:buNone/>
            </a:pPr>
            <a:r>
              <a:rPr lang="en-US" sz="1400" dirty="0">
                <a:solidFill>
                  <a:srgbClr val="4A5260"/>
                </a:solidFill>
              </a:rPr>
              <a:t>Patient-level splits, external validation, bootstrap CIs, model card with limitations</a:t>
            </a:r>
            <a:endParaRPr lang="en-US" sz="1600" dirty="0"/>
          </a:p>
        </p:txBody>
      </p:sp>
      <p:sp>
        <p:nvSpPr>
          <p:cNvPr id="15" name="Shape 13"/>
          <p:cNvSpPr/>
          <p:nvPr/>
        </p:nvSpPr>
        <p:spPr>
          <a:xfrm>
            <a:off x="502920" y="5303520"/>
            <a:ext cx="457200" cy="457200"/>
          </a:xfrm>
          <a:prstGeom prst="ellipse">
            <a:avLst/>
          </a:prstGeom>
          <a:solidFill>
            <a:srgbClr val="14284B"/>
          </a:solidFill>
          <a:ln w="12700">
            <a:solidFill>
              <a:srgbClr val="14284B"/>
            </a:solidFill>
            <a:prstDash val="solid"/>
          </a:ln>
        </p:spPr>
      </p:sp>
      <p:sp>
        <p:nvSpPr>
          <p:cNvPr id="16" name="Text 14"/>
          <p:cNvSpPr txBox="1"/>
          <p:nvPr/>
        </p:nvSpPr>
        <p:spPr>
          <a:xfrm>
            <a:off x="502920" y="5303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21208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Regulatory path</a:t>
            </a:r>
            <a:endParaRPr lang="en-US" sz="1600" dirty="0"/>
          </a:p>
          <a:p>
            <a:pPr indent="0" marL="0">
              <a:buNone/>
            </a:pPr>
            <a:r>
              <a:rPr lang="en-US" sz="1400" dirty="0">
                <a:solidFill>
                  <a:srgbClr val="4A5260"/>
                </a:solidFill>
              </a:rPr>
              <a:t>Decision support, not autonomous treatment: CDSCO Software as a Medical Device route with prospective validation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From proof of concept to Indian clinics</a:t>
            </a:r>
            <a:endParaRPr lang="en-US" sz="3000" dirty="0"/>
          </a:p>
        </p:txBody>
      </p:sp>
      <p:sp>
        <p:nvSpPr>
          <p:cNvPr id="3" name="Shape 1"/>
          <p:cNvSpPr/>
          <p:nvPr/>
        </p:nvSpPr>
        <p:spPr>
          <a:xfrm>
            <a:off x="502920" y="1600200"/>
            <a:ext cx="365760" cy="365760"/>
          </a:xfrm>
          <a:prstGeom prst="ellipse">
            <a:avLst/>
          </a:prstGeom>
          <a:solidFill>
            <a:srgbClr val="E8A317"/>
          </a:solidFill>
          <a:ln w="12700">
            <a:solidFill>
              <a:srgbClr val="E8A317"/>
            </a:solidFill>
            <a:prstDash val="solid"/>
          </a:ln>
        </p:spPr>
      </p:sp>
      <p:sp>
        <p:nvSpPr>
          <p:cNvPr id="4" name="Shape 2"/>
          <p:cNvSpPr/>
          <p:nvPr/>
        </p:nvSpPr>
        <p:spPr>
          <a:xfrm>
            <a:off x="914400" y="1783080"/>
            <a:ext cx="2331720" cy="0"/>
          </a:xfrm>
          <a:prstGeom prst="line">
            <a:avLst/>
          </a:prstGeom>
          <a:noFill/>
          <a:ln w="25400">
            <a:solidFill>
              <a:srgbClr val="C9D1DE"/>
            </a:solidFill>
            <a:prstDash val="solid"/>
          </a:ln>
        </p:spPr>
      </p:sp>
      <p:sp>
        <p:nvSpPr>
          <p:cNvPr id="5" name="Text 3"/>
          <p:cNvSpPr txBox="1"/>
          <p:nvPr/>
        </p:nvSpPr>
        <p:spPr>
          <a:xfrm>
            <a:off x="45720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Now</a:t>
            </a:r>
            <a:endParaRPr lang="en-US" sz="1400" dirty="0"/>
          </a:p>
          <a:p>
            <a:pPr indent="0" marL="0">
              <a:spcAft>
                <a:spcPts val="400"/>
              </a:spcAft>
              <a:buNone/>
            </a:pPr>
            <a:r>
              <a:rPr lang="en-US" sz="1800" b="1" dirty="0">
                <a:solidFill>
                  <a:srgbClr val="14284B"/>
                </a:solidFill>
              </a:rPr>
              <a:t>Proof of concept</a:t>
            </a:r>
            <a:endParaRPr lang="en-US" sz="1400" dirty="0"/>
          </a:p>
          <a:p>
            <a:pPr indent="0" marL="0">
              <a:spcAft>
                <a:spcPts val="400"/>
              </a:spcAft>
              <a:buNone/>
            </a:pPr>
            <a:r>
              <a:rPr lang="en-US" sz="1300" dirty="0">
                <a:solidFill>
                  <a:srgbClr val="4A5260"/>
                </a:solidFill>
              </a:rPr>
              <a:t>Twin, TwinNet, dashboard, FHIR; validated on synthetic, US and Chinese data</a:t>
            </a:r>
            <a:endParaRPr lang="en-US" sz="1400" dirty="0"/>
          </a:p>
        </p:txBody>
      </p:sp>
      <p:sp>
        <p:nvSpPr>
          <p:cNvPr id="6" name="Shape 4"/>
          <p:cNvSpPr/>
          <p:nvPr/>
        </p:nvSpPr>
        <p:spPr>
          <a:xfrm>
            <a:off x="3337560" y="1600200"/>
            <a:ext cx="365760" cy="365760"/>
          </a:xfrm>
          <a:prstGeom prst="ellipse">
            <a:avLst/>
          </a:prstGeom>
          <a:solidFill>
            <a:srgbClr val="14284B"/>
          </a:solidFill>
          <a:ln w="12700">
            <a:solidFill>
              <a:srgbClr val="14284B"/>
            </a:solidFill>
            <a:prstDash val="solid"/>
          </a:ln>
        </p:spPr>
      </p:sp>
      <p:sp>
        <p:nvSpPr>
          <p:cNvPr id="7" name="Shape 5"/>
          <p:cNvSpPr/>
          <p:nvPr/>
        </p:nvSpPr>
        <p:spPr>
          <a:xfrm>
            <a:off x="3749040" y="1783080"/>
            <a:ext cx="2331720" cy="0"/>
          </a:xfrm>
          <a:prstGeom prst="line">
            <a:avLst/>
          </a:prstGeom>
          <a:noFill/>
          <a:ln w="25400">
            <a:solidFill>
              <a:srgbClr val="C9D1DE"/>
            </a:solidFill>
            <a:prstDash val="solid"/>
          </a:ln>
        </p:spPr>
      </p:sp>
      <p:sp>
        <p:nvSpPr>
          <p:cNvPr id="8" name="Text 6"/>
          <p:cNvSpPr txBox="1"/>
          <p:nvPr/>
        </p:nvSpPr>
        <p:spPr>
          <a:xfrm>
            <a:off x="329184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3 months</a:t>
            </a:r>
            <a:endParaRPr lang="en-US" sz="1400" dirty="0"/>
          </a:p>
          <a:p>
            <a:pPr indent="0" marL="0">
              <a:spcAft>
                <a:spcPts val="400"/>
              </a:spcAft>
              <a:buNone/>
            </a:pPr>
            <a:r>
              <a:rPr lang="en-US" sz="1800" b="1" dirty="0">
                <a:solidFill>
                  <a:srgbClr val="14284B"/>
                </a:solidFill>
              </a:rPr>
              <a:t>Co-design</a:t>
            </a:r>
            <a:endParaRPr lang="en-US" sz="1400" dirty="0"/>
          </a:p>
          <a:p>
            <a:pPr indent="0" marL="0">
              <a:spcAft>
                <a:spcPts val="400"/>
              </a:spcAft>
              <a:buNone/>
            </a:pPr>
            <a:r>
              <a:rPr lang="en-US" sz="1300" dirty="0">
                <a:solidFill>
                  <a:srgbClr val="4A5260"/>
                </a:solidFill>
              </a:rPr>
              <a:t>Diabetologist review of alerts and thresholds; native-speaker review of patient text</a:t>
            </a:r>
            <a:endParaRPr lang="en-US" sz="1400" dirty="0"/>
          </a:p>
        </p:txBody>
      </p:sp>
      <p:sp>
        <p:nvSpPr>
          <p:cNvPr id="9" name="Shape 7"/>
          <p:cNvSpPr/>
          <p:nvPr/>
        </p:nvSpPr>
        <p:spPr>
          <a:xfrm>
            <a:off x="6172200" y="1600200"/>
            <a:ext cx="365760" cy="365760"/>
          </a:xfrm>
          <a:prstGeom prst="ellipse">
            <a:avLst/>
          </a:prstGeom>
          <a:solidFill>
            <a:srgbClr val="14284B"/>
          </a:solidFill>
          <a:ln w="12700">
            <a:solidFill>
              <a:srgbClr val="14284B"/>
            </a:solidFill>
            <a:prstDash val="solid"/>
          </a:ln>
        </p:spPr>
      </p:sp>
      <p:sp>
        <p:nvSpPr>
          <p:cNvPr id="10" name="Shape 8"/>
          <p:cNvSpPr/>
          <p:nvPr/>
        </p:nvSpPr>
        <p:spPr>
          <a:xfrm>
            <a:off x="6583680" y="1783080"/>
            <a:ext cx="2331720" cy="0"/>
          </a:xfrm>
          <a:prstGeom prst="line">
            <a:avLst/>
          </a:prstGeom>
          <a:noFill/>
          <a:ln w="25400">
            <a:solidFill>
              <a:srgbClr val="C9D1DE"/>
            </a:solidFill>
            <a:prstDash val="solid"/>
          </a:ln>
        </p:spPr>
      </p:sp>
      <p:sp>
        <p:nvSpPr>
          <p:cNvPr id="11" name="Text 9"/>
          <p:cNvSpPr txBox="1"/>
          <p:nvPr/>
        </p:nvSpPr>
        <p:spPr>
          <a:xfrm>
            <a:off x="612648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6 months</a:t>
            </a:r>
            <a:endParaRPr lang="en-US" sz="1400" dirty="0"/>
          </a:p>
          <a:p>
            <a:pPr indent="0" marL="0">
              <a:spcAft>
                <a:spcPts val="400"/>
              </a:spcAft>
              <a:buNone/>
            </a:pPr>
            <a:r>
              <a:rPr lang="en-US" sz="1800" b="1" dirty="0">
                <a:solidFill>
                  <a:srgbClr val="14284B"/>
                </a:solidFill>
              </a:rPr>
              <a:t>Pilot</a:t>
            </a:r>
            <a:endParaRPr lang="en-US" sz="1400" dirty="0"/>
          </a:p>
          <a:p>
            <a:pPr indent="0" marL="0">
              <a:spcAft>
                <a:spcPts val="400"/>
              </a:spcAft>
              <a:buNone/>
            </a:pPr>
            <a:r>
              <a:rPr lang="en-US" sz="1300" dirty="0">
                <a:solidFill>
                  <a:srgbClr val="4A5260"/>
                </a:solidFill>
              </a:rPr>
              <a:t>50–100 people with T2D in Bengaluru clinics: CGM + smartwatch + ABDM-linked EHR</a:t>
            </a:r>
            <a:endParaRPr lang="en-US" sz="1400" dirty="0"/>
          </a:p>
        </p:txBody>
      </p:sp>
      <p:sp>
        <p:nvSpPr>
          <p:cNvPr id="12" name="Shape 10"/>
          <p:cNvSpPr/>
          <p:nvPr/>
        </p:nvSpPr>
        <p:spPr>
          <a:xfrm>
            <a:off x="9006840" y="1600200"/>
            <a:ext cx="365760" cy="365760"/>
          </a:xfrm>
          <a:prstGeom prst="ellipse">
            <a:avLst/>
          </a:prstGeom>
          <a:solidFill>
            <a:srgbClr val="14284B"/>
          </a:solidFill>
          <a:ln w="12700">
            <a:solidFill>
              <a:srgbClr val="14284B"/>
            </a:solidFill>
            <a:prstDash val="solid"/>
          </a:ln>
        </p:spPr>
      </p:sp>
      <p:sp>
        <p:nvSpPr>
          <p:cNvPr id="13" name="Text 11"/>
          <p:cNvSpPr txBox="1"/>
          <p:nvPr/>
        </p:nvSpPr>
        <p:spPr>
          <a:xfrm>
            <a:off x="896112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12 months</a:t>
            </a:r>
            <a:endParaRPr lang="en-US" sz="1400" dirty="0"/>
          </a:p>
          <a:p>
            <a:pPr indent="0" marL="0">
              <a:spcAft>
                <a:spcPts val="400"/>
              </a:spcAft>
              <a:buNone/>
            </a:pPr>
            <a:r>
              <a:rPr lang="en-US" sz="1800" b="1" dirty="0">
                <a:solidFill>
                  <a:srgbClr val="14284B"/>
                </a:solidFill>
              </a:rPr>
              <a:t>Validation</a:t>
            </a:r>
            <a:endParaRPr lang="en-US" sz="1400" dirty="0"/>
          </a:p>
          <a:p>
            <a:pPr indent="0" marL="0">
              <a:spcAft>
                <a:spcPts val="400"/>
              </a:spcAft>
              <a:buNone/>
            </a:pPr>
            <a:r>
              <a:rPr lang="en-US" sz="1300" dirty="0">
                <a:solidFill>
                  <a:srgbClr val="4A5260"/>
                </a:solidFill>
              </a:rPr>
              <a:t>Prospective accuracy and outcome study; CDSCO SaMD submission</a:t>
            </a:r>
            <a:endParaRPr lang="en-US" sz="1400" dirty="0"/>
          </a:p>
        </p:txBody>
      </p:sp>
      <p:sp>
        <p:nvSpPr>
          <p:cNvPr id="14" name="Shape 12"/>
          <p:cNvSpPr/>
          <p:nvPr/>
        </p:nvSpPr>
        <p:spPr>
          <a:xfrm>
            <a:off x="457200" y="4572000"/>
            <a:ext cx="11247120" cy="1371600"/>
          </a:xfrm>
          <a:prstGeom prst="roundRect">
            <a:avLst>
              <a:gd name="adj" fmla="val 5333"/>
            </a:avLst>
          </a:prstGeom>
          <a:solidFill>
            <a:srgbClr val="F2F5FA"/>
          </a:solidFill>
          <a:ln w="12700">
            <a:solidFill>
              <a:srgbClr val="F2F5FA"/>
            </a:solidFill>
            <a:prstDash val="solid"/>
          </a:ln>
        </p:spPr>
      </p:sp>
      <p:sp>
        <p:nvSpPr>
          <p:cNvPr id="15" name="Text 13"/>
          <p:cNvSpPr txBox="1"/>
          <p:nvPr/>
        </p:nvSpPr>
        <p:spPr>
          <a:xfrm>
            <a:off x="621792" y="4681728"/>
            <a:ext cx="10917936" cy="11521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Impact we are aiming for</a:t>
            </a:r>
            <a:endParaRPr lang="en-US" sz="1500" dirty="0"/>
          </a:p>
          <a:p>
            <a:pPr indent="0" marL="0">
              <a:spcAft>
                <a:spcPts val="400"/>
              </a:spcAft>
              <a:buNone/>
            </a:pPr>
            <a:r>
              <a:rPr lang="en-US" sz="1300" dirty="0">
                <a:solidFill>
                  <a:srgbClr val="4A5260"/>
                </a:solidFill>
              </a:rPr>
              <a:t>Fewer nocturnal hypoglycaemia episodes in people on sulfonylureas and premixed insulin, more time in range through personalised meal and activity advice, and a care team that sees risk before it becomes an emergency.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82880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834640"/>
            <a:ext cx="10058400" cy="548640"/>
          </a:xfrm>
          <a:prstGeom prst="rect">
            <a:avLst/>
          </a:prstGeom>
          <a:noFill/>
          <a:ln/>
        </p:spPr>
        <p:txBody>
          <a:bodyPr wrap="square" lIns="0" tIns="0" rIns="0" bIns="0" rtlCol="0" anchor="ctr"/>
          <a:lstStyle/>
          <a:p>
            <a:pPr indent="0" marL="0">
              <a:buNone/>
            </a:pPr>
            <a:r>
              <a:rPr lang="en-US" sz="2000" dirty="0">
                <a:solidFill>
                  <a:srgbClr val="DCE4F2"/>
                </a:solidFill>
              </a:rPr>
              <a:t>MadhuTwin: model · sync · simulate, for every person living with diabetes</a:t>
            </a:r>
            <a:endParaRPr lang="en-US" sz="2000" dirty="0"/>
          </a:p>
        </p:txBody>
      </p:sp>
      <p:sp>
        <p:nvSpPr>
          <p:cNvPr id="4" name="Text 2"/>
          <p:cNvSpPr txBox="1"/>
          <p:nvPr/>
        </p:nvSpPr>
        <p:spPr>
          <a:xfrm>
            <a:off x="731520" y="4023360"/>
            <a:ext cx="10058400" cy="457200"/>
          </a:xfrm>
          <a:prstGeom prst="rect">
            <a:avLst/>
          </a:prstGeom>
          <a:noFill/>
          <a:ln/>
        </p:spPr>
        <p:txBody>
          <a:bodyPr wrap="square" lIns="0" tIns="0" rIns="0" bIns="0" rtlCol="0" anchor="ctr"/>
          <a:lstStyle/>
          <a:p>
            <a:pPr indent="0" marL="0">
              <a:buNone/>
            </a:pPr>
            <a:r>
              <a:rPr lang="en-US" sz="1600" dirty="0">
                <a:solidFill>
                  <a:srgbClr val="FFFFFF"/>
                </a:solidFill>
              </a:rPr>
              <a:t>Code, data pipeline, evaluation and dashboard: GitHub repository TODO(team) · Apache-2.0</a:t>
            </a:r>
            <a:endParaRPr lang="en-US" sz="1600" dirty="0"/>
          </a:p>
        </p:txBody>
      </p:sp>
      <p:sp>
        <p:nvSpPr>
          <p:cNvPr id="5" name="Text 3"/>
          <p:cNvSpPr txBox="1"/>
          <p:nvPr/>
        </p:nvSpPr>
        <p:spPr>
          <a:xfrm>
            <a:off x="731520" y="4572000"/>
            <a:ext cx="10058400" cy="457200"/>
          </a:xfrm>
          <a:prstGeom prst="rect">
            <a:avLst/>
          </a:prstGeom>
          <a:noFill/>
          <a:ln/>
        </p:spPr>
        <p:txBody>
          <a:bodyPr wrap="square" lIns="0" tIns="0" rIns="0" bIns="0" rtlCol="0" anchor="ctr"/>
          <a:lstStyle/>
          <a:p>
            <a:pPr indent="0" marL="0">
              <a:buNone/>
            </a:pPr>
            <a:r>
              <a:rPr lang="en-US" sz="1600" dirty="0">
                <a:solidFill>
                  <a:srgbClr val="AEBBD3"/>
                </a:solidFill>
              </a:rPr>
              <a:t>Team: TODO(team)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MadhuTwin: a hybrid digital twin for Type 2 Diabetes</dc:title>
  <dc:subject>Happiest Health Digital Twin Challenge 2026</dc:subject>
  <dc:creator>MadhuTwin team</dc:creator>
  <cp:lastModifiedBy>MadhuTwin team</cp:lastModifiedBy>
  <cp:revision>1</cp:revision>
  <dcterms:created xsi:type="dcterms:W3CDTF">2026-10-08T11:31:31Z</dcterms:created>
  <dcterms:modified xsi:type="dcterms:W3CDTF">2026-10-08T11:31:31Z</dcterms:modified>
</cp:coreProperties>
</file>