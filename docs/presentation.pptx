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55e1ada-d983-ada2-44ed-7d7f702f650d}">
          <p14:sldIdLst>
            <p14:sldId id="256"/>
            <p14:sldId id="257"/>
          </p14:sldIdLst>
        </p14:section>
        <p14:section name="The digital twin" id="{0c95f5ae-2999-fa51-f002-80774f02a08e}">
          <p14:sldIdLst>
            <p14:sldId id="258"/>
            <p14:sldId id="259"/>
          </p14:sldIdLst>
        </p14:section>
        <p14:section name="Data" id="{bac91c13-582a-8f15-f670-f58b8b5f1997}">
          <p14:sldIdLst>
            <p14:sldId id="260"/>
            <p14:sldId id="261"/>
          </p14:sldIdLst>
        </p14:section>
        <p14:section name="Model · Sync · Simulate" id="{fa94ca61-444b-39ff-964a-adf814f5aa6b}">
          <p14:sldIdLst>
            <p14:sldId id="262"/>
            <p14:sldId id="263"/>
            <p14:sldId id="264"/>
          </p14:sldIdLst>
        </p14:section>
        <p14:section name="Results" id="{5aa92c95-1b5d-7dee-3ed2-dbf0e617d790}">
          <p14:sldIdLst>
            <p14:sldId id="265"/>
            <p14:sldId id="266"/>
            <p14:sldId id="267"/>
            <p14:sldId id="268"/>
            <p14:sldId id="269"/>
          </p14:sldIdLst>
        </p14:section>
        <p14:section name="Dashboard" id="{c7cb8ddf-d32e-d736-68ea-ff2424bea7f7}">
          <p14:sldIdLst>
            <p14:sldId id="270"/>
            <p14:sldId id="271"/>
            <p14:sldId id="272"/>
          </p14:sldIdLst>
        </p14:section>
        <p14:section name="Responsible by design" id="{d5cb6d32-eae6-9d41-841e-07702ee4cdec}">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MadhuTwin, from Madhumeha, the classical Indian name for diabetes, is a living virtual replica of each patient: it models their physiology, stays synchronised with their CGM, and simulates the next hours to warn the care team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India's diabetes burden is enormous, care is visit-based and reactive. The dangerous moments, post-meal spikes, nocturnal lows, illness, happen between visits. Wearables now capture them, but clinicians need the signal, not the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this is a digital twin and not just a classifier: model, sync, simulate. TwinNet adds machine learning on top of the twin, and learns how much to trust the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EHR and wearable streams are ingested into one schema; the twin core models, syncs and simulates; TwinNet produces forecasts and alerts; the clinician sees them in the dashboard and any EHR can receive them as FHIR. Governance spans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EHR stream follows India's ABDM stack and exports as FHIR R4. Wearable streams come from CGM, smartwatch and logs. We use three sources: a synthetic India-calibrated cohort for scale, CGMacros as real-world validation, and ShanghaiT2DM as an external population with no wearables.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choice: the synthetic EHR and wearables are not two independent random tables. Both are generated from one simulated body, so a fusion model can learn genuine cross-stream relationships. Statistics match real CGM data by glycaemic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twin's five personal parameters are fitted from a week of CGM, meals and activity, with priors from the EHR. On 45 real people, the fitted parameters line up with laboratory measures: evidence the twin is physiologically meaningful, not a curve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Synchronisation is what keeps a twin alive. Besides glucose and insulin, the filter estimates how insulin sensitivity is drifting. On held-out synthetic patients it separates ill days from well days without any symptom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TwinNet: the dynamic stream goes through a causal temporal convolution, the EHR conditions it through FiLM, and the twin's forecast enters through a gate. The gate is interpretable: the network leans on physics more at longer horizons, where data-driven extrapolation is weakest.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grows with horizon for every method, but the hybrid stays well below simply assuming glucose stays flat. Clarke Error Grid zones A and B are clinically acceptable. Conformal calibration keeps the 80% band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 metrics are at a threshold chosen on validation data, with hysteresis so a flickering probability doesn't page anyone repeatedly. The lead time is measured from the first alert to the start of the sustained excursion.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ask of the challenge: does fusing the static and dynamic streams help? The same model was retrained on each combination of streams; the full hybrid wins on both forecast error and event discrimination.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evidence: pretraining on the synthetic Indian cohort and fine-tuning on a few real patients (sim-to-real) is the regime we recommend for deployment. Shanghai shows the model still works when a whole modality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CGM sensors are expensive for many Indian families. A short CGM period teaches the twin the person's physiology; afterwards the twin uses cheap fingersticks and smartwatch data to keep an estimate of continuous glucose and time in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patient on the panel is a live twin. Current lows first, then predicted lows, patients already high, and predicted new spikes. Status always uses an icon and a label, never colour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glucose chart shows 24 hours of CGM, the 2-hour forecast cone and the physics twin's projection, with meals, medication and sleep lanes below. The risk card explains the alert. The virtual-patient panel turns fitted parameters into organ-level physiology a clinician recognises.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doctor tests a meal swap or a walk on this patient's twin and sees the predicted peak change. Personal meal ranking shows which Indian meals suit this body. The patient companion delivers simple nudges in Hindi, Kannada or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data is the most sensitive personal data. The design follows the DPDP Act and ABDM, every answer is explainable, and the evaluation states its limits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path forward: clinical co-design, a pilot in Bengaluru, then prospective validation. The goal is measurable: fewer lows, more time in range, earlier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jury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284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7A8291"/>
                </a:solidFill>
                <a:latin typeface="Calibri" pitchFamily="34" charset="0"/>
                <a:ea typeface="Calibri" pitchFamily="34" charset="-122"/>
                <a:cs typeface="Calibri" pitchFamily="34" charset="-120"/>
              </a:rPr>
              <a:t>MadhuTwin · Happiest Health Digital Twin Challenge 2026</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100584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MadhuTwin</a:t>
            </a:r>
            <a:endParaRPr lang="en-US" sz="6000" dirty="0"/>
          </a:p>
        </p:txBody>
      </p:sp>
      <p:sp>
        <p:nvSpPr>
          <p:cNvPr id="3" name="Text 1"/>
          <p:cNvSpPr txBox="1"/>
          <p:nvPr/>
        </p:nvSpPr>
        <p:spPr>
          <a:xfrm>
            <a:off x="731520" y="2651760"/>
            <a:ext cx="9601200" cy="914400"/>
          </a:xfrm>
          <a:prstGeom prst="rect">
            <a:avLst/>
          </a:prstGeom>
          <a:noFill/>
          <a:ln/>
        </p:spPr>
        <p:txBody>
          <a:bodyPr wrap="square" lIns="0" tIns="0" rIns="0" bIns="0" rtlCol="0" anchor="ctr"/>
          <a:lstStyle/>
          <a:p>
            <a:pPr indent="0" marL="0">
              <a:buNone/>
            </a:pPr>
            <a:r>
              <a:rPr lang="en-US" sz="2200" dirty="0">
                <a:solidFill>
                  <a:srgbClr val="DCE4F2"/>
                </a:solidFill>
              </a:rPr>
              <a:t>A hybrid digital twin for Type 2 Diabetes that fuses EHR and wearable data to warn doctors up to 2 hours before glucose spikes and lows</a:t>
            </a:r>
            <a:endParaRPr lang="en-US" sz="2200" dirty="0"/>
          </a:p>
        </p:txBody>
      </p:sp>
      <p:sp>
        <p:nvSpPr>
          <p:cNvPr id="4" name="Shape 2"/>
          <p:cNvSpPr/>
          <p:nvPr/>
        </p:nvSpPr>
        <p:spPr>
          <a:xfrm>
            <a:off x="731520" y="3931920"/>
            <a:ext cx="1463040" cy="502920"/>
          </a:xfrm>
          <a:prstGeom prst="roundRect">
            <a:avLst>
              <a:gd name="adj" fmla="val 18182"/>
            </a:avLst>
          </a:prstGeom>
          <a:solidFill>
            <a:srgbClr val="E8A317"/>
          </a:solidFill>
          <a:ln w="12700">
            <a:solidFill>
              <a:srgbClr val="E8A317"/>
            </a:solidFill>
            <a:prstDash val="solid"/>
          </a:ln>
        </p:spPr>
      </p:sp>
      <p:sp>
        <p:nvSpPr>
          <p:cNvPr id="5" name="Text 3"/>
          <p:cNvSpPr txBox="1"/>
          <p:nvPr/>
        </p:nvSpPr>
        <p:spPr>
          <a:xfrm>
            <a:off x="731520" y="3931920"/>
            <a:ext cx="1463040" cy="502920"/>
          </a:xfrm>
          <a:prstGeom prst="rect">
            <a:avLst/>
          </a:prstGeom>
          <a:noFill/>
          <a:ln/>
        </p:spPr>
        <p:txBody>
          <a:bodyPr wrap="square" lIns="0" tIns="0" rIns="0" bIns="0" rtlCol="0" anchor="ctr"/>
          <a:lstStyle/>
          <a:p>
            <a:pPr algn="ctr" indent="0" marL="0">
              <a:buNone/>
            </a:pPr>
            <a:r>
              <a:rPr lang="en-US" sz="1400" b="1" dirty="0">
                <a:solidFill>
                  <a:srgbClr val="14284B"/>
                </a:solidFill>
              </a:rPr>
              <a:t>MODEL</a:t>
            </a:r>
            <a:endParaRPr lang="en-US" sz="1400" dirty="0"/>
          </a:p>
        </p:txBody>
      </p:sp>
      <p:sp>
        <p:nvSpPr>
          <p:cNvPr id="6" name="Shape 4"/>
          <p:cNvSpPr/>
          <p:nvPr/>
        </p:nvSpPr>
        <p:spPr>
          <a:xfrm>
            <a:off x="2331720" y="3931920"/>
            <a:ext cx="1463040" cy="502920"/>
          </a:xfrm>
          <a:prstGeom prst="roundRect">
            <a:avLst>
              <a:gd name="adj" fmla="val 18182"/>
            </a:avLst>
          </a:prstGeom>
          <a:solidFill>
            <a:srgbClr val="2A3F66"/>
          </a:solidFill>
          <a:ln w="12700">
            <a:solidFill>
              <a:srgbClr val="2A3F66"/>
            </a:solidFill>
            <a:prstDash val="solid"/>
          </a:ln>
        </p:spPr>
      </p:sp>
      <p:sp>
        <p:nvSpPr>
          <p:cNvPr id="7" name="Text 5"/>
          <p:cNvSpPr txBox="1"/>
          <p:nvPr/>
        </p:nvSpPr>
        <p:spPr>
          <a:xfrm>
            <a:off x="2331720" y="3931920"/>
            <a:ext cx="1463040" cy="502920"/>
          </a:xfrm>
          <a:prstGeom prst="rect">
            <a:avLst/>
          </a:prstGeom>
          <a:noFill/>
          <a:ln/>
        </p:spPr>
        <p:txBody>
          <a:bodyPr wrap="square" lIns="0" tIns="0" rIns="0" bIns="0" rtlCol="0" anchor="ctr"/>
          <a:lstStyle/>
          <a:p>
            <a:pPr algn="ctr" indent="0" marL="0">
              <a:buNone/>
            </a:pPr>
            <a:r>
              <a:rPr lang="en-US" sz="1400" b="1" dirty="0">
                <a:solidFill>
                  <a:srgbClr val="FFFFFF"/>
                </a:solidFill>
              </a:rPr>
              <a:t>SYNC</a:t>
            </a:r>
            <a:endParaRPr lang="en-US" sz="1400" dirty="0"/>
          </a:p>
        </p:txBody>
      </p:sp>
      <p:sp>
        <p:nvSpPr>
          <p:cNvPr id="8" name="Shape 6"/>
          <p:cNvSpPr/>
          <p:nvPr/>
        </p:nvSpPr>
        <p:spPr>
          <a:xfrm>
            <a:off x="3931920" y="3931920"/>
            <a:ext cx="1463040" cy="502920"/>
          </a:xfrm>
          <a:prstGeom prst="roundRect">
            <a:avLst>
              <a:gd name="adj" fmla="val 18182"/>
            </a:avLst>
          </a:prstGeom>
          <a:solidFill>
            <a:srgbClr val="2A3F66"/>
          </a:solidFill>
          <a:ln w="12700">
            <a:solidFill>
              <a:srgbClr val="2A3F66"/>
            </a:solidFill>
            <a:prstDash val="solid"/>
          </a:ln>
        </p:spPr>
      </p:sp>
      <p:sp>
        <p:nvSpPr>
          <p:cNvPr id="9" name="Text 7"/>
          <p:cNvSpPr txBox="1"/>
          <p:nvPr/>
        </p:nvSpPr>
        <p:spPr>
          <a:xfrm>
            <a:off x="3931920" y="3931920"/>
            <a:ext cx="1463040" cy="502920"/>
          </a:xfrm>
          <a:prstGeom prst="rect">
            <a:avLst/>
          </a:prstGeom>
          <a:noFill/>
          <a:ln/>
        </p:spPr>
        <p:txBody>
          <a:bodyPr wrap="square" lIns="0" tIns="0" rIns="0" bIns="0" rtlCol="0" anchor="ctr"/>
          <a:lstStyle/>
          <a:p>
            <a:pPr algn="ctr" indent="0" marL="0">
              <a:buNone/>
            </a:pPr>
            <a:r>
              <a:rPr lang="en-US" sz="1400" b="1" dirty="0">
                <a:solidFill>
                  <a:srgbClr val="FFFFFF"/>
                </a:solidFill>
              </a:rPr>
              <a:t>SIMULATE</a:t>
            </a:r>
            <a:endParaRPr lang="en-US" sz="1400" dirty="0"/>
          </a:p>
        </p:txBody>
      </p:sp>
      <p:sp>
        <p:nvSpPr>
          <p:cNvPr id="10" name="Text 8"/>
          <p:cNvSpPr txBox="1"/>
          <p:nvPr/>
        </p:nvSpPr>
        <p:spPr>
          <a:xfrm>
            <a:off x="731520" y="5120640"/>
            <a:ext cx="10058400" cy="365760"/>
          </a:xfrm>
          <a:prstGeom prst="rect">
            <a:avLst/>
          </a:prstGeom>
          <a:noFill/>
          <a:ln/>
        </p:spPr>
        <p:txBody>
          <a:bodyPr wrap="square" lIns="0" tIns="0" rIns="0" bIns="0" rtlCol="0" anchor="ctr"/>
          <a:lstStyle/>
          <a:p>
            <a:pPr indent="0" marL="0">
              <a:buNone/>
            </a:pPr>
            <a:r>
              <a:rPr lang="en-US" sz="1600" dirty="0">
                <a:solidFill>
                  <a:srgbClr val="FFFFFF"/>
                </a:solidFill>
              </a:rPr>
              <a:t>Team: TODO(team) · College / incubator: TODO(team)</a:t>
            </a:r>
            <a:endParaRPr lang="en-US" sz="1600" dirty="0"/>
          </a:p>
        </p:txBody>
      </p:sp>
      <p:sp>
        <p:nvSpPr>
          <p:cNvPr id="11" name="Text 9"/>
          <p:cNvSpPr txBox="1"/>
          <p:nvPr/>
        </p:nvSpPr>
        <p:spPr>
          <a:xfrm>
            <a:off x="731520" y="5532120"/>
            <a:ext cx="10058400" cy="365760"/>
          </a:xfrm>
          <a:prstGeom prst="rect">
            <a:avLst/>
          </a:prstGeom>
          <a:noFill/>
          <a:ln/>
        </p:spPr>
        <p:txBody>
          <a:bodyPr wrap="square" lIns="0" tIns="0" rIns="0" bIns="0" rtlCol="0" anchor="ctr"/>
          <a:lstStyle/>
          <a:p>
            <a:pPr indent="0" marL="0">
              <a:buNone/>
            </a:pPr>
            <a:r>
              <a:rPr lang="en-US" sz="1400" dirty="0">
                <a:solidFill>
                  <a:srgbClr val="AEBBD3"/>
                </a:solidFill>
              </a:rPr>
              <a:t>Happiest Health Digital Twin Challenge 2026 · Phase 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Diabetes care in India is reactive</a:t>
            </a:r>
            <a:endParaRPr lang="en-US" sz="3000" dirty="0"/>
          </a:p>
        </p:txBody>
      </p:sp>
      <p:sp>
        <p:nvSpPr>
          <p:cNvPr id="3" name="Text 1"/>
          <p:cNvSpPr txBox="1"/>
          <p:nvPr/>
        </p:nvSpPr>
        <p:spPr>
          <a:xfrm>
            <a:off x="457200" y="1554480"/>
            <a:ext cx="3291840" cy="685800"/>
          </a:xfrm>
          <a:prstGeom prst="rect">
            <a:avLst/>
          </a:prstGeom>
          <a:noFill/>
          <a:ln/>
        </p:spPr>
        <p:txBody>
          <a:bodyPr wrap="square" lIns="0" tIns="0" rIns="0" bIns="0" rtlCol="0" anchor="b"/>
          <a:lstStyle/>
          <a:p>
            <a:pPr indent="0" marL="0">
              <a:buNone/>
            </a:pPr>
            <a:r>
              <a:rPr lang="en-US" sz="4000" b="1" dirty="0">
                <a:solidFill>
                  <a:srgbClr val="14284B"/>
                </a:solidFill>
                <a:latin typeface="Calibri" pitchFamily="34" charset="0"/>
                <a:ea typeface="Calibri" pitchFamily="34" charset="-122"/>
                <a:cs typeface="Calibri" pitchFamily="34" charset="-120"/>
              </a:rPr>
              <a:t>101 million</a:t>
            </a:r>
            <a:endParaRPr lang="en-US" sz="4000" dirty="0"/>
          </a:p>
        </p:txBody>
      </p:sp>
      <p:sp>
        <p:nvSpPr>
          <p:cNvPr id="4" name="Text 2"/>
          <p:cNvSpPr txBox="1"/>
          <p:nvPr/>
        </p:nvSpPr>
        <p:spPr>
          <a:xfrm>
            <a:off x="457200" y="2267712"/>
            <a:ext cx="3291840" cy="548640"/>
          </a:xfrm>
          <a:prstGeom prst="rect">
            <a:avLst/>
          </a:prstGeom>
          <a:noFill/>
          <a:ln/>
        </p:spPr>
        <p:txBody>
          <a:bodyPr wrap="square" lIns="0" tIns="0" rIns="0" bIns="0" rtlCol="0" anchor="t"/>
          <a:lstStyle/>
          <a:p>
            <a:pPr indent="0" marL="0">
              <a:buNone/>
            </a:pPr>
            <a:r>
              <a:rPr lang="en-US" sz="1300" dirty="0">
                <a:solidFill>
                  <a:srgbClr val="4A5260"/>
                </a:solidFill>
              </a:rPr>
              <a:t>adults in India live with diabetes</a:t>
            </a:r>
            <a:endParaRPr lang="en-US" sz="1300" dirty="0"/>
          </a:p>
        </p:txBody>
      </p:sp>
      <p:sp>
        <p:nvSpPr>
          <p:cNvPr id="5" name="Text 3"/>
          <p:cNvSpPr txBox="1"/>
          <p:nvPr/>
        </p:nvSpPr>
        <p:spPr>
          <a:xfrm>
            <a:off x="457200" y="3108960"/>
            <a:ext cx="3291840" cy="685800"/>
          </a:xfrm>
          <a:prstGeom prst="rect">
            <a:avLst/>
          </a:prstGeom>
          <a:noFill/>
          <a:ln/>
        </p:spPr>
        <p:txBody>
          <a:bodyPr wrap="square" lIns="0" tIns="0" rIns="0" bIns="0" rtlCol="0" anchor="b"/>
          <a:lstStyle/>
          <a:p>
            <a:pPr indent="0" marL="0">
              <a:buNone/>
            </a:pPr>
            <a:r>
              <a:rPr lang="en-US" sz="4000" b="1" dirty="0">
                <a:solidFill>
                  <a:srgbClr val="14284B"/>
                </a:solidFill>
                <a:latin typeface="Calibri" pitchFamily="34" charset="0"/>
                <a:ea typeface="Calibri" pitchFamily="34" charset="-122"/>
                <a:cs typeface="Calibri" pitchFamily="34" charset="-120"/>
              </a:rPr>
              <a:t>136 million</a:t>
            </a:r>
            <a:endParaRPr lang="en-US" sz="4000" dirty="0"/>
          </a:p>
        </p:txBody>
      </p:sp>
      <p:sp>
        <p:nvSpPr>
          <p:cNvPr id="6" name="Text 4"/>
          <p:cNvSpPr txBox="1"/>
          <p:nvPr/>
        </p:nvSpPr>
        <p:spPr>
          <a:xfrm>
            <a:off x="457200" y="3822192"/>
            <a:ext cx="3291840" cy="548640"/>
          </a:xfrm>
          <a:prstGeom prst="rect">
            <a:avLst/>
          </a:prstGeom>
          <a:noFill/>
          <a:ln/>
        </p:spPr>
        <p:txBody>
          <a:bodyPr wrap="square" lIns="0" tIns="0" rIns="0" bIns="0" rtlCol="0" anchor="t"/>
          <a:lstStyle/>
          <a:p>
            <a:pPr indent="0" marL="0">
              <a:buNone/>
            </a:pPr>
            <a:r>
              <a:rPr lang="en-US" sz="1300" dirty="0">
                <a:solidFill>
                  <a:srgbClr val="4A5260"/>
                </a:solidFill>
              </a:rPr>
              <a:t>more have prediabetes</a:t>
            </a:r>
            <a:endParaRPr lang="en-US" sz="1300" dirty="0"/>
          </a:p>
        </p:txBody>
      </p:sp>
      <p:sp>
        <p:nvSpPr>
          <p:cNvPr id="7" name="Text 5"/>
          <p:cNvSpPr txBox="1"/>
          <p:nvPr/>
        </p:nvSpPr>
        <p:spPr>
          <a:xfrm>
            <a:off x="457200" y="4572000"/>
            <a:ext cx="3474720" cy="365760"/>
          </a:xfrm>
          <a:prstGeom prst="rect">
            <a:avLst/>
          </a:prstGeom>
          <a:noFill/>
          <a:ln/>
        </p:spPr>
        <p:txBody>
          <a:bodyPr wrap="square" lIns="0" tIns="0" rIns="0" bIns="0" rtlCol="0" anchor="ctr"/>
          <a:lstStyle/>
          <a:p>
            <a:pPr indent="0" marL="0">
              <a:buNone/>
            </a:pPr>
            <a:r>
              <a:rPr lang="en-US" sz="1100" dirty="0">
                <a:solidFill>
                  <a:srgbClr val="7A8291"/>
                </a:solidFill>
              </a:rPr>
              <a:t>Source: ICMR-INDIAB, Lancet Diabetes &amp; Endocrinology 2023</a:t>
            </a:r>
            <a:endParaRPr lang="en-US" sz="1100" dirty="0"/>
          </a:p>
        </p:txBody>
      </p:sp>
      <p:sp>
        <p:nvSpPr>
          <p:cNvPr id="8" name="Shape 6"/>
          <p:cNvSpPr/>
          <p:nvPr/>
        </p:nvSpPr>
        <p:spPr>
          <a:xfrm>
            <a:off x="4389120" y="1554480"/>
            <a:ext cx="7315200" cy="1143000"/>
          </a:xfrm>
          <a:prstGeom prst="roundRect">
            <a:avLst>
              <a:gd name="adj" fmla="val 6400"/>
            </a:avLst>
          </a:prstGeom>
          <a:solidFill>
            <a:srgbClr val="F2F5FA"/>
          </a:solidFill>
          <a:ln w="12700">
            <a:solidFill>
              <a:srgbClr val="F2F5FA"/>
            </a:solidFill>
            <a:prstDash val="solid"/>
          </a:ln>
        </p:spPr>
      </p:sp>
      <p:sp>
        <p:nvSpPr>
          <p:cNvPr id="9" name="Text 7"/>
          <p:cNvSpPr txBox="1"/>
          <p:nvPr/>
        </p:nvSpPr>
        <p:spPr>
          <a:xfrm>
            <a:off x="4553712" y="1664208"/>
            <a:ext cx="6986016" cy="923544"/>
          </a:xfrm>
          <a:prstGeom prst="rect">
            <a:avLst/>
          </a:prstGeom>
          <a:noFill/>
          <a:ln/>
        </p:spPr>
        <p:txBody>
          <a:bodyPr wrap="square" lIns="0" tIns="0" rIns="0" bIns="0" rtlCol="0" anchor="t"/>
          <a:lstStyle/>
          <a:p>
            <a:pPr indent="0" marL="0">
              <a:spcAft>
                <a:spcPts val="400"/>
              </a:spcAft>
              <a:buNone/>
            </a:pPr>
            <a:r>
              <a:rPr lang="en-US" sz="1500" b="1" dirty="0">
                <a:solidFill>
                  <a:srgbClr val="14284B"/>
                </a:solidFill>
              </a:rPr>
              <a:t>A quarterly HbA1c describes the past</a:t>
            </a:r>
            <a:endParaRPr lang="en-US" sz="1500" dirty="0"/>
          </a:p>
          <a:p>
            <a:pPr indent="0" marL="0">
              <a:spcAft>
                <a:spcPts val="400"/>
              </a:spcAft>
              <a:buNone/>
            </a:pPr>
            <a:r>
              <a:rPr lang="en-US" sz="1300" dirty="0">
                <a:solidFill>
                  <a:srgbClr val="4A5260"/>
                </a:solidFill>
              </a:rPr>
              <a:t>It cannot warn about tonight's low on a sulfonylurea or premixed insulin, or tomorrow's illness-driven rise.</a:t>
            </a:r>
            <a:endParaRPr lang="en-US" sz="1500" dirty="0"/>
          </a:p>
        </p:txBody>
      </p:sp>
      <p:sp>
        <p:nvSpPr>
          <p:cNvPr id="10" name="Shape 8"/>
          <p:cNvSpPr/>
          <p:nvPr/>
        </p:nvSpPr>
        <p:spPr>
          <a:xfrm>
            <a:off x="4389120" y="2834640"/>
            <a:ext cx="7315200" cy="1143000"/>
          </a:xfrm>
          <a:prstGeom prst="roundRect">
            <a:avLst>
              <a:gd name="adj" fmla="val 6400"/>
            </a:avLst>
          </a:prstGeom>
          <a:solidFill>
            <a:srgbClr val="F2F5FA"/>
          </a:solidFill>
          <a:ln w="12700">
            <a:solidFill>
              <a:srgbClr val="F2F5FA"/>
            </a:solidFill>
            <a:prstDash val="solid"/>
          </a:ln>
        </p:spPr>
      </p:sp>
      <p:sp>
        <p:nvSpPr>
          <p:cNvPr id="11" name="Text 9"/>
          <p:cNvSpPr txBox="1"/>
          <p:nvPr/>
        </p:nvSpPr>
        <p:spPr>
          <a:xfrm>
            <a:off x="4553712" y="2944368"/>
            <a:ext cx="6986016" cy="923544"/>
          </a:xfrm>
          <a:prstGeom prst="rect">
            <a:avLst/>
          </a:prstGeom>
          <a:noFill/>
          <a:ln/>
        </p:spPr>
        <p:txBody>
          <a:bodyPr wrap="square" lIns="0" tIns="0" rIns="0" bIns="0" rtlCol="0" anchor="t"/>
          <a:lstStyle/>
          <a:p>
            <a:pPr indent="0" marL="0">
              <a:spcAft>
                <a:spcPts val="400"/>
              </a:spcAft>
              <a:buNone/>
            </a:pPr>
            <a:r>
              <a:rPr lang="en-US" sz="1500" b="1" dirty="0">
                <a:solidFill>
                  <a:srgbClr val="14284B"/>
                </a:solidFill>
              </a:rPr>
              <a:t>Post-meal spikes go unseen</a:t>
            </a:r>
            <a:endParaRPr lang="en-US" sz="1500" dirty="0"/>
          </a:p>
          <a:p>
            <a:pPr indent="0" marL="0">
              <a:spcAft>
                <a:spcPts val="400"/>
              </a:spcAft>
              <a:buNone/>
            </a:pPr>
            <a:r>
              <a:rPr lang="en-US" sz="1300" dirty="0">
                <a:solidFill>
                  <a:srgbClr val="4A5260"/>
                </a:solidFill>
              </a:rPr>
              <a:t>Rice- and roti-heavy meals, late dinners and festival sweets drive excursions that clinic visits never capture.</a:t>
            </a:r>
            <a:endParaRPr lang="en-US" sz="1500" dirty="0"/>
          </a:p>
        </p:txBody>
      </p:sp>
      <p:sp>
        <p:nvSpPr>
          <p:cNvPr id="12" name="Shape 10"/>
          <p:cNvSpPr/>
          <p:nvPr/>
        </p:nvSpPr>
        <p:spPr>
          <a:xfrm>
            <a:off x="4389120" y="4114800"/>
            <a:ext cx="7315200" cy="1143000"/>
          </a:xfrm>
          <a:prstGeom prst="roundRect">
            <a:avLst>
              <a:gd name="adj" fmla="val 6400"/>
            </a:avLst>
          </a:prstGeom>
          <a:solidFill>
            <a:srgbClr val="F2F5FA"/>
          </a:solidFill>
          <a:ln w="12700">
            <a:solidFill>
              <a:srgbClr val="F2F5FA"/>
            </a:solidFill>
            <a:prstDash val="solid"/>
          </a:ln>
        </p:spPr>
      </p:sp>
      <p:sp>
        <p:nvSpPr>
          <p:cNvPr id="13" name="Text 11"/>
          <p:cNvSpPr txBox="1"/>
          <p:nvPr/>
        </p:nvSpPr>
        <p:spPr>
          <a:xfrm>
            <a:off x="4553712" y="4224528"/>
            <a:ext cx="6986016" cy="923544"/>
          </a:xfrm>
          <a:prstGeom prst="rect">
            <a:avLst/>
          </a:prstGeom>
          <a:noFill/>
          <a:ln/>
        </p:spPr>
        <p:txBody>
          <a:bodyPr wrap="square" lIns="0" tIns="0" rIns="0" bIns="0" rtlCol="0" anchor="t"/>
          <a:lstStyle/>
          <a:p>
            <a:pPr indent="0" marL="0">
              <a:spcAft>
                <a:spcPts val="400"/>
              </a:spcAft>
              <a:buNone/>
            </a:pPr>
            <a:r>
              <a:rPr lang="en-US" sz="1500" b="1" dirty="0">
                <a:solidFill>
                  <a:srgbClr val="14284B"/>
                </a:solidFill>
              </a:rPr>
              <a:t>Data exists, attention does not</a:t>
            </a:r>
            <a:endParaRPr lang="en-US" sz="1500" dirty="0"/>
          </a:p>
          <a:p>
            <a:pPr indent="0" marL="0">
              <a:spcAft>
                <a:spcPts val="400"/>
              </a:spcAft>
              <a:buNone/>
            </a:pPr>
            <a:r>
              <a:rPr lang="en-US" sz="1300" dirty="0">
                <a:solidFill>
                  <a:srgbClr val="4A5260"/>
                </a:solidFill>
              </a:rPr>
              <a:t>CGMs and smartwatches stream thousands of readings a day; no care team can watch hundreds of patients' streams.</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MadhuTwin: a living virtual replica of each patient</a:t>
            </a:r>
            <a:endParaRPr lang="en-US" sz="3000" dirty="0"/>
          </a:p>
        </p:txBody>
      </p:sp>
      <p:sp>
        <p:nvSpPr>
          <p:cNvPr id="3" name="Text 1"/>
          <p:cNvSpPr txBox="1"/>
          <p:nvPr/>
        </p:nvSpPr>
        <p:spPr>
          <a:xfrm>
            <a:off x="457200" y="987552"/>
            <a:ext cx="9692640" cy="365760"/>
          </a:xfrm>
          <a:prstGeom prst="rect">
            <a:avLst/>
          </a:prstGeom>
          <a:noFill/>
          <a:ln/>
        </p:spPr>
        <p:txBody>
          <a:bodyPr wrap="square" lIns="0" tIns="0" rIns="0" bIns="0" rtlCol="0" anchor="ctr"/>
          <a:lstStyle/>
          <a:p>
            <a:pPr indent="0" marL="0">
              <a:buNone/>
            </a:pPr>
            <a:r>
              <a:rPr lang="en-US" sz="1500" dirty="0">
                <a:solidFill>
                  <a:srgbClr val="4A5260"/>
                </a:solidFill>
              </a:rPr>
              <a:t>Not just a predictor: the three defining properties of a digital twin</a:t>
            </a:r>
            <a:endParaRPr lang="en-US" sz="1500" dirty="0"/>
          </a:p>
        </p:txBody>
      </p:sp>
      <p:sp>
        <p:nvSpPr>
          <p:cNvPr id="4" name="Shape 2"/>
          <p:cNvSpPr/>
          <p:nvPr/>
        </p:nvSpPr>
        <p:spPr>
          <a:xfrm>
            <a:off x="457200" y="1691640"/>
            <a:ext cx="3611880" cy="3108960"/>
          </a:xfrm>
          <a:prstGeom prst="roundRect">
            <a:avLst>
              <a:gd name="adj" fmla="val 2941"/>
            </a:avLst>
          </a:prstGeom>
          <a:solidFill>
            <a:srgbClr val="14284B"/>
          </a:solidFill>
          <a:ln w="12700">
            <a:solidFill>
              <a:srgbClr val="14284B"/>
            </a:solidFill>
            <a:prstDash val="solid"/>
          </a:ln>
        </p:spPr>
      </p:sp>
      <p:sp>
        <p:nvSpPr>
          <p:cNvPr id="5" name="Text 3"/>
          <p:cNvSpPr txBox="1"/>
          <p:nvPr/>
        </p:nvSpPr>
        <p:spPr>
          <a:xfrm>
            <a:off x="685800" y="1874520"/>
            <a:ext cx="3154680" cy="2743200"/>
          </a:xfrm>
          <a:prstGeom prst="rect">
            <a:avLst/>
          </a:prstGeom>
          <a:noFill/>
          <a:ln/>
        </p:spPr>
        <p:txBody>
          <a:bodyPr wrap="square" lIns="0" tIns="0" rIns="0" bIns="0" rtlCol="0" anchor="t"/>
          <a:lstStyle/>
          <a:p>
            <a:pPr indent="0" marL="0">
              <a:spcAft>
                <a:spcPts val="800"/>
              </a:spcAft>
              <a:buNone/>
            </a:pPr>
            <a:r>
              <a:rPr lang="en-US" sz="2200" b="1" dirty="0">
                <a:solidFill>
                  <a:srgbClr val="E8A317"/>
                </a:solidFill>
              </a:rPr>
              <a:t>MODEL</a:t>
            </a:r>
            <a:endParaRPr lang="en-US" sz="2200" dirty="0"/>
          </a:p>
          <a:p>
            <a:pPr indent="0" marL="0">
              <a:spcAft>
                <a:spcPts val="800"/>
              </a:spcAft>
              <a:buNone/>
            </a:pPr>
            <a:r>
              <a:rPr lang="en-US" sz="1600" b="1" dirty="0">
                <a:solidFill>
                  <a:srgbClr val="FFFFFF"/>
                </a:solidFill>
              </a:rPr>
              <a:t>Personalised glucose–insulin physiology</a:t>
            </a:r>
            <a:endParaRPr lang="en-US" sz="2200" dirty="0"/>
          </a:p>
          <a:p>
            <a:pPr indent="0" marL="0">
              <a:spcAft>
                <a:spcPts val="800"/>
              </a:spcAft>
              <a:buNone/>
            </a:pPr>
            <a:r>
              <a:rPr lang="en-US" sz="1400" dirty="0">
                <a:solidFill>
                  <a:srgbClr val="DCE4F2"/>
                </a:solidFill>
              </a:rPr>
              <a:t>An extended minimal model with meals, exercise, sleep, dawn effect and Indian therapies, fitted to each patient with EHR-based priors.</a:t>
            </a:r>
            <a:endParaRPr lang="en-US" sz="2200" dirty="0"/>
          </a:p>
        </p:txBody>
      </p:sp>
      <p:sp>
        <p:nvSpPr>
          <p:cNvPr id="6" name="Shape 4"/>
          <p:cNvSpPr/>
          <p:nvPr/>
        </p:nvSpPr>
        <p:spPr>
          <a:xfrm>
            <a:off x="4251960" y="1691640"/>
            <a:ext cx="3611880" cy="3108960"/>
          </a:xfrm>
          <a:prstGeom prst="roundRect">
            <a:avLst>
              <a:gd name="adj" fmla="val 2941"/>
            </a:avLst>
          </a:prstGeom>
          <a:solidFill>
            <a:srgbClr val="F2F5FA"/>
          </a:solidFill>
          <a:ln w="12700">
            <a:solidFill>
              <a:srgbClr val="F2F5FA"/>
            </a:solidFill>
            <a:prstDash val="solid"/>
          </a:ln>
        </p:spPr>
      </p:sp>
      <p:sp>
        <p:nvSpPr>
          <p:cNvPr id="7" name="Text 5"/>
          <p:cNvSpPr txBox="1"/>
          <p:nvPr/>
        </p:nvSpPr>
        <p:spPr>
          <a:xfrm>
            <a:off x="4480560" y="1874520"/>
            <a:ext cx="3154680" cy="2743200"/>
          </a:xfrm>
          <a:prstGeom prst="rect">
            <a:avLst/>
          </a:prstGeom>
          <a:noFill/>
          <a:ln/>
        </p:spPr>
        <p:txBody>
          <a:bodyPr wrap="square" lIns="0" tIns="0" rIns="0" bIns="0" rtlCol="0" anchor="t"/>
          <a:lstStyle/>
          <a:p>
            <a:pPr indent="0" marL="0">
              <a:spcAft>
                <a:spcPts val="800"/>
              </a:spcAft>
              <a:buNone/>
            </a:pPr>
            <a:r>
              <a:rPr lang="en-US" sz="2200" b="1" dirty="0">
                <a:solidFill>
                  <a:srgbClr val="14284B"/>
                </a:solidFill>
              </a:rPr>
              <a:t>SYNC</a:t>
            </a:r>
            <a:endParaRPr lang="en-US" sz="2200" dirty="0"/>
          </a:p>
          <a:p>
            <a:pPr indent="0" marL="0">
              <a:spcAft>
                <a:spcPts val="800"/>
              </a:spcAft>
              <a:buNone/>
            </a:pPr>
            <a:r>
              <a:rPr lang="en-US" sz="1600" b="1" dirty="0">
                <a:solidFill>
                  <a:srgbClr val="222833"/>
                </a:solidFill>
              </a:rPr>
              <a:t>Continuously updated from live data</a:t>
            </a:r>
            <a:endParaRPr lang="en-US" sz="2200" dirty="0"/>
          </a:p>
          <a:p>
            <a:pPr indent="0" marL="0">
              <a:spcAft>
                <a:spcPts val="800"/>
              </a:spcAft>
              <a:buNone/>
            </a:pPr>
            <a:r>
              <a:rPr lang="en-US" sz="1400" dirty="0">
                <a:solidFill>
                  <a:srgbClr val="4A5260"/>
                </a:solidFill>
              </a:rPr>
              <a:t>An Unscented Kalman Filter re-estimates hidden insulin state and a drifting insulin sensitivity every 5 minutes.</a:t>
            </a:r>
            <a:endParaRPr lang="en-US" sz="2200" dirty="0"/>
          </a:p>
        </p:txBody>
      </p:sp>
      <p:sp>
        <p:nvSpPr>
          <p:cNvPr id="8" name="Shape 6"/>
          <p:cNvSpPr/>
          <p:nvPr/>
        </p:nvSpPr>
        <p:spPr>
          <a:xfrm>
            <a:off x="8046720" y="1691640"/>
            <a:ext cx="3611880" cy="3108960"/>
          </a:xfrm>
          <a:prstGeom prst="roundRect">
            <a:avLst>
              <a:gd name="adj" fmla="val 2941"/>
            </a:avLst>
          </a:prstGeom>
          <a:solidFill>
            <a:srgbClr val="F2F5FA"/>
          </a:solidFill>
          <a:ln w="12700">
            <a:solidFill>
              <a:srgbClr val="F2F5FA"/>
            </a:solidFill>
            <a:prstDash val="solid"/>
          </a:ln>
        </p:spPr>
      </p:sp>
      <p:sp>
        <p:nvSpPr>
          <p:cNvPr id="9" name="Text 7"/>
          <p:cNvSpPr txBox="1"/>
          <p:nvPr/>
        </p:nvSpPr>
        <p:spPr>
          <a:xfrm>
            <a:off x="8275320" y="1874520"/>
            <a:ext cx="3154680" cy="2743200"/>
          </a:xfrm>
          <a:prstGeom prst="rect">
            <a:avLst/>
          </a:prstGeom>
          <a:noFill/>
          <a:ln/>
        </p:spPr>
        <p:txBody>
          <a:bodyPr wrap="square" lIns="0" tIns="0" rIns="0" bIns="0" rtlCol="0" anchor="t"/>
          <a:lstStyle/>
          <a:p>
            <a:pPr indent="0" marL="0">
              <a:spcAft>
                <a:spcPts val="800"/>
              </a:spcAft>
              <a:buNone/>
            </a:pPr>
            <a:r>
              <a:rPr lang="en-US" sz="2200" b="1" dirty="0">
                <a:solidFill>
                  <a:srgbClr val="14284B"/>
                </a:solidFill>
              </a:rPr>
              <a:t>SIMULATE</a:t>
            </a:r>
            <a:endParaRPr lang="en-US" sz="2200" dirty="0"/>
          </a:p>
          <a:p>
            <a:pPr indent="0" marL="0">
              <a:spcAft>
                <a:spcPts val="800"/>
              </a:spcAft>
              <a:buNone/>
            </a:pPr>
            <a:r>
              <a:rPr lang="en-US" sz="1600" b="1" dirty="0">
                <a:solidFill>
                  <a:srgbClr val="222833"/>
                </a:solidFill>
              </a:rPr>
              <a:t>Run forward to predict and explore</a:t>
            </a:r>
            <a:endParaRPr lang="en-US" sz="2200" dirty="0"/>
          </a:p>
          <a:p>
            <a:pPr indent="0" marL="0">
              <a:spcAft>
                <a:spcPts val="800"/>
              </a:spcAft>
              <a:buNone/>
            </a:pPr>
            <a:r>
              <a:rPr lang="en-US" sz="1400" dirty="0">
                <a:solidFill>
                  <a:srgbClr val="4A5260"/>
                </a:solidFill>
              </a:rPr>
              <a:t>Causal 2-hour forecasts and what-ifs: a different meal, a walk after dinner, a short night, an illness.</a:t>
            </a:r>
            <a:endParaRPr lang="en-US" sz="2200" dirty="0"/>
          </a:p>
        </p:txBody>
      </p:sp>
      <p:sp>
        <p:nvSpPr>
          <p:cNvPr id="10" name="Text 8"/>
          <p:cNvSpPr txBox="1"/>
          <p:nvPr/>
        </p:nvSpPr>
        <p:spPr>
          <a:xfrm>
            <a:off x="457200" y="5120640"/>
            <a:ext cx="11247120" cy="731520"/>
          </a:xfrm>
          <a:prstGeom prst="rect">
            <a:avLst/>
          </a:prstGeom>
          <a:noFill/>
          <a:ln/>
        </p:spPr>
        <p:txBody>
          <a:bodyPr wrap="square" lIns="0" tIns="0" rIns="0" bIns="0" rtlCol="0" anchor="ctr"/>
          <a:lstStyle/>
          <a:p>
            <a:pPr indent="0" marL="0">
              <a:buNone/>
            </a:pPr>
            <a:r>
              <a:rPr lang="en-US" sz="1600" dirty="0">
                <a:solidFill>
                  <a:srgbClr val="14284B"/>
                </a:solidFill>
              </a:rPr>
              <a:t>On top: TwinNet, a physics-gated network that fuses both data streams with the twin's own forecast, and explains every alert in plain language.</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Architecture: two data streams fused into the twin</a:t>
            </a:r>
            <a:endParaRPr lang="en-US" sz="3000" dirty="0"/>
          </a:p>
        </p:txBody>
      </p:sp>
      <p:pic>
        <p:nvPicPr>
          <p:cNvPr id="3" name="architecture.png" descr="F:\Digital Twin\docs\figures\architecture.png">    </p:cNvPr>
          <p:cNvPicPr>
            <a:picLocks noChangeAspect="1"/>
          </p:cNvPicPr>
          <p:nvPr/>
        </p:nvPicPr>
        <p:blipFill>
          <a:blip r:embed="rId1"/>
          <a:srcRect l="0" r="0" t="0" b="0"/>
          <a:stretch/>
        </p:blipFill>
        <p:spPr>
          <a:xfrm>
            <a:off x="457200" y="1143000"/>
            <a:ext cx="11247120" cy="5166360"/>
          </a:xfrm>
          <a:prstGeom prst="rect">
            <a:avLst/>
          </a:prstGeom>
        </p:spPr>
      </p:pic>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Two data streams, three open or synthetic sources</a:t>
            </a:r>
            <a:endParaRPr lang="en-US" sz="3000" dirty="0"/>
          </a:p>
        </p:txBody>
      </p:sp>
      <p:sp>
        <p:nvSpPr>
          <p:cNvPr id="3" name="Text 1"/>
          <p:cNvSpPr txBox="1"/>
          <p:nvPr/>
        </p:nvSpPr>
        <p:spPr>
          <a:xfrm>
            <a:off x="457200" y="987552"/>
            <a:ext cx="9692640" cy="365760"/>
          </a:xfrm>
          <a:prstGeom prst="rect">
            <a:avLst/>
          </a:prstGeom>
          <a:noFill/>
          <a:ln/>
        </p:spPr>
        <p:txBody>
          <a:bodyPr wrap="square" lIns="0" tIns="0" rIns="0" bIns="0" rtlCol="0" anchor="ctr"/>
          <a:lstStyle/>
          <a:p>
            <a:pPr indent="0" marL="0">
              <a:buNone/>
            </a:pPr>
            <a:r>
              <a:rPr lang="en-US" sz="1500" dirty="0">
                <a:solidFill>
                  <a:srgbClr val="4A5260"/>
                </a:solidFill>
              </a:rPr>
              <a:t>Sandbox rules respected: no real Indian patient data is used</a:t>
            </a:r>
            <a:endParaRPr lang="en-US" sz="1500" dirty="0"/>
          </a:p>
        </p:txBody>
      </p:sp>
      <p:sp>
        <p:nvSpPr>
          <p:cNvPr id="4" name="Shape 2"/>
          <p:cNvSpPr/>
          <p:nvPr/>
        </p:nvSpPr>
        <p:spPr>
          <a:xfrm>
            <a:off x="457200" y="1600200"/>
            <a:ext cx="5486400" cy="2057400"/>
          </a:xfrm>
          <a:prstGeom prst="roundRect">
            <a:avLst>
              <a:gd name="adj" fmla="val 3556"/>
            </a:avLst>
          </a:prstGeom>
          <a:solidFill>
            <a:srgbClr val="EAF2FC"/>
          </a:solidFill>
          <a:ln w="12700">
            <a:solidFill>
              <a:srgbClr val="EAF2FC"/>
            </a:solidFill>
            <a:prstDash val="solid"/>
          </a:ln>
        </p:spPr>
      </p:sp>
      <p:sp>
        <p:nvSpPr>
          <p:cNvPr id="5" name="Text 3"/>
          <p:cNvSpPr txBox="1"/>
          <p:nvPr/>
        </p:nvSpPr>
        <p:spPr>
          <a:xfrm>
            <a:off x="621792" y="1709928"/>
            <a:ext cx="5157216" cy="1837944"/>
          </a:xfrm>
          <a:prstGeom prst="rect">
            <a:avLst/>
          </a:prstGeom>
          <a:noFill/>
          <a:ln/>
        </p:spPr>
        <p:txBody>
          <a:bodyPr wrap="square" lIns="0" tIns="0" rIns="0" bIns="0" rtlCol="0" anchor="t"/>
          <a:lstStyle/>
          <a:p>
            <a:pPr indent="0" marL="0">
              <a:spcAft>
                <a:spcPts val="400"/>
              </a:spcAft>
              <a:buNone/>
            </a:pPr>
            <a:r>
              <a:rPr lang="en-US" sz="1500" b="1" dirty="0">
                <a:solidFill>
                  <a:srgbClr val="14284B"/>
                </a:solidFill>
              </a:rPr>
              <a:t>Static / historical: EHR</a:t>
            </a:r>
            <a:endParaRPr lang="en-US" sz="1500" dirty="0"/>
          </a:p>
          <a:p>
            <a:pPr indent="0" marL="0">
              <a:spcAft>
                <a:spcPts val="400"/>
              </a:spcAft>
              <a:buNone/>
            </a:pPr>
            <a:r>
              <a:rPr lang="en-US" sz="1300" dirty="0">
                <a:solidFill>
                  <a:srgbClr val="4A5260"/>
                </a:solidFill>
              </a:rPr>
              <a:t>Demographics · diagnoses (SNOMED CT) · labs incl. HbA1c, fasting glucose &amp; insulin, lipids, eGFR (LOINC) · medications with timing (WHO ATC) · 2-year lab history · family history · TCF7L2 rs7903146 genotype · polygenic risk score</a:t>
            </a:r>
            <a:endParaRPr lang="en-US" sz="1500" dirty="0"/>
          </a:p>
        </p:txBody>
      </p:sp>
      <p:sp>
        <p:nvSpPr>
          <p:cNvPr id="6" name="Shape 4"/>
          <p:cNvSpPr/>
          <p:nvPr/>
        </p:nvSpPr>
        <p:spPr>
          <a:xfrm>
            <a:off x="457200" y="3794760"/>
            <a:ext cx="5486400" cy="2057400"/>
          </a:xfrm>
          <a:prstGeom prst="roundRect">
            <a:avLst>
              <a:gd name="adj" fmla="val 3556"/>
            </a:avLst>
          </a:prstGeom>
          <a:solidFill>
            <a:srgbClr val="FDF0EA"/>
          </a:solidFill>
          <a:ln w="12700">
            <a:solidFill>
              <a:srgbClr val="FDF0EA"/>
            </a:solidFill>
            <a:prstDash val="solid"/>
          </a:ln>
        </p:spPr>
      </p:sp>
      <p:sp>
        <p:nvSpPr>
          <p:cNvPr id="7" name="Text 5"/>
          <p:cNvSpPr txBox="1"/>
          <p:nvPr/>
        </p:nvSpPr>
        <p:spPr>
          <a:xfrm>
            <a:off x="621792" y="3904488"/>
            <a:ext cx="5157216" cy="1837944"/>
          </a:xfrm>
          <a:prstGeom prst="rect">
            <a:avLst/>
          </a:prstGeom>
          <a:noFill/>
          <a:ln/>
        </p:spPr>
        <p:txBody>
          <a:bodyPr wrap="square" lIns="0" tIns="0" rIns="0" bIns="0" rtlCol="0" anchor="t"/>
          <a:lstStyle/>
          <a:p>
            <a:pPr indent="0" marL="0">
              <a:spcAft>
                <a:spcPts val="400"/>
              </a:spcAft>
              <a:buNone/>
            </a:pPr>
            <a:r>
              <a:rPr lang="en-US" sz="1500" b="1" dirty="0">
                <a:solidFill>
                  <a:srgbClr val="14284B"/>
                </a:solidFill>
              </a:rPr>
              <a:t>Dynamic / real-time: wearables &amp; IoT</a:t>
            </a:r>
            <a:endParaRPr lang="en-US" sz="1500" dirty="0"/>
          </a:p>
          <a:p>
            <a:pPr indent="0" marL="0">
              <a:spcAft>
                <a:spcPts val="400"/>
              </a:spcAft>
              <a:buNone/>
            </a:pPr>
            <a:r>
              <a:rPr lang="en-US" sz="1300" dirty="0">
                <a:solidFill>
                  <a:srgbClr val="4A5260"/>
                </a:solidFill>
              </a:rPr>
              <a:t>CGM (5- or 15-min) · heart rate · HRV (RMSSD) · steps &amp; METs · sleep stages · logged meals from an Indian food table · insulin and tablet doses</a:t>
            </a:r>
            <a:endParaRPr lang="en-US" sz="1500" dirty="0"/>
          </a:p>
        </p:txBody>
      </p:sp>
      <p:sp>
        <p:nvSpPr>
          <p:cNvPr id="8" name="Text 6"/>
          <p:cNvSpPr txBox="1"/>
          <p:nvPr/>
        </p:nvSpPr>
        <p:spPr>
          <a:xfrm>
            <a:off x="6309360" y="1600200"/>
            <a:ext cx="2377440" cy="640080"/>
          </a:xfrm>
          <a:prstGeom prst="rect">
            <a:avLst/>
          </a:prstGeom>
          <a:noFill/>
          <a:ln/>
        </p:spPr>
        <p:txBody>
          <a:bodyPr wrap="square" lIns="0" tIns="0" rIns="0" bIns="0" rtlCol="0" anchor="ctr"/>
          <a:lstStyle/>
          <a:p>
            <a:pPr indent="0" marL="0">
              <a:buNone/>
            </a:pPr>
            <a:r>
              <a:rPr lang="en-US" sz="2800" b="1" dirty="0">
                <a:solidFill>
                  <a:srgbClr val="14284B"/>
                </a:solidFill>
              </a:rPr>
              <a:t>1,000 × 14 days</a:t>
            </a:r>
            <a:endParaRPr lang="en-US" sz="2800" dirty="0"/>
          </a:p>
        </p:txBody>
      </p:sp>
      <p:sp>
        <p:nvSpPr>
          <p:cNvPr id="9" name="Text 7"/>
          <p:cNvSpPr txBox="1"/>
          <p:nvPr/>
        </p:nvSpPr>
        <p:spPr>
          <a:xfrm>
            <a:off x="8686800" y="1600200"/>
            <a:ext cx="3017520" cy="1325880"/>
          </a:xfrm>
          <a:prstGeom prst="rect">
            <a:avLst/>
          </a:prstGeom>
          <a:noFill/>
          <a:ln/>
        </p:spPr>
        <p:txBody>
          <a:bodyPr wrap="square" lIns="0" tIns="0" rIns="0" bIns="0" rtlCol="0" anchor="t"/>
          <a:lstStyle/>
          <a:p>
            <a:pPr indent="0" marL="0">
              <a:buNone/>
            </a:pPr>
            <a:r>
              <a:rPr lang="en-US" sz="1500" b="1" dirty="0">
                <a:solidFill>
                  <a:srgbClr val="222833"/>
                </a:solidFill>
              </a:rPr>
              <a:t>Synthetic India-calibrated patients</a:t>
            </a:r>
            <a:endParaRPr lang="en-US" sz="1500" dirty="0"/>
          </a:p>
          <a:p>
            <a:pPr indent="0" marL="0">
              <a:buNone/>
            </a:pPr>
            <a:r>
              <a:rPr lang="en-US" sz="1300" dirty="0">
                <a:solidFill>
                  <a:srgbClr val="4A5260"/>
                </a:solidFill>
              </a:rPr>
              <a:t>ICMR-INDIAB mix, regional diets, Indian prescribing; streams generated by the same physiology</a:t>
            </a:r>
            <a:endParaRPr lang="en-US" sz="1500" dirty="0"/>
          </a:p>
        </p:txBody>
      </p:sp>
      <p:sp>
        <p:nvSpPr>
          <p:cNvPr id="10" name="Text 8"/>
          <p:cNvSpPr txBox="1"/>
          <p:nvPr/>
        </p:nvSpPr>
        <p:spPr>
          <a:xfrm>
            <a:off x="6309360" y="3063240"/>
            <a:ext cx="2377440" cy="640080"/>
          </a:xfrm>
          <a:prstGeom prst="rect">
            <a:avLst/>
          </a:prstGeom>
          <a:noFill/>
          <a:ln/>
        </p:spPr>
        <p:txBody>
          <a:bodyPr wrap="square" lIns="0" tIns="0" rIns="0" bIns="0" rtlCol="0" anchor="ctr"/>
          <a:lstStyle/>
          <a:p>
            <a:pPr indent="0" marL="0">
              <a:buNone/>
            </a:pPr>
            <a:r>
              <a:rPr lang="en-US" sz="2800" b="1" dirty="0">
                <a:solidFill>
                  <a:srgbClr val="14284B"/>
                </a:solidFill>
              </a:rPr>
              <a:t>45 people</a:t>
            </a:r>
            <a:endParaRPr lang="en-US" sz="2800" dirty="0"/>
          </a:p>
        </p:txBody>
      </p:sp>
      <p:sp>
        <p:nvSpPr>
          <p:cNvPr id="11" name="Text 9"/>
          <p:cNvSpPr txBox="1"/>
          <p:nvPr/>
        </p:nvSpPr>
        <p:spPr>
          <a:xfrm>
            <a:off x="8686800" y="3063240"/>
            <a:ext cx="3017520" cy="1325880"/>
          </a:xfrm>
          <a:prstGeom prst="rect">
            <a:avLst/>
          </a:prstGeom>
          <a:noFill/>
          <a:ln/>
        </p:spPr>
        <p:txBody>
          <a:bodyPr wrap="square" lIns="0" tIns="0" rIns="0" bIns="0" rtlCol="0" anchor="t"/>
          <a:lstStyle/>
          <a:p>
            <a:pPr indent="0" marL="0">
              <a:buNone/>
            </a:pPr>
            <a:r>
              <a:rPr lang="en-US" sz="1500" b="1" dirty="0">
                <a:solidFill>
                  <a:srgbClr val="222833"/>
                </a:solidFill>
              </a:rPr>
              <a:t>CGMacros (PhysioNet)</a:t>
            </a:r>
            <a:endParaRPr lang="en-US" sz="1500" dirty="0"/>
          </a:p>
          <a:p>
            <a:pPr indent="0" marL="0">
              <a:buNone/>
            </a:pPr>
            <a:r>
              <a:rPr lang="en-US" sz="1300" dirty="0">
                <a:solidFill>
                  <a:srgbClr val="4A5260"/>
                </a:solidFill>
              </a:rPr>
              <a:t>Real CGM, Fitbit, meals, labs; healthy to T2D (USA)</a:t>
            </a:r>
            <a:endParaRPr lang="en-US" sz="1500" dirty="0"/>
          </a:p>
        </p:txBody>
      </p:sp>
      <p:sp>
        <p:nvSpPr>
          <p:cNvPr id="12" name="Text 10"/>
          <p:cNvSpPr txBox="1"/>
          <p:nvPr/>
        </p:nvSpPr>
        <p:spPr>
          <a:xfrm>
            <a:off x="6309360" y="4526280"/>
            <a:ext cx="2377440" cy="640080"/>
          </a:xfrm>
          <a:prstGeom prst="rect">
            <a:avLst/>
          </a:prstGeom>
          <a:noFill/>
          <a:ln/>
        </p:spPr>
        <p:txBody>
          <a:bodyPr wrap="square" lIns="0" tIns="0" rIns="0" bIns="0" rtlCol="0" anchor="ctr"/>
          <a:lstStyle/>
          <a:p>
            <a:pPr indent="0" marL="0">
              <a:buNone/>
            </a:pPr>
            <a:r>
              <a:rPr lang="en-US" sz="2800" b="1" dirty="0">
                <a:solidFill>
                  <a:srgbClr val="14284B"/>
                </a:solidFill>
              </a:rPr>
              <a:t>100 patients</a:t>
            </a:r>
            <a:endParaRPr lang="en-US" sz="2800" dirty="0"/>
          </a:p>
        </p:txBody>
      </p:sp>
      <p:sp>
        <p:nvSpPr>
          <p:cNvPr id="13" name="Text 11"/>
          <p:cNvSpPr txBox="1"/>
          <p:nvPr/>
        </p:nvSpPr>
        <p:spPr>
          <a:xfrm>
            <a:off x="8686800" y="4526280"/>
            <a:ext cx="3017520" cy="1325880"/>
          </a:xfrm>
          <a:prstGeom prst="rect">
            <a:avLst/>
          </a:prstGeom>
          <a:noFill/>
          <a:ln/>
        </p:spPr>
        <p:txBody>
          <a:bodyPr wrap="square" lIns="0" tIns="0" rIns="0" bIns="0" rtlCol="0" anchor="t"/>
          <a:lstStyle/>
          <a:p>
            <a:pPr indent="0" marL="0">
              <a:buNone/>
            </a:pPr>
            <a:r>
              <a:rPr lang="en-US" sz="1500" b="1" dirty="0">
                <a:solidFill>
                  <a:srgbClr val="222833"/>
                </a:solidFill>
              </a:rPr>
              <a:t>ShanghaiT2DM (Figshare)</a:t>
            </a:r>
            <a:endParaRPr lang="en-US" sz="1500" dirty="0"/>
          </a:p>
          <a:p>
            <a:pPr indent="0" marL="0">
              <a:buNone/>
            </a:pPr>
            <a:r>
              <a:rPr lang="en-US" sz="1300" dirty="0">
                <a:solidFill>
                  <a:srgbClr val="4A5260"/>
                </a:solidFill>
              </a:rPr>
              <a:t>External: rice-based diet, insulin users, no wearables</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Synthetic Indian cohort, causally linked streams</a:t>
            </a:r>
            <a:endParaRPr lang="en-US" sz="3000" dirty="0"/>
          </a:p>
        </p:txBody>
      </p:sp>
      <p:pic>
        <p:nvPicPr>
          <p:cNvPr id="3" name="synthetic_realism.png" descr="F:\Digital Twin\docs\figures\synthetic_realism.png">    </p:cNvPr>
          <p:cNvPicPr>
            <a:picLocks noChangeAspect="1"/>
          </p:cNvPicPr>
          <p:nvPr/>
        </p:nvPicPr>
        <p:blipFill>
          <a:blip r:embed="rId1"/>
          <a:srcRect l="0" r="0" t="0" b="0"/>
          <a:stretch/>
        </p:blipFill>
        <p:spPr>
          <a:xfrm>
            <a:off x="457200" y="1234440"/>
            <a:ext cx="6949440" cy="2377440"/>
          </a:xfrm>
          <a:prstGeom prst="rect">
            <a:avLst/>
          </a:prstGeom>
        </p:spPr>
      </p:pic>
      <p:sp>
        <p:nvSpPr>
          <p:cNvPr id="4" name="Text 1"/>
          <p:cNvSpPr txBox="1"/>
          <p:nvPr/>
        </p:nvSpPr>
        <p:spPr>
          <a:xfrm>
            <a:off x="7680960" y="1280160"/>
            <a:ext cx="4023360" cy="4846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22833"/>
                </a:solidFill>
              </a:rPr>
              <a:t>Status mix, South-Asian BMI phenotype, comorbidities and prescribing calibrated to Indian clinics: premixed 30/70 insulin, gliclazide, teneligliptin</a:t>
            </a:r>
            <a:endParaRPr lang="en-US" sz="1400" dirty="0"/>
          </a:p>
          <a:p>
            <a:pPr marL="342900" indent="-342900">
              <a:spcAft>
                <a:spcPts val="800"/>
              </a:spcAft>
              <a:buSzPct val="100000"/>
              <a:buChar char="•"/>
            </a:pPr>
            <a:r>
              <a:rPr lang="en-US" sz="1400" dirty="0">
                <a:solidFill>
                  <a:srgbClr val="222833"/>
                </a:solidFill>
              </a:rPr>
              <a:t>Regional meals from IFCT 2017: idli-sambar, roti-sabzi, ragi mudde, biryani, chai with sugar, festival sweets</a:t>
            </a:r>
            <a:endParaRPr lang="en-US" sz="1400" dirty="0"/>
          </a:p>
          <a:p>
            <a:pPr marL="342900" indent="-342900">
              <a:spcAft>
                <a:spcPts val="800"/>
              </a:spcAft>
              <a:buSzPct val="100000"/>
              <a:buChar char="•"/>
            </a:pPr>
            <a:r>
              <a:rPr lang="en-US" sz="1400" dirty="0">
                <a:solidFill>
                  <a:srgbClr val="222833"/>
                </a:solidFill>
              </a:rPr>
              <a:t>Wearables are simulated by the same physiology, and labs are measured from the simulated body (HbA1c from mean glucose)</a:t>
            </a:r>
            <a:endParaRPr lang="en-US" sz="1400" dirty="0"/>
          </a:p>
          <a:p>
            <a:pPr marL="342900" indent="-342900">
              <a:spcAft>
                <a:spcPts val="800"/>
              </a:spcAft>
              <a:buSzPct val="100000"/>
              <a:buChar char="•"/>
            </a:pPr>
            <a:r>
              <a:rPr lang="en-US" sz="1400" dirty="0">
                <a:solidFill>
                  <a:srgbClr val="222833"/>
                </a:solidFill>
              </a:rPr>
              <a:t>Realistic imperfection: unlogged meals, carb misestimation, CGM noise and compression lows, missed doses, illness and stress days</a:t>
            </a:r>
            <a:endParaRPr lang="en-US" sz="1400" dirty="0"/>
          </a:p>
        </p:txBody>
      </p:sp>
      <p:sp>
        <p:nvSpPr>
          <p:cNvPr id="5" name="Text 2"/>
          <p:cNvSpPr txBox="1"/>
          <p:nvPr/>
        </p:nvSpPr>
        <p:spPr>
          <a:xfrm>
            <a:off x="457200" y="3840480"/>
            <a:ext cx="6949440" cy="822960"/>
          </a:xfrm>
          <a:prstGeom prst="rect">
            <a:avLst/>
          </a:prstGeom>
          <a:noFill/>
          <a:ln/>
        </p:spPr>
        <p:txBody>
          <a:bodyPr wrap="square" lIns="0" tIns="0" rIns="0" bIns="0" rtlCol="0" anchor="ctr"/>
          <a:lstStyle/>
          <a:p>
            <a:pPr indent="0" marL="0">
              <a:buNone/>
            </a:pPr>
            <a:r>
              <a:rPr lang="en-US" sz="1400" dirty="0">
                <a:solidFill>
                  <a:srgbClr val="14284B"/>
                </a:solidFill>
              </a:rPr>
              <a:t>Physiology parameters are sampled from relationships measured by fitting twins to 45 real people, so synthetic glucose behaves like real glucose.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MODEL: twins recover real physiology from CGM</a:t>
            </a:r>
            <a:endParaRPr lang="en-US" sz="3000" dirty="0"/>
          </a:p>
        </p:txBody>
      </p:sp>
      <p:sp>
        <p:nvSpPr>
          <p:cNvPr id="3" name="triad-MODEL"/>
          <p:cNvSpPr/>
          <p:nvPr/>
        </p:nvSpPr>
        <p:spPr>
          <a:xfrm>
            <a:off x="10332720" y="347472"/>
            <a:ext cx="566928" cy="384048"/>
          </a:xfrm>
          <a:prstGeom prst="roundRect">
            <a:avLst>
              <a:gd name="adj" fmla="val 19048"/>
            </a:avLst>
          </a:prstGeom>
          <a:solidFill>
            <a:srgbClr val="14284B"/>
          </a:solidFill>
          <a:ln w="12700">
            <a:solidFill>
              <a:srgbClr val="14284B"/>
            </a:solidFill>
            <a:prstDash val="solid"/>
          </a:ln>
        </p:spPr>
      </p:sp>
      <p:sp>
        <p:nvSpPr>
          <p:cNvPr id="4" name="Text 2"/>
          <p:cNvSpPr txBox="1"/>
          <p:nvPr/>
        </p:nvSpPr>
        <p:spPr>
          <a:xfrm>
            <a:off x="10332720" y="347472"/>
            <a:ext cx="566928" cy="384048"/>
          </a:xfrm>
          <a:prstGeom prst="rect">
            <a:avLst/>
          </a:prstGeom>
          <a:noFill/>
          <a:ln/>
        </p:spPr>
        <p:txBody>
          <a:bodyPr wrap="square" lIns="0" tIns="0" rIns="0" bIns="0" rtlCol="0" anchor="ctr"/>
          <a:lstStyle/>
          <a:p>
            <a:pPr algn="ctr" indent="0" marL="0">
              <a:buNone/>
            </a:pPr>
            <a:r>
              <a:rPr lang="en-US" sz="900" b="1" dirty="0">
                <a:solidFill>
                  <a:srgbClr val="FFFFFF"/>
                </a:solidFill>
              </a:rPr>
              <a:t>MODEL</a:t>
            </a:r>
            <a:endParaRPr lang="en-US" sz="900" dirty="0"/>
          </a:p>
        </p:txBody>
      </p:sp>
      <p:sp>
        <p:nvSpPr>
          <p:cNvPr id="5" name="triad-SYNC"/>
          <p:cNvSpPr/>
          <p:nvPr/>
        </p:nvSpPr>
        <p:spPr>
          <a:xfrm>
            <a:off x="10954512" y="347472"/>
            <a:ext cx="566928" cy="384048"/>
          </a:xfrm>
          <a:prstGeom prst="roundRect">
            <a:avLst>
              <a:gd name="adj" fmla="val 19048"/>
            </a:avLst>
          </a:prstGeom>
          <a:solidFill>
            <a:srgbClr val="E7EBF2"/>
          </a:solidFill>
          <a:ln w="12700">
            <a:solidFill>
              <a:srgbClr val="E7EBF2"/>
            </a:solidFill>
            <a:prstDash val="solid"/>
          </a:ln>
        </p:spPr>
      </p:sp>
      <p:sp>
        <p:nvSpPr>
          <p:cNvPr id="6" name="Text 4"/>
          <p:cNvSpPr txBox="1"/>
          <p:nvPr/>
        </p:nvSpPr>
        <p:spPr>
          <a:xfrm>
            <a:off x="10954512" y="347472"/>
            <a:ext cx="566928" cy="384048"/>
          </a:xfrm>
          <a:prstGeom prst="rect">
            <a:avLst/>
          </a:prstGeom>
          <a:noFill/>
          <a:ln/>
        </p:spPr>
        <p:txBody>
          <a:bodyPr wrap="square" lIns="0" tIns="0" rIns="0" bIns="0" rtlCol="0" anchor="ctr"/>
          <a:lstStyle/>
          <a:p>
            <a:pPr algn="ctr" indent="0" marL="0">
              <a:buNone/>
            </a:pPr>
            <a:r>
              <a:rPr lang="en-US" sz="900" b="1" dirty="0">
                <a:solidFill>
                  <a:srgbClr val="8A93A3"/>
                </a:solidFill>
              </a:rPr>
              <a:t>SYNC</a:t>
            </a:r>
            <a:endParaRPr lang="en-US" sz="900" dirty="0"/>
          </a:p>
        </p:txBody>
      </p:sp>
      <p:sp>
        <p:nvSpPr>
          <p:cNvPr id="7" name="triad-SIMULATE"/>
          <p:cNvSpPr/>
          <p:nvPr/>
        </p:nvSpPr>
        <p:spPr>
          <a:xfrm>
            <a:off x="11576304" y="347472"/>
            <a:ext cx="566928" cy="384048"/>
          </a:xfrm>
          <a:prstGeom prst="roundRect">
            <a:avLst>
              <a:gd name="adj" fmla="val 19048"/>
            </a:avLst>
          </a:prstGeom>
          <a:solidFill>
            <a:srgbClr val="E7EBF2"/>
          </a:solidFill>
          <a:ln w="12700">
            <a:solidFill>
              <a:srgbClr val="E7EBF2"/>
            </a:solidFill>
            <a:prstDash val="solid"/>
          </a:ln>
        </p:spPr>
      </p:sp>
      <p:sp>
        <p:nvSpPr>
          <p:cNvPr id="8" name="Text 6"/>
          <p:cNvSpPr txBox="1"/>
          <p:nvPr/>
        </p:nvSpPr>
        <p:spPr>
          <a:xfrm>
            <a:off x="11576304" y="347472"/>
            <a:ext cx="566928" cy="384048"/>
          </a:xfrm>
          <a:prstGeom prst="rect">
            <a:avLst/>
          </a:prstGeom>
          <a:noFill/>
          <a:ln/>
        </p:spPr>
        <p:txBody>
          <a:bodyPr wrap="square" lIns="0" tIns="0" rIns="0" bIns="0" rtlCol="0" anchor="ctr"/>
          <a:lstStyle/>
          <a:p>
            <a:pPr algn="ctr" indent="0" marL="0">
              <a:buNone/>
            </a:pPr>
            <a:r>
              <a:rPr lang="en-US" sz="900" b="1" dirty="0">
                <a:solidFill>
                  <a:srgbClr val="8A93A3"/>
                </a:solidFill>
              </a:rPr>
              <a:t>SIM</a:t>
            </a:r>
            <a:endParaRPr lang="en-US" sz="900" dirty="0"/>
          </a:p>
        </p:txBody>
      </p:sp>
      <p:pic>
        <p:nvPicPr>
          <p:cNvPr id="9" name="twin_validity.png" descr="F:\Digital Twin\docs\figures\twin_validity.png">    </p:cNvPr>
          <p:cNvPicPr>
            <a:picLocks noChangeAspect="1"/>
          </p:cNvPicPr>
          <p:nvPr/>
        </p:nvPicPr>
        <p:blipFill>
          <a:blip r:embed="rId1"/>
          <a:srcRect l="0" r="0" t="0" b="0"/>
          <a:stretch/>
        </p:blipFill>
        <p:spPr>
          <a:xfrm>
            <a:off x="457200" y="1234440"/>
            <a:ext cx="7680960" cy="3291840"/>
          </a:xfrm>
          <a:prstGeom prst="rect">
            <a:avLst/>
          </a:prstGeom>
        </p:spPr>
      </p:pic>
      <p:sp>
        <p:nvSpPr>
          <p:cNvPr id="10" name="Text 7"/>
          <p:cNvSpPr txBox="1"/>
          <p:nvPr/>
        </p:nvSpPr>
        <p:spPr>
          <a:xfrm>
            <a:off x="8503920" y="1371600"/>
            <a:ext cx="3291840" cy="685800"/>
          </a:xfrm>
          <a:prstGeom prst="rect">
            <a:avLst/>
          </a:prstGeom>
          <a:noFill/>
          <a:ln/>
        </p:spPr>
        <p:txBody>
          <a:bodyPr wrap="square" lIns="0" tIns="0" rIns="0" bIns="0" rtlCol="0" anchor="b"/>
          <a:lstStyle/>
          <a:p>
            <a:pPr indent="0" marL="0">
              <a:buNone/>
            </a:pPr>
            <a:r>
              <a:rPr lang="en-US" sz="4000" b="1" dirty="0">
                <a:solidFill>
                  <a:srgbClr val="14284B"/>
                </a:solidFill>
                <a:latin typeface="Calibri" pitchFamily="34" charset="0"/>
                <a:ea typeface="Calibri" pitchFamily="34" charset="-122"/>
                <a:cs typeface="Calibri" pitchFamily="34" charset="-120"/>
              </a:rPr>
              <a:t>37.7 → 26.6</a:t>
            </a:r>
            <a:endParaRPr lang="en-US" sz="4000" dirty="0"/>
          </a:p>
        </p:txBody>
      </p:sp>
      <p:sp>
        <p:nvSpPr>
          <p:cNvPr id="11" name="Text 8"/>
          <p:cNvSpPr txBox="1"/>
          <p:nvPr/>
        </p:nvSpPr>
        <p:spPr>
          <a:xfrm>
            <a:off x="8503920" y="2084832"/>
            <a:ext cx="3291840" cy="548640"/>
          </a:xfrm>
          <a:prstGeom prst="rect">
            <a:avLst/>
          </a:prstGeom>
          <a:noFill/>
          <a:ln/>
        </p:spPr>
        <p:txBody>
          <a:bodyPr wrap="square" lIns="0" tIns="0" rIns="0" bIns="0" rtlCol="0" anchor="t"/>
          <a:lstStyle/>
          <a:p>
            <a:pPr indent="0" marL="0">
              <a:buNone/>
            </a:pPr>
            <a:r>
              <a:rPr lang="en-US" sz="1300" dirty="0">
                <a:solidFill>
                  <a:srgbClr val="4A5260"/>
                </a:solidFill>
              </a:rPr>
              <a:t>mg/dL twin error, EHR prior → personalised (45 real people, 1–4 h windows)</a:t>
            </a:r>
            <a:endParaRPr lang="en-US" sz="1300" dirty="0"/>
          </a:p>
        </p:txBody>
      </p:sp>
      <p:sp>
        <p:nvSpPr>
          <p:cNvPr id="12" name="Text 9"/>
          <p:cNvSpPr txBox="1"/>
          <p:nvPr/>
        </p:nvSpPr>
        <p:spPr>
          <a:xfrm>
            <a:off x="8503920" y="3017520"/>
            <a:ext cx="3291840" cy="685800"/>
          </a:xfrm>
          <a:prstGeom prst="rect">
            <a:avLst/>
          </a:prstGeom>
          <a:noFill/>
          <a:ln/>
        </p:spPr>
        <p:txBody>
          <a:bodyPr wrap="square" lIns="0" tIns="0" rIns="0" bIns="0" rtlCol="0" anchor="b"/>
          <a:lstStyle/>
          <a:p>
            <a:pPr indent="0" marL="0">
              <a:buNone/>
            </a:pPr>
            <a:r>
              <a:rPr lang="en-US" sz="4000" b="1" dirty="0">
                <a:solidFill>
                  <a:srgbClr val="14284B"/>
                </a:solidFill>
                <a:latin typeface="Calibri" pitchFamily="34" charset="0"/>
                <a:ea typeface="Calibri" pitchFamily="34" charset="-122"/>
                <a:cs typeface="Calibri" pitchFamily="34" charset="-120"/>
              </a:rPr>
              <a:t>29% lower</a:t>
            </a:r>
            <a:endParaRPr lang="en-US" sz="4000" dirty="0"/>
          </a:p>
        </p:txBody>
      </p:sp>
      <p:sp>
        <p:nvSpPr>
          <p:cNvPr id="13" name="Text 10"/>
          <p:cNvSpPr txBox="1"/>
          <p:nvPr/>
        </p:nvSpPr>
        <p:spPr>
          <a:xfrm>
            <a:off x="8503920" y="3730752"/>
            <a:ext cx="3291840" cy="548640"/>
          </a:xfrm>
          <a:prstGeom prst="rect">
            <a:avLst/>
          </a:prstGeom>
          <a:noFill/>
          <a:ln/>
        </p:spPr>
        <p:txBody>
          <a:bodyPr wrap="square" lIns="0" tIns="0" rIns="0" bIns="0" rtlCol="0" anchor="t"/>
          <a:lstStyle/>
          <a:p>
            <a:pPr indent="0" marL="0">
              <a:buNone/>
            </a:pPr>
            <a:r>
              <a:rPr lang="en-US" sz="1300" dirty="0">
                <a:solidFill>
                  <a:srgbClr val="4A5260"/>
                </a:solidFill>
              </a:rPr>
              <a:t>error once the twin is fitted to the individual</a:t>
            </a:r>
            <a:endParaRPr lang="en-US" sz="1300" dirty="0"/>
          </a:p>
        </p:txBody>
      </p:sp>
      <p:sp>
        <p:nvSpPr>
          <p:cNvPr id="14" name="Text 11"/>
          <p:cNvSpPr txBox="1"/>
          <p:nvPr/>
        </p:nvSpPr>
        <p:spPr>
          <a:xfrm>
            <a:off x="457200" y="4754880"/>
            <a:ext cx="11247120" cy="731520"/>
          </a:xfrm>
          <a:prstGeom prst="rect">
            <a:avLst/>
          </a:prstGeom>
          <a:noFill/>
          <a:ln/>
        </p:spPr>
        <p:txBody>
          <a:bodyPr wrap="square" lIns="0" tIns="0" rIns="0" bIns="0" rtlCol="0" anchor="ctr"/>
          <a:lstStyle/>
          <a:p>
            <a:pPr indent="0" marL="0">
              <a:buNone/>
            </a:pPr>
            <a:r>
              <a:rPr lang="en-US" sz="1500" dirty="0">
                <a:solidFill>
                  <a:srgbClr val="14284B"/>
                </a:solidFill>
              </a:rPr>
              <a:t>Fitted insulin sensitivity tracks lab HOMA-IR and beta-cell response tracks HbA1c, without the model ever seeing those relationships during fitting.</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SYNC: the twin notices illness from CGM alone</a:t>
            </a:r>
            <a:endParaRPr lang="en-US" sz="3000" dirty="0"/>
          </a:p>
        </p:txBody>
      </p:sp>
      <p:sp>
        <p:nvSpPr>
          <p:cNvPr id="3" name="triad-MODEL"/>
          <p:cNvSpPr/>
          <p:nvPr/>
        </p:nvSpPr>
        <p:spPr>
          <a:xfrm>
            <a:off x="10332720" y="347472"/>
            <a:ext cx="566928" cy="384048"/>
          </a:xfrm>
          <a:prstGeom prst="roundRect">
            <a:avLst>
              <a:gd name="adj" fmla="val 19048"/>
            </a:avLst>
          </a:prstGeom>
          <a:solidFill>
            <a:srgbClr val="E7EBF2"/>
          </a:solidFill>
          <a:ln w="12700">
            <a:solidFill>
              <a:srgbClr val="E7EBF2"/>
            </a:solidFill>
            <a:prstDash val="solid"/>
          </a:ln>
        </p:spPr>
      </p:sp>
      <p:sp>
        <p:nvSpPr>
          <p:cNvPr id="4" name="Text 2"/>
          <p:cNvSpPr txBox="1"/>
          <p:nvPr/>
        </p:nvSpPr>
        <p:spPr>
          <a:xfrm>
            <a:off x="10332720" y="347472"/>
            <a:ext cx="566928" cy="384048"/>
          </a:xfrm>
          <a:prstGeom prst="rect">
            <a:avLst/>
          </a:prstGeom>
          <a:noFill/>
          <a:ln/>
        </p:spPr>
        <p:txBody>
          <a:bodyPr wrap="square" lIns="0" tIns="0" rIns="0" bIns="0" rtlCol="0" anchor="ctr"/>
          <a:lstStyle/>
          <a:p>
            <a:pPr algn="ctr" indent="0" marL="0">
              <a:buNone/>
            </a:pPr>
            <a:r>
              <a:rPr lang="en-US" sz="900" b="1" dirty="0">
                <a:solidFill>
                  <a:srgbClr val="8A93A3"/>
                </a:solidFill>
              </a:rPr>
              <a:t>MODEL</a:t>
            </a:r>
            <a:endParaRPr lang="en-US" sz="900" dirty="0"/>
          </a:p>
        </p:txBody>
      </p:sp>
      <p:sp>
        <p:nvSpPr>
          <p:cNvPr id="5" name="triad-SYNC"/>
          <p:cNvSpPr/>
          <p:nvPr/>
        </p:nvSpPr>
        <p:spPr>
          <a:xfrm>
            <a:off x="10954512" y="347472"/>
            <a:ext cx="566928" cy="384048"/>
          </a:xfrm>
          <a:prstGeom prst="roundRect">
            <a:avLst>
              <a:gd name="adj" fmla="val 19048"/>
            </a:avLst>
          </a:prstGeom>
          <a:solidFill>
            <a:srgbClr val="14284B"/>
          </a:solidFill>
          <a:ln w="12700">
            <a:solidFill>
              <a:srgbClr val="14284B"/>
            </a:solidFill>
            <a:prstDash val="solid"/>
          </a:ln>
        </p:spPr>
      </p:sp>
      <p:sp>
        <p:nvSpPr>
          <p:cNvPr id="6" name="Text 4"/>
          <p:cNvSpPr txBox="1"/>
          <p:nvPr/>
        </p:nvSpPr>
        <p:spPr>
          <a:xfrm>
            <a:off x="10954512" y="347472"/>
            <a:ext cx="566928" cy="384048"/>
          </a:xfrm>
          <a:prstGeom prst="rect">
            <a:avLst/>
          </a:prstGeom>
          <a:noFill/>
          <a:ln/>
        </p:spPr>
        <p:txBody>
          <a:bodyPr wrap="square" lIns="0" tIns="0" rIns="0" bIns="0" rtlCol="0" anchor="ctr"/>
          <a:lstStyle/>
          <a:p>
            <a:pPr algn="ctr" indent="0" marL="0">
              <a:buNone/>
            </a:pPr>
            <a:r>
              <a:rPr lang="en-US" sz="900" b="1" dirty="0">
                <a:solidFill>
                  <a:srgbClr val="FFFFFF"/>
                </a:solidFill>
              </a:rPr>
              <a:t>SYNC</a:t>
            </a:r>
            <a:endParaRPr lang="en-US" sz="900" dirty="0"/>
          </a:p>
        </p:txBody>
      </p:sp>
      <p:sp>
        <p:nvSpPr>
          <p:cNvPr id="7" name="triad-SIMULATE"/>
          <p:cNvSpPr/>
          <p:nvPr/>
        </p:nvSpPr>
        <p:spPr>
          <a:xfrm>
            <a:off x="11576304" y="347472"/>
            <a:ext cx="566928" cy="384048"/>
          </a:xfrm>
          <a:prstGeom prst="roundRect">
            <a:avLst>
              <a:gd name="adj" fmla="val 19048"/>
            </a:avLst>
          </a:prstGeom>
          <a:solidFill>
            <a:srgbClr val="E7EBF2"/>
          </a:solidFill>
          <a:ln w="12700">
            <a:solidFill>
              <a:srgbClr val="E7EBF2"/>
            </a:solidFill>
            <a:prstDash val="solid"/>
          </a:ln>
        </p:spPr>
      </p:sp>
      <p:sp>
        <p:nvSpPr>
          <p:cNvPr id="8" name="Text 6"/>
          <p:cNvSpPr txBox="1"/>
          <p:nvPr/>
        </p:nvSpPr>
        <p:spPr>
          <a:xfrm>
            <a:off x="11576304" y="347472"/>
            <a:ext cx="566928" cy="384048"/>
          </a:xfrm>
          <a:prstGeom prst="rect">
            <a:avLst/>
          </a:prstGeom>
          <a:noFill/>
          <a:ln/>
        </p:spPr>
        <p:txBody>
          <a:bodyPr wrap="square" lIns="0" tIns="0" rIns="0" bIns="0" rtlCol="0" anchor="ctr"/>
          <a:lstStyle/>
          <a:p>
            <a:pPr algn="ctr" indent="0" marL="0">
              <a:buNone/>
            </a:pPr>
            <a:r>
              <a:rPr lang="en-US" sz="900" b="1" dirty="0">
                <a:solidFill>
                  <a:srgbClr val="8A93A3"/>
                </a:solidFill>
              </a:rPr>
              <a:t>SIM</a:t>
            </a:r>
            <a:endParaRPr lang="en-US" sz="900" dirty="0"/>
          </a:p>
        </p:txBody>
      </p:sp>
      <p:pic>
        <p:nvPicPr>
          <p:cNvPr id="9" name="illness_detection.png" descr="F:\Digital Twin\docs\figures\illness_detection.png">    </p:cNvPr>
          <p:cNvPicPr>
            <a:picLocks noChangeAspect="1"/>
          </p:cNvPicPr>
          <p:nvPr/>
        </p:nvPicPr>
        <p:blipFill>
          <a:blip r:embed="rId1"/>
          <a:srcRect l="0" r="0" t="0" b="0"/>
          <a:stretch/>
        </p:blipFill>
        <p:spPr>
          <a:xfrm>
            <a:off x="457200" y="1234440"/>
            <a:ext cx="5852160" cy="4297680"/>
          </a:xfrm>
          <a:prstGeom prst="rect">
            <a:avLst/>
          </a:prstGeom>
        </p:spPr>
      </p:pic>
      <p:sp>
        <p:nvSpPr>
          <p:cNvPr id="10" name="Text 7"/>
          <p:cNvSpPr txBox="1"/>
          <p:nvPr/>
        </p:nvSpPr>
        <p:spPr>
          <a:xfrm>
            <a:off x="6766560" y="1371600"/>
            <a:ext cx="4846320" cy="685800"/>
          </a:xfrm>
          <a:prstGeom prst="rect">
            <a:avLst/>
          </a:prstGeom>
          <a:noFill/>
          <a:ln/>
        </p:spPr>
        <p:txBody>
          <a:bodyPr wrap="square" lIns="0" tIns="0" rIns="0" bIns="0" rtlCol="0" anchor="b"/>
          <a:lstStyle/>
          <a:p>
            <a:pPr indent="0" marL="0">
              <a:buNone/>
            </a:pPr>
            <a:r>
              <a:rPr lang="en-US" sz="4000" b="1" dirty="0">
                <a:solidFill>
                  <a:srgbClr val="14284B"/>
                </a:solidFill>
                <a:latin typeface="Calibri" pitchFamily="34" charset="0"/>
                <a:ea typeface="Calibri" pitchFamily="34" charset="-122"/>
                <a:cs typeface="Calibri" pitchFamily="34" charset="-120"/>
              </a:rPr>
              <a:t>0.89</a:t>
            </a:r>
            <a:endParaRPr lang="en-US" sz="4000" dirty="0"/>
          </a:p>
        </p:txBody>
      </p:sp>
      <p:sp>
        <p:nvSpPr>
          <p:cNvPr id="11" name="Text 8"/>
          <p:cNvSpPr txBox="1"/>
          <p:nvPr/>
        </p:nvSpPr>
        <p:spPr>
          <a:xfrm>
            <a:off x="6766560" y="2084832"/>
            <a:ext cx="4846320" cy="548640"/>
          </a:xfrm>
          <a:prstGeom prst="rect">
            <a:avLst/>
          </a:prstGeom>
          <a:noFill/>
          <a:ln/>
        </p:spPr>
        <p:txBody>
          <a:bodyPr wrap="square" lIns="0" tIns="0" rIns="0" bIns="0" rtlCol="0" anchor="t"/>
          <a:lstStyle/>
          <a:p>
            <a:pPr indent="0" marL="0">
              <a:buNone/>
            </a:pPr>
            <a:r>
              <a:rPr lang="en-US" sz="1300" dirty="0">
                <a:solidFill>
                  <a:srgbClr val="4A5260"/>
                </a:solidFill>
              </a:rPr>
              <a:t>AUROC for identifying ill days from the synced insulin-sensitivity trace (55 ill days, 2786 patient-days)</a:t>
            </a:r>
            <a:endParaRPr lang="en-US" sz="1300" dirty="0"/>
          </a:p>
        </p:txBody>
      </p:sp>
      <p:sp>
        <p:nvSpPr>
          <p:cNvPr id="12" name="Text 9"/>
          <p:cNvSpPr txBox="1"/>
          <p:nvPr/>
        </p:nvSpPr>
        <p:spPr>
          <a:xfrm>
            <a:off x="6766560" y="3017520"/>
            <a:ext cx="4846320" cy="685800"/>
          </a:xfrm>
          <a:prstGeom prst="rect">
            <a:avLst/>
          </a:prstGeom>
          <a:noFill/>
          <a:ln/>
        </p:spPr>
        <p:txBody>
          <a:bodyPr wrap="square" lIns="0" tIns="0" rIns="0" bIns="0" rtlCol="0" anchor="b"/>
          <a:lstStyle/>
          <a:p>
            <a:pPr indent="0" marL="0">
              <a:buNone/>
            </a:pPr>
            <a:r>
              <a:rPr lang="en-US" sz="4000" b="1" dirty="0">
                <a:solidFill>
                  <a:srgbClr val="14284B"/>
                </a:solidFill>
                <a:latin typeface="Calibri" pitchFamily="34" charset="0"/>
                <a:ea typeface="Calibri" pitchFamily="34" charset="-122"/>
                <a:cs typeface="Calibri" pitchFamily="34" charset="-120"/>
              </a:rPr>
              <a:t>0.57× vs 0.87×</a:t>
            </a:r>
            <a:endParaRPr lang="en-US" sz="4000" dirty="0"/>
          </a:p>
        </p:txBody>
      </p:sp>
      <p:sp>
        <p:nvSpPr>
          <p:cNvPr id="13" name="Text 10"/>
          <p:cNvSpPr txBox="1"/>
          <p:nvPr/>
        </p:nvSpPr>
        <p:spPr>
          <a:xfrm>
            <a:off x="6766560" y="3730752"/>
            <a:ext cx="4846320" cy="548640"/>
          </a:xfrm>
          <a:prstGeom prst="rect">
            <a:avLst/>
          </a:prstGeom>
          <a:noFill/>
          <a:ln/>
        </p:spPr>
        <p:txBody>
          <a:bodyPr wrap="square" lIns="0" tIns="0" rIns="0" bIns="0" rtlCol="0" anchor="t"/>
          <a:lstStyle/>
          <a:p>
            <a:pPr indent="0" marL="0">
              <a:buNone/>
            </a:pPr>
            <a:r>
              <a:rPr lang="en-US" sz="1300" dirty="0">
                <a:solidFill>
                  <a:srgbClr val="4A5260"/>
                </a:solidFill>
              </a:rPr>
              <a:t>insulin sensitivity relative to baseline on ill vs well days</a:t>
            </a:r>
            <a:endParaRPr lang="en-US" sz="1300" dirty="0"/>
          </a:p>
        </p:txBody>
      </p:sp>
      <p:sp>
        <p:nvSpPr>
          <p:cNvPr id="14" name="Text 11"/>
          <p:cNvSpPr txBox="1"/>
          <p:nvPr/>
        </p:nvSpPr>
        <p:spPr>
          <a:xfrm>
            <a:off x="6766560" y="4663440"/>
            <a:ext cx="4937760" cy="1188720"/>
          </a:xfrm>
          <a:prstGeom prst="rect">
            <a:avLst/>
          </a:prstGeom>
          <a:noFill/>
          <a:ln/>
        </p:spPr>
        <p:txBody>
          <a:bodyPr wrap="square" lIns="0" tIns="0" rIns="0" bIns="0" rtlCol="0" anchor="ctr"/>
          <a:lstStyle/>
          <a:p>
            <a:pPr indent="0" marL="0">
              <a:buNone/>
            </a:pPr>
            <a:r>
              <a:rPr lang="en-US" sz="1400" dirty="0">
                <a:solidFill>
                  <a:srgbClr val="4A5260"/>
                </a:solidFill>
              </a:rPr>
              <a:t>The Unscented Kalman Filter tracks a drifting insulin-sensitivity factor every 5 minutes. A sustained drop prompts the dashboard insight: check for infection, stress or steroid use.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SIMULATE: TwinNet fuses both streams with the twin</a:t>
            </a:r>
            <a:endParaRPr lang="en-US" sz="3000" dirty="0"/>
          </a:p>
        </p:txBody>
      </p:sp>
      <p:sp>
        <p:nvSpPr>
          <p:cNvPr id="3" name="triad-MODEL"/>
          <p:cNvSpPr/>
          <p:nvPr/>
        </p:nvSpPr>
        <p:spPr>
          <a:xfrm>
            <a:off x="10332720" y="347472"/>
            <a:ext cx="566928" cy="384048"/>
          </a:xfrm>
          <a:prstGeom prst="roundRect">
            <a:avLst>
              <a:gd name="adj" fmla="val 19048"/>
            </a:avLst>
          </a:prstGeom>
          <a:solidFill>
            <a:srgbClr val="E7EBF2"/>
          </a:solidFill>
          <a:ln w="12700">
            <a:solidFill>
              <a:srgbClr val="E7EBF2"/>
            </a:solidFill>
            <a:prstDash val="solid"/>
          </a:ln>
        </p:spPr>
      </p:sp>
      <p:sp>
        <p:nvSpPr>
          <p:cNvPr id="4" name="Text 2"/>
          <p:cNvSpPr txBox="1"/>
          <p:nvPr/>
        </p:nvSpPr>
        <p:spPr>
          <a:xfrm>
            <a:off x="10332720" y="347472"/>
            <a:ext cx="566928" cy="384048"/>
          </a:xfrm>
          <a:prstGeom prst="rect">
            <a:avLst/>
          </a:prstGeom>
          <a:noFill/>
          <a:ln/>
        </p:spPr>
        <p:txBody>
          <a:bodyPr wrap="square" lIns="0" tIns="0" rIns="0" bIns="0" rtlCol="0" anchor="ctr"/>
          <a:lstStyle/>
          <a:p>
            <a:pPr algn="ctr" indent="0" marL="0">
              <a:buNone/>
            </a:pPr>
            <a:r>
              <a:rPr lang="en-US" sz="900" b="1" dirty="0">
                <a:solidFill>
                  <a:srgbClr val="8A93A3"/>
                </a:solidFill>
              </a:rPr>
              <a:t>MODEL</a:t>
            </a:r>
            <a:endParaRPr lang="en-US" sz="900" dirty="0"/>
          </a:p>
        </p:txBody>
      </p:sp>
      <p:sp>
        <p:nvSpPr>
          <p:cNvPr id="5" name="triad-SYNC"/>
          <p:cNvSpPr/>
          <p:nvPr/>
        </p:nvSpPr>
        <p:spPr>
          <a:xfrm>
            <a:off x="10954512" y="347472"/>
            <a:ext cx="566928" cy="384048"/>
          </a:xfrm>
          <a:prstGeom prst="roundRect">
            <a:avLst>
              <a:gd name="adj" fmla="val 19048"/>
            </a:avLst>
          </a:prstGeom>
          <a:solidFill>
            <a:srgbClr val="E7EBF2"/>
          </a:solidFill>
          <a:ln w="12700">
            <a:solidFill>
              <a:srgbClr val="E7EBF2"/>
            </a:solidFill>
            <a:prstDash val="solid"/>
          </a:ln>
        </p:spPr>
      </p:sp>
      <p:sp>
        <p:nvSpPr>
          <p:cNvPr id="6" name="Text 4"/>
          <p:cNvSpPr txBox="1"/>
          <p:nvPr/>
        </p:nvSpPr>
        <p:spPr>
          <a:xfrm>
            <a:off x="10954512" y="347472"/>
            <a:ext cx="566928" cy="384048"/>
          </a:xfrm>
          <a:prstGeom prst="rect">
            <a:avLst/>
          </a:prstGeom>
          <a:noFill/>
          <a:ln/>
        </p:spPr>
        <p:txBody>
          <a:bodyPr wrap="square" lIns="0" tIns="0" rIns="0" bIns="0" rtlCol="0" anchor="ctr"/>
          <a:lstStyle/>
          <a:p>
            <a:pPr algn="ctr" indent="0" marL="0">
              <a:buNone/>
            </a:pPr>
            <a:r>
              <a:rPr lang="en-US" sz="900" b="1" dirty="0">
                <a:solidFill>
                  <a:srgbClr val="8A93A3"/>
                </a:solidFill>
              </a:rPr>
              <a:t>SYNC</a:t>
            </a:r>
            <a:endParaRPr lang="en-US" sz="900" dirty="0"/>
          </a:p>
        </p:txBody>
      </p:sp>
      <p:sp>
        <p:nvSpPr>
          <p:cNvPr id="7" name="triad-SIMULATE"/>
          <p:cNvSpPr/>
          <p:nvPr/>
        </p:nvSpPr>
        <p:spPr>
          <a:xfrm>
            <a:off x="11576304" y="347472"/>
            <a:ext cx="566928" cy="384048"/>
          </a:xfrm>
          <a:prstGeom prst="roundRect">
            <a:avLst>
              <a:gd name="adj" fmla="val 19048"/>
            </a:avLst>
          </a:prstGeom>
          <a:solidFill>
            <a:srgbClr val="14284B"/>
          </a:solidFill>
          <a:ln w="12700">
            <a:solidFill>
              <a:srgbClr val="14284B"/>
            </a:solidFill>
            <a:prstDash val="solid"/>
          </a:ln>
        </p:spPr>
      </p:sp>
      <p:sp>
        <p:nvSpPr>
          <p:cNvPr id="8" name="Text 6"/>
          <p:cNvSpPr txBox="1"/>
          <p:nvPr/>
        </p:nvSpPr>
        <p:spPr>
          <a:xfrm>
            <a:off x="11576304" y="347472"/>
            <a:ext cx="566928" cy="384048"/>
          </a:xfrm>
          <a:prstGeom prst="rect">
            <a:avLst/>
          </a:prstGeom>
          <a:noFill/>
          <a:ln/>
        </p:spPr>
        <p:txBody>
          <a:bodyPr wrap="square" lIns="0" tIns="0" rIns="0" bIns="0" rtlCol="0" anchor="ctr"/>
          <a:lstStyle/>
          <a:p>
            <a:pPr algn="ctr" indent="0" marL="0">
              <a:buNone/>
            </a:pPr>
            <a:r>
              <a:rPr lang="en-US" sz="900" b="1" dirty="0">
                <a:solidFill>
                  <a:srgbClr val="FFFFFF"/>
                </a:solidFill>
              </a:rPr>
              <a:t>SIM</a:t>
            </a:r>
            <a:endParaRPr lang="en-US" sz="900" dirty="0"/>
          </a:p>
        </p:txBody>
      </p:sp>
      <p:sp>
        <p:nvSpPr>
          <p:cNvPr id="9" name="Shape 7"/>
          <p:cNvSpPr/>
          <p:nvPr/>
        </p:nvSpPr>
        <p:spPr>
          <a:xfrm>
            <a:off x="457200" y="1554480"/>
            <a:ext cx="2743200" cy="868680"/>
          </a:xfrm>
          <a:prstGeom prst="roundRect">
            <a:avLst>
              <a:gd name="adj" fmla="val 8421"/>
            </a:avLst>
          </a:prstGeom>
          <a:solidFill>
            <a:srgbClr val="FDF0EA"/>
          </a:solidFill>
          <a:ln w="12700">
            <a:solidFill>
              <a:srgbClr val="FDF0EA"/>
            </a:solidFill>
            <a:prstDash val="solid"/>
          </a:ln>
        </p:spPr>
      </p:sp>
      <p:sp>
        <p:nvSpPr>
          <p:cNvPr id="10" name="Text 8"/>
          <p:cNvSpPr txBox="1"/>
          <p:nvPr/>
        </p:nvSpPr>
        <p:spPr>
          <a:xfrm>
            <a:off x="548640" y="1554480"/>
            <a:ext cx="2560320" cy="868680"/>
          </a:xfrm>
          <a:prstGeom prst="rect">
            <a:avLst/>
          </a:prstGeom>
          <a:noFill/>
          <a:ln/>
        </p:spPr>
        <p:txBody>
          <a:bodyPr wrap="square" lIns="0" tIns="0" rIns="0" bIns="0" rtlCol="0" anchor="ctr"/>
          <a:lstStyle/>
          <a:p>
            <a:pPr algn="ctr" indent="0" marL="0">
              <a:buNone/>
            </a:pPr>
            <a:r>
              <a:rPr lang="en-US" sz="1300" dirty="0">
                <a:solidFill>
                  <a:srgbClr val="222833"/>
                </a:solidFill>
              </a:rPr>
              <a:t>6 h × 21 channels: CGM, HR, HRV, steps, sleep, carbs/insulin on board</a:t>
            </a:r>
            <a:endParaRPr lang="en-US" sz="1300" dirty="0"/>
          </a:p>
        </p:txBody>
      </p:sp>
      <p:sp>
        <p:nvSpPr>
          <p:cNvPr id="11" name="Shape 9"/>
          <p:cNvSpPr/>
          <p:nvPr/>
        </p:nvSpPr>
        <p:spPr>
          <a:xfrm>
            <a:off x="457200" y="2697480"/>
            <a:ext cx="2743200" cy="868680"/>
          </a:xfrm>
          <a:prstGeom prst="roundRect">
            <a:avLst>
              <a:gd name="adj" fmla="val 8421"/>
            </a:avLst>
          </a:prstGeom>
          <a:solidFill>
            <a:srgbClr val="EAF2FC"/>
          </a:solidFill>
          <a:ln w="12700">
            <a:solidFill>
              <a:srgbClr val="EAF2FC"/>
            </a:solidFill>
            <a:prstDash val="solid"/>
          </a:ln>
        </p:spPr>
      </p:sp>
      <p:sp>
        <p:nvSpPr>
          <p:cNvPr id="12" name="Text 10"/>
          <p:cNvSpPr txBox="1"/>
          <p:nvPr/>
        </p:nvSpPr>
        <p:spPr>
          <a:xfrm>
            <a:off x="548640" y="2697480"/>
            <a:ext cx="2560320" cy="868680"/>
          </a:xfrm>
          <a:prstGeom prst="rect">
            <a:avLst/>
          </a:prstGeom>
          <a:noFill/>
          <a:ln/>
        </p:spPr>
        <p:txBody>
          <a:bodyPr wrap="square" lIns="0" tIns="0" rIns="0" bIns="0" rtlCol="0" anchor="ctr"/>
          <a:lstStyle/>
          <a:p>
            <a:pPr algn="ctr" indent="0" marL="0">
              <a:buNone/>
            </a:pPr>
            <a:r>
              <a:rPr lang="en-US" sz="1300" dirty="0">
                <a:solidFill>
                  <a:srgbClr val="222833"/>
                </a:solidFill>
              </a:rPr>
              <a:t>EHR vector: labs, therapy, comorbidities, genetics</a:t>
            </a:r>
            <a:endParaRPr lang="en-US" sz="1300" dirty="0"/>
          </a:p>
        </p:txBody>
      </p:sp>
      <p:sp>
        <p:nvSpPr>
          <p:cNvPr id="13" name="Shape 11"/>
          <p:cNvSpPr/>
          <p:nvPr/>
        </p:nvSpPr>
        <p:spPr>
          <a:xfrm>
            <a:off x="457200" y="3840480"/>
            <a:ext cx="2743200" cy="868680"/>
          </a:xfrm>
          <a:prstGeom prst="roundRect">
            <a:avLst>
              <a:gd name="adj" fmla="val 8421"/>
            </a:avLst>
          </a:prstGeom>
          <a:solidFill>
            <a:srgbClr val="14284B"/>
          </a:solidFill>
          <a:ln w="12700">
            <a:solidFill>
              <a:srgbClr val="14284B"/>
            </a:solidFill>
            <a:prstDash val="solid"/>
          </a:ln>
        </p:spPr>
      </p:sp>
      <p:sp>
        <p:nvSpPr>
          <p:cNvPr id="14" name="Text 12"/>
          <p:cNvSpPr txBox="1"/>
          <p:nvPr/>
        </p:nvSpPr>
        <p:spPr>
          <a:xfrm>
            <a:off x="548640" y="3840480"/>
            <a:ext cx="2560320" cy="868680"/>
          </a:xfrm>
          <a:prstGeom prst="rect">
            <a:avLst/>
          </a:prstGeom>
          <a:noFill/>
          <a:ln/>
        </p:spPr>
        <p:txBody>
          <a:bodyPr wrap="square" lIns="0" tIns="0" rIns="0" bIns="0" rtlCol="0" anchor="ctr"/>
          <a:lstStyle/>
          <a:p>
            <a:pPr algn="ctr" indent="0" marL="0">
              <a:buNone/>
            </a:pPr>
            <a:r>
              <a:rPr lang="en-US" sz="1300" dirty="0">
                <a:solidFill>
                  <a:srgbClr val="FFFFFF"/>
                </a:solidFill>
              </a:rPr>
              <a:t>Physics twin forecast + synced hidden state</a:t>
            </a:r>
            <a:endParaRPr lang="en-US" sz="1300" dirty="0"/>
          </a:p>
        </p:txBody>
      </p:sp>
      <p:sp>
        <p:nvSpPr>
          <p:cNvPr id="15" name="Shape 13"/>
          <p:cNvSpPr/>
          <p:nvPr/>
        </p:nvSpPr>
        <p:spPr>
          <a:xfrm>
            <a:off x="3749040" y="1554480"/>
            <a:ext cx="2103120" cy="868680"/>
          </a:xfrm>
          <a:prstGeom prst="roundRect">
            <a:avLst>
              <a:gd name="adj" fmla="val 8421"/>
            </a:avLst>
          </a:prstGeom>
          <a:solidFill>
            <a:srgbClr val="F2F5FA"/>
          </a:solidFill>
          <a:ln w="12700">
            <a:solidFill>
              <a:srgbClr val="F2F5FA"/>
            </a:solidFill>
            <a:prstDash val="solid"/>
          </a:ln>
        </p:spPr>
      </p:sp>
      <p:sp>
        <p:nvSpPr>
          <p:cNvPr id="16" name="Text 14"/>
          <p:cNvSpPr txBox="1"/>
          <p:nvPr/>
        </p:nvSpPr>
        <p:spPr>
          <a:xfrm>
            <a:off x="3840480" y="1554480"/>
            <a:ext cx="1920240" cy="868680"/>
          </a:xfrm>
          <a:prstGeom prst="rect">
            <a:avLst/>
          </a:prstGeom>
          <a:noFill/>
          <a:ln/>
        </p:spPr>
        <p:txBody>
          <a:bodyPr wrap="square" lIns="0" tIns="0" rIns="0" bIns="0" rtlCol="0" anchor="ctr"/>
          <a:lstStyle/>
          <a:p>
            <a:pPr algn="ctr" indent="0" marL="0">
              <a:buNone/>
            </a:pPr>
            <a:r>
              <a:rPr lang="en-US" sz="1300" dirty="0">
                <a:solidFill>
                  <a:srgbClr val="222833"/>
                </a:solidFill>
              </a:rPr>
              <a:t>Causal dilated TCN</a:t>
            </a:r>
            <a:endParaRPr lang="en-US" sz="1300" dirty="0"/>
          </a:p>
        </p:txBody>
      </p:sp>
      <p:sp>
        <p:nvSpPr>
          <p:cNvPr id="17" name="Shape 15"/>
          <p:cNvSpPr/>
          <p:nvPr/>
        </p:nvSpPr>
        <p:spPr>
          <a:xfrm>
            <a:off x="3749040" y="2697480"/>
            <a:ext cx="2103120" cy="868680"/>
          </a:xfrm>
          <a:prstGeom prst="roundRect">
            <a:avLst>
              <a:gd name="adj" fmla="val 8421"/>
            </a:avLst>
          </a:prstGeom>
          <a:solidFill>
            <a:srgbClr val="F2F5FA"/>
          </a:solidFill>
          <a:ln w="12700">
            <a:solidFill>
              <a:srgbClr val="F2F5FA"/>
            </a:solidFill>
            <a:prstDash val="solid"/>
          </a:ln>
        </p:spPr>
      </p:sp>
      <p:sp>
        <p:nvSpPr>
          <p:cNvPr id="18" name="Text 16"/>
          <p:cNvSpPr txBox="1"/>
          <p:nvPr/>
        </p:nvSpPr>
        <p:spPr>
          <a:xfrm>
            <a:off x="3840480" y="2697480"/>
            <a:ext cx="1920240" cy="868680"/>
          </a:xfrm>
          <a:prstGeom prst="rect">
            <a:avLst/>
          </a:prstGeom>
          <a:noFill/>
          <a:ln/>
        </p:spPr>
        <p:txBody>
          <a:bodyPr wrap="square" lIns="0" tIns="0" rIns="0" bIns="0" rtlCol="0" anchor="ctr"/>
          <a:lstStyle/>
          <a:p>
            <a:pPr algn="ctr" indent="0" marL="0">
              <a:buNone/>
            </a:pPr>
            <a:r>
              <a:rPr lang="en-US" sz="1300" dirty="0">
                <a:solidFill>
                  <a:srgbClr val="222833"/>
                </a:solidFill>
              </a:rPr>
              <a:t>MLP → FiLM conditions the TCN</a:t>
            </a:r>
            <a:endParaRPr lang="en-US" sz="1300" dirty="0"/>
          </a:p>
        </p:txBody>
      </p:sp>
      <p:sp>
        <p:nvSpPr>
          <p:cNvPr id="19" name="Shape 17"/>
          <p:cNvSpPr/>
          <p:nvPr/>
        </p:nvSpPr>
        <p:spPr>
          <a:xfrm>
            <a:off x="3749040" y="3840480"/>
            <a:ext cx="2103120" cy="868680"/>
          </a:xfrm>
          <a:prstGeom prst="roundRect">
            <a:avLst>
              <a:gd name="adj" fmla="val 8421"/>
            </a:avLst>
          </a:prstGeom>
          <a:solidFill>
            <a:srgbClr val="F2F5FA"/>
          </a:solidFill>
          <a:ln w="12700">
            <a:solidFill>
              <a:srgbClr val="F2F5FA"/>
            </a:solidFill>
            <a:prstDash val="solid"/>
          </a:ln>
        </p:spPr>
      </p:sp>
      <p:sp>
        <p:nvSpPr>
          <p:cNvPr id="20" name="Text 18"/>
          <p:cNvSpPr txBox="1"/>
          <p:nvPr/>
        </p:nvSpPr>
        <p:spPr>
          <a:xfrm>
            <a:off x="3840480" y="3840480"/>
            <a:ext cx="1920240" cy="868680"/>
          </a:xfrm>
          <a:prstGeom prst="rect">
            <a:avLst/>
          </a:prstGeom>
          <a:noFill/>
          <a:ln/>
        </p:spPr>
        <p:txBody>
          <a:bodyPr wrap="square" lIns="0" tIns="0" rIns="0" bIns="0" rtlCol="0" anchor="ctr"/>
          <a:lstStyle/>
          <a:p>
            <a:pPr algn="ctr" indent="0" marL="0">
              <a:buNone/>
            </a:pPr>
            <a:r>
              <a:rPr lang="en-US" sz="1300" dirty="0">
                <a:solidFill>
                  <a:srgbClr val="222833"/>
                </a:solidFill>
              </a:rPr>
              <a:t>MLP</a:t>
            </a:r>
            <a:endParaRPr lang="en-US" sz="1300" dirty="0"/>
          </a:p>
        </p:txBody>
      </p:sp>
      <p:sp>
        <p:nvSpPr>
          <p:cNvPr id="21" name="Shape 19"/>
          <p:cNvSpPr/>
          <p:nvPr/>
        </p:nvSpPr>
        <p:spPr>
          <a:xfrm>
            <a:off x="6400800" y="2697480"/>
            <a:ext cx="1828800" cy="868680"/>
          </a:xfrm>
          <a:prstGeom prst="roundRect">
            <a:avLst>
              <a:gd name="adj" fmla="val 8421"/>
            </a:avLst>
          </a:prstGeom>
          <a:solidFill>
            <a:srgbClr val="F2F5FA"/>
          </a:solidFill>
          <a:ln w="12700">
            <a:solidFill>
              <a:srgbClr val="F2F5FA"/>
            </a:solidFill>
            <a:prstDash val="solid"/>
          </a:ln>
        </p:spPr>
      </p:sp>
      <p:sp>
        <p:nvSpPr>
          <p:cNvPr id="22" name="Text 20"/>
          <p:cNvSpPr txBox="1"/>
          <p:nvPr/>
        </p:nvSpPr>
        <p:spPr>
          <a:xfrm>
            <a:off x="6492240" y="2697480"/>
            <a:ext cx="1645920" cy="868680"/>
          </a:xfrm>
          <a:prstGeom prst="rect">
            <a:avLst/>
          </a:prstGeom>
          <a:noFill/>
          <a:ln/>
        </p:spPr>
        <p:txBody>
          <a:bodyPr wrap="square" lIns="0" tIns="0" rIns="0" bIns="0" rtlCol="0" anchor="ctr"/>
          <a:lstStyle/>
          <a:p>
            <a:pPr algn="ctr" indent="0" marL="0">
              <a:buNone/>
            </a:pPr>
            <a:r>
              <a:rPr lang="en-US" sz="1300" dirty="0">
                <a:solidFill>
                  <a:srgbClr val="222833"/>
                </a:solidFill>
              </a:rPr>
              <a:t>Fusion</a:t>
            </a:r>
            <a:endParaRPr lang="en-US" sz="1300" dirty="0"/>
          </a:p>
        </p:txBody>
      </p:sp>
      <p:sp>
        <p:nvSpPr>
          <p:cNvPr id="23" name="Shape 21"/>
          <p:cNvSpPr/>
          <p:nvPr/>
        </p:nvSpPr>
        <p:spPr>
          <a:xfrm>
            <a:off x="8778240" y="1737360"/>
            <a:ext cx="2926080" cy="914400"/>
          </a:xfrm>
          <a:prstGeom prst="roundRect">
            <a:avLst>
              <a:gd name="adj" fmla="val 8000"/>
            </a:avLst>
          </a:prstGeom>
          <a:solidFill>
            <a:srgbClr val="EAF7F1"/>
          </a:solidFill>
          <a:ln w="12700">
            <a:solidFill>
              <a:srgbClr val="EAF7F1"/>
            </a:solidFill>
            <a:prstDash val="solid"/>
          </a:ln>
        </p:spPr>
      </p:sp>
      <p:sp>
        <p:nvSpPr>
          <p:cNvPr id="24" name="Text 22"/>
          <p:cNvSpPr txBox="1"/>
          <p:nvPr/>
        </p:nvSpPr>
        <p:spPr>
          <a:xfrm>
            <a:off x="8869680" y="1737360"/>
            <a:ext cx="2743200" cy="914400"/>
          </a:xfrm>
          <a:prstGeom prst="rect">
            <a:avLst/>
          </a:prstGeom>
          <a:noFill/>
          <a:ln/>
        </p:spPr>
        <p:txBody>
          <a:bodyPr wrap="square" lIns="0" tIns="0" rIns="0" bIns="0" rtlCol="0" anchor="ctr"/>
          <a:lstStyle/>
          <a:p>
            <a:pPr algn="ctr" indent="0" marL="0">
              <a:buNone/>
            </a:pPr>
            <a:r>
              <a:rPr lang="en-US" sz="1300" dirty="0">
                <a:solidFill>
                  <a:srgbClr val="222833"/>
                </a:solidFill>
              </a:rPr>
              <a:t>Glucose 5–120 min: median + 80% band (conformal)</a:t>
            </a:r>
            <a:endParaRPr lang="en-US" sz="1300" dirty="0"/>
          </a:p>
        </p:txBody>
      </p:sp>
      <p:sp>
        <p:nvSpPr>
          <p:cNvPr id="25" name="Shape 23"/>
          <p:cNvSpPr/>
          <p:nvPr/>
        </p:nvSpPr>
        <p:spPr>
          <a:xfrm>
            <a:off x="8778240" y="2926080"/>
            <a:ext cx="2926080" cy="914400"/>
          </a:xfrm>
          <a:prstGeom prst="roundRect">
            <a:avLst>
              <a:gd name="adj" fmla="val 8000"/>
            </a:avLst>
          </a:prstGeom>
          <a:solidFill>
            <a:srgbClr val="EAF7F1"/>
          </a:solidFill>
          <a:ln w="12700">
            <a:solidFill>
              <a:srgbClr val="EAF7F1"/>
            </a:solidFill>
            <a:prstDash val="solid"/>
          </a:ln>
        </p:spPr>
      </p:sp>
      <p:sp>
        <p:nvSpPr>
          <p:cNvPr id="26" name="Text 24"/>
          <p:cNvSpPr txBox="1"/>
          <p:nvPr/>
        </p:nvSpPr>
        <p:spPr>
          <a:xfrm>
            <a:off x="8869680" y="2926080"/>
            <a:ext cx="2743200" cy="914400"/>
          </a:xfrm>
          <a:prstGeom prst="rect">
            <a:avLst/>
          </a:prstGeom>
          <a:noFill/>
          <a:ln/>
        </p:spPr>
        <p:txBody>
          <a:bodyPr wrap="square" lIns="0" tIns="0" rIns="0" bIns="0" rtlCol="0" anchor="ctr"/>
          <a:lstStyle/>
          <a:p>
            <a:pPr algn="ctr" indent="0" marL="0">
              <a:buNone/>
            </a:pPr>
            <a:r>
              <a:rPr lang="en-US" sz="1300" dirty="0">
                <a:solidFill>
                  <a:srgbClr val="222833"/>
                </a:solidFill>
              </a:rPr>
              <a:t>P(spike &gt; 180) · P(hypo &lt; 70) in 2 h</a:t>
            </a:r>
            <a:endParaRPr lang="en-US" sz="1300" dirty="0"/>
          </a:p>
        </p:txBody>
      </p:sp>
      <p:sp>
        <p:nvSpPr>
          <p:cNvPr id="27" name="Shape 25"/>
          <p:cNvSpPr/>
          <p:nvPr/>
        </p:nvSpPr>
        <p:spPr>
          <a:xfrm>
            <a:off x="8778240" y="4114800"/>
            <a:ext cx="2926080" cy="914400"/>
          </a:xfrm>
          <a:prstGeom prst="roundRect">
            <a:avLst>
              <a:gd name="adj" fmla="val 8000"/>
            </a:avLst>
          </a:prstGeom>
          <a:solidFill>
            <a:srgbClr val="FFF5DC"/>
          </a:solidFill>
          <a:ln w="12700">
            <a:solidFill>
              <a:srgbClr val="FFF5DC"/>
            </a:solidFill>
            <a:prstDash val="solid"/>
          </a:ln>
        </p:spPr>
      </p:sp>
      <p:sp>
        <p:nvSpPr>
          <p:cNvPr id="28" name="Text 26"/>
          <p:cNvSpPr txBox="1"/>
          <p:nvPr/>
        </p:nvSpPr>
        <p:spPr>
          <a:xfrm>
            <a:off x="8869680" y="4114800"/>
            <a:ext cx="2743200" cy="914400"/>
          </a:xfrm>
          <a:prstGeom prst="rect">
            <a:avLst/>
          </a:prstGeom>
          <a:noFill/>
          <a:ln/>
        </p:spPr>
        <p:txBody>
          <a:bodyPr wrap="square" lIns="0" tIns="0" rIns="0" bIns="0" rtlCol="0" anchor="ctr"/>
          <a:lstStyle/>
          <a:p>
            <a:pPr algn="ctr" indent="0" marL="0">
              <a:buNone/>
            </a:pPr>
            <a:r>
              <a:rPr lang="en-US" sz="1300" dirty="0">
                <a:solidFill>
                  <a:srgbClr val="222833"/>
                </a:solidFill>
              </a:rPr>
              <a:t>Gate: trust in physics per horizon</a:t>
            </a:r>
            <a:endParaRPr lang="en-US" sz="1300" dirty="0"/>
          </a:p>
        </p:txBody>
      </p:sp>
      <p:sp>
        <p:nvSpPr>
          <p:cNvPr id="29" name="Shape 27"/>
          <p:cNvSpPr/>
          <p:nvPr/>
        </p:nvSpPr>
        <p:spPr>
          <a:xfrm>
            <a:off x="3200400" y="1984248"/>
            <a:ext cx="548640" cy="0"/>
          </a:xfrm>
          <a:prstGeom prst="line">
            <a:avLst/>
          </a:prstGeom>
          <a:noFill/>
          <a:ln w="22225">
            <a:solidFill>
              <a:srgbClr val="8A93A3"/>
            </a:solidFill>
            <a:prstDash val="solid"/>
            <a:tailEnd type="triangle"/>
          </a:ln>
        </p:spPr>
      </p:sp>
      <p:sp>
        <p:nvSpPr>
          <p:cNvPr id="30" name="Shape 28"/>
          <p:cNvSpPr/>
          <p:nvPr/>
        </p:nvSpPr>
        <p:spPr>
          <a:xfrm>
            <a:off x="3200400" y="3127248"/>
            <a:ext cx="548640" cy="0"/>
          </a:xfrm>
          <a:prstGeom prst="line">
            <a:avLst/>
          </a:prstGeom>
          <a:noFill/>
          <a:ln w="22225">
            <a:solidFill>
              <a:srgbClr val="8A93A3"/>
            </a:solidFill>
            <a:prstDash val="solid"/>
            <a:tailEnd type="triangle"/>
          </a:ln>
        </p:spPr>
      </p:sp>
      <p:sp>
        <p:nvSpPr>
          <p:cNvPr id="31" name="Shape 29"/>
          <p:cNvSpPr/>
          <p:nvPr/>
        </p:nvSpPr>
        <p:spPr>
          <a:xfrm>
            <a:off x="3200400" y="4270248"/>
            <a:ext cx="548640" cy="0"/>
          </a:xfrm>
          <a:prstGeom prst="line">
            <a:avLst/>
          </a:prstGeom>
          <a:noFill/>
          <a:ln w="22225">
            <a:solidFill>
              <a:srgbClr val="8A93A3"/>
            </a:solidFill>
            <a:prstDash val="solid"/>
            <a:tailEnd type="triangle"/>
          </a:ln>
        </p:spPr>
      </p:sp>
      <p:sp>
        <p:nvSpPr>
          <p:cNvPr id="32" name="Shape 30"/>
          <p:cNvSpPr/>
          <p:nvPr/>
        </p:nvSpPr>
        <p:spPr>
          <a:xfrm>
            <a:off x="5852160" y="1984248"/>
            <a:ext cx="548640" cy="941832"/>
          </a:xfrm>
          <a:prstGeom prst="line">
            <a:avLst/>
          </a:prstGeom>
          <a:noFill/>
          <a:ln w="22225">
            <a:solidFill>
              <a:srgbClr val="8A93A3"/>
            </a:solidFill>
            <a:prstDash val="solid"/>
            <a:tailEnd type="triangle"/>
          </a:ln>
        </p:spPr>
      </p:sp>
      <p:sp>
        <p:nvSpPr>
          <p:cNvPr id="33" name="Shape 31"/>
          <p:cNvSpPr/>
          <p:nvPr/>
        </p:nvSpPr>
        <p:spPr>
          <a:xfrm>
            <a:off x="5852160" y="3127248"/>
            <a:ext cx="548640" cy="0"/>
          </a:xfrm>
          <a:prstGeom prst="line">
            <a:avLst/>
          </a:prstGeom>
          <a:noFill/>
          <a:ln w="22225">
            <a:solidFill>
              <a:srgbClr val="8A93A3"/>
            </a:solidFill>
            <a:prstDash val="solid"/>
            <a:tailEnd type="triangle"/>
          </a:ln>
        </p:spPr>
      </p:sp>
      <p:sp>
        <p:nvSpPr>
          <p:cNvPr id="34" name="Shape 32"/>
          <p:cNvSpPr/>
          <p:nvPr/>
        </p:nvSpPr>
        <p:spPr>
          <a:xfrm flipV="1">
            <a:off x="5852160" y="3337560"/>
            <a:ext cx="548640" cy="932688"/>
          </a:xfrm>
          <a:prstGeom prst="line">
            <a:avLst/>
          </a:prstGeom>
          <a:noFill/>
          <a:ln w="22225">
            <a:solidFill>
              <a:srgbClr val="8A93A3"/>
            </a:solidFill>
            <a:prstDash val="solid"/>
            <a:tailEnd type="triangle"/>
          </a:ln>
        </p:spPr>
      </p:sp>
      <p:sp>
        <p:nvSpPr>
          <p:cNvPr id="35" name="Shape 33"/>
          <p:cNvSpPr/>
          <p:nvPr/>
        </p:nvSpPr>
        <p:spPr>
          <a:xfrm flipV="1">
            <a:off x="8229600" y="2194560"/>
            <a:ext cx="548640" cy="932688"/>
          </a:xfrm>
          <a:prstGeom prst="line">
            <a:avLst/>
          </a:prstGeom>
          <a:noFill/>
          <a:ln w="22225">
            <a:solidFill>
              <a:srgbClr val="8A93A3"/>
            </a:solidFill>
            <a:prstDash val="solid"/>
            <a:tailEnd type="triangle"/>
          </a:ln>
        </p:spPr>
      </p:sp>
      <p:sp>
        <p:nvSpPr>
          <p:cNvPr id="36" name="Shape 34"/>
          <p:cNvSpPr/>
          <p:nvPr/>
        </p:nvSpPr>
        <p:spPr>
          <a:xfrm>
            <a:off x="8229600" y="3127248"/>
            <a:ext cx="548640" cy="256032"/>
          </a:xfrm>
          <a:prstGeom prst="line">
            <a:avLst/>
          </a:prstGeom>
          <a:noFill/>
          <a:ln w="22225">
            <a:solidFill>
              <a:srgbClr val="8A93A3"/>
            </a:solidFill>
            <a:prstDash val="solid"/>
            <a:tailEnd type="triangle"/>
          </a:ln>
        </p:spPr>
      </p:sp>
      <p:sp>
        <p:nvSpPr>
          <p:cNvPr id="37" name="Shape 35"/>
          <p:cNvSpPr/>
          <p:nvPr/>
        </p:nvSpPr>
        <p:spPr>
          <a:xfrm>
            <a:off x="8229600" y="3127248"/>
            <a:ext cx="548640" cy="1444752"/>
          </a:xfrm>
          <a:prstGeom prst="line">
            <a:avLst/>
          </a:prstGeom>
          <a:noFill/>
          <a:ln w="22225">
            <a:solidFill>
              <a:srgbClr val="8A93A3"/>
            </a:solidFill>
            <a:prstDash val="solid"/>
            <a:tailEnd type="triangle"/>
          </a:ln>
        </p:spPr>
      </p:sp>
      <p:sp>
        <p:nvSpPr>
          <p:cNvPr id="38" name="Text 36"/>
          <p:cNvSpPr txBox="1"/>
          <p:nvPr/>
        </p:nvSpPr>
        <p:spPr>
          <a:xfrm>
            <a:off x="457200" y="5120640"/>
            <a:ext cx="11247120" cy="822960"/>
          </a:xfrm>
          <a:prstGeom prst="rect">
            <a:avLst/>
          </a:prstGeom>
          <a:noFill/>
          <a:ln/>
        </p:spPr>
        <p:txBody>
          <a:bodyPr wrap="square" lIns="0" tIns="0" rIns="0" bIns="0" rtlCol="0" anchor="ctr"/>
          <a:lstStyle/>
          <a:p>
            <a:pPr indent="0" marL="0">
              <a:buNone/>
            </a:pPr>
            <a:r>
              <a:rPr lang="en-US" sz="1400" dirty="0">
                <a:solidFill>
                  <a:srgbClr val="14284B"/>
                </a:solidFill>
              </a:rPr>
              <a:t>Learned trust in the physics twin rises with horizon: 0.71 at 30 min, 0.82 at 60 min, 0.92 at 2 h. Modality dropout during training lets the same model run without wearables or EHR. Pretrained on synthetic patients, fine-tuned on real ones.</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Accurate 2-hour glucose forecasts on unseen patients</a:t>
            </a:r>
            <a:endParaRPr lang="en-US" sz="3000" dirty="0"/>
          </a:p>
        </p:txBody>
      </p:sp>
      <p:sp>
        <p:nvSpPr>
          <p:cNvPr id="3" name="Text 1"/>
          <p:cNvSpPr txBox="1"/>
          <p:nvPr/>
        </p:nvSpPr>
        <p:spPr>
          <a:xfrm>
            <a:off x="457200" y="987552"/>
            <a:ext cx="9692640" cy="365760"/>
          </a:xfrm>
          <a:prstGeom prst="rect">
            <a:avLst/>
          </a:prstGeom>
          <a:noFill/>
          <a:ln/>
        </p:spPr>
        <p:txBody>
          <a:bodyPr wrap="square" lIns="0" tIns="0" rIns="0" bIns="0" rtlCol="0" anchor="ctr"/>
          <a:lstStyle/>
          <a:p>
            <a:pPr indent="0" marL="0">
              <a:buNone/>
            </a:pPr>
            <a:r>
              <a:rPr lang="en-US" sz="1500" dirty="0">
                <a:solidFill>
                  <a:srgbClr val="4A5260"/>
                </a:solidFill>
              </a:rPr>
              <a:t>199 held-out patients · days 8–14 after personalisation · 1,29,956 forecasts</a:t>
            </a:r>
            <a:endParaRPr lang="en-US" sz="1500" dirty="0"/>
          </a:p>
        </p:txBody>
      </p:sp>
      <p:pic>
        <p:nvPicPr>
          <p:cNvPr id="4" name="rmse_by_horizon_synthetic.png" descr="F:\Digital Twin\docs\figures\rmse_by_horizon_synthetic.png">    </p:cNvPr>
          <p:cNvPicPr>
            <a:picLocks noChangeAspect="1"/>
          </p:cNvPicPr>
          <p:nvPr/>
        </p:nvPicPr>
        <p:blipFill>
          <a:blip r:embed="rId1"/>
          <a:srcRect l="0" r="0" t="0" b="0"/>
          <a:stretch/>
        </p:blipFill>
        <p:spPr>
          <a:xfrm>
            <a:off x="457200" y="1463040"/>
            <a:ext cx="6766560" cy="3931920"/>
          </a:xfrm>
          <a:prstGeom prst="rect">
            <a:avLst/>
          </a:prstGeom>
        </p:spPr>
      </p:pic>
      <p:sp>
        <p:nvSpPr>
          <p:cNvPr id="5" name="Text 2"/>
          <p:cNvSpPr txBox="1"/>
          <p:nvPr/>
        </p:nvSpPr>
        <p:spPr>
          <a:xfrm>
            <a:off x="7589520" y="1554480"/>
            <a:ext cx="4114800" cy="685800"/>
          </a:xfrm>
          <a:prstGeom prst="rect">
            <a:avLst/>
          </a:prstGeom>
          <a:noFill/>
          <a:ln/>
        </p:spPr>
        <p:txBody>
          <a:bodyPr wrap="square" lIns="0" tIns="0" rIns="0" bIns="0" rtlCol="0" anchor="b"/>
          <a:lstStyle/>
          <a:p>
            <a:pPr indent="0" marL="0">
              <a:buNone/>
            </a:pPr>
            <a:r>
              <a:rPr lang="en-US" sz="4000" b="1" dirty="0">
                <a:solidFill>
                  <a:srgbClr val="14284B"/>
                </a:solidFill>
                <a:latin typeface="Calibri" pitchFamily="34" charset="0"/>
                <a:ea typeface="Calibri" pitchFamily="34" charset="-122"/>
                <a:cs typeface="Calibri" pitchFamily="34" charset="-120"/>
              </a:rPr>
              <a:t>19.0 mg/dL</a:t>
            </a:r>
            <a:endParaRPr lang="en-US" sz="4000" dirty="0"/>
          </a:p>
        </p:txBody>
      </p:sp>
      <p:sp>
        <p:nvSpPr>
          <p:cNvPr id="6" name="Text 3"/>
          <p:cNvSpPr txBox="1"/>
          <p:nvPr/>
        </p:nvSpPr>
        <p:spPr>
          <a:xfrm>
            <a:off x="7589520" y="2267712"/>
            <a:ext cx="4114800" cy="548640"/>
          </a:xfrm>
          <a:prstGeom prst="rect">
            <a:avLst/>
          </a:prstGeom>
          <a:noFill/>
          <a:ln/>
        </p:spPr>
        <p:txBody>
          <a:bodyPr wrap="square" lIns="0" tIns="0" rIns="0" bIns="0" rtlCol="0" anchor="t"/>
          <a:lstStyle/>
          <a:p>
            <a:pPr indent="0" marL="0">
              <a:buNone/>
            </a:pPr>
            <a:r>
              <a:rPr lang="en-US" sz="1300" dirty="0">
                <a:solidFill>
                  <a:srgbClr val="4A5260"/>
                </a:solidFill>
              </a:rPr>
              <a:t>60-min error (RMSE); persistence 35.8 · LightGBM 18.4</a:t>
            </a:r>
            <a:endParaRPr lang="en-US" sz="1300" dirty="0"/>
          </a:p>
        </p:txBody>
      </p:sp>
      <p:sp>
        <p:nvSpPr>
          <p:cNvPr id="7" name="Text 4"/>
          <p:cNvSpPr txBox="1"/>
          <p:nvPr/>
        </p:nvSpPr>
        <p:spPr>
          <a:xfrm>
            <a:off x="7589520" y="3063240"/>
            <a:ext cx="4114800" cy="685800"/>
          </a:xfrm>
          <a:prstGeom prst="rect">
            <a:avLst/>
          </a:prstGeom>
          <a:noFill/>
          <a:ln/>
        </p:spPr>
        <p:txBody>
          <a:bodyPr wrap="square" lIns="0" tIns="0" rIns="0" bIns="0" rtlCol="0" anchor="b"/>
          <a:lstStyle/>
          <a:p>
            <a:pPr indent="0" marL="0">
              <a:buNone/>
            </a:pPr>
            <a:r>
              <a:rPr lang="en-US" sz="4000" b="1" dirty="0">
                <a:solidFill>
                  <a:srgbClr val="14284B"/>
                </a:solidFill>
                <a:latin typeface="Calibri" pitchFamily="34" charset="0"/>
                <a:ea typeface="Calibri" pitchFamily="34" charset="-122"/>
                <a:cs typeface="Calibri" pitchFamily="34" charset="-120"/>
              </a:rPr>
              <a:t>99.4%</a:t>
            </a:r>
            <a:endParaRPr lang="en-US" sz="4000" dirty="0"/>
          </a:p>
        </p:txBody>
      </p:sp>
      <p:sp>
        <p:nvSpPr>
          <p:cNvPr id="8" name="Text 5"/>
          <p:cNvSpPr txBox="1"/>
          <p:nvPr/>
        </p:nvSpPr>
        <p:spPr>
          <a:xfrm>
            <a:off x="7589520" y="3776472"/>
            <a:ext cx="4114800" cy="548640"/>
          </a:xfrm>
          <a:prstGeom prst="rect">
            <a:avLst/>
          </a:prstGeom>
          <a:noFill/>
          <a:ln/>
        </p:spPr>
        <p:txBody>
          <a:bodyPr wrap="square" lIns="0" tIns="0" rIns="0" bIns="0" rtlCol="0" anchor="t"/>
          <a:lstStyle/>
          <a:p>
            <a:pPr indent="0" marL="0">
              <a:buNone/>
            </a:pPr>
            <a:r>
              <a:rPr lang="en-US" sz="1300" dirty="0">
                <a:solidFill>
                  <a:srgbClr val="4A5260"/>
                </a:solidFill>
              </a:rPr>
              <a:t>of 60-min forecasts in Clarke zones A+B (clinically acceptable)</a:t>
            </a:r>
            <a:endParaRPr lang="en-US" sz="1300" dirty="0"/>
          </a:p>
        </p:txBody>
      </p:sp>
      <p:sp>
        <p:nvSpPr>
          <p:cNvPr id="9" name="Text 6"/>
          <p:cNvSpPr txBox="1"/>
          <p:nvPr/>
        </p:nvSpPr>
        <p:spPr>
          <a:xfrm>
            <a:off x="7589520" y="4572000"/>
            <a:ext cx="4114800" cy="685800"/>
          </a:xfrm>
          <a:prstGeom prst="rect">
            <a:avLst/>
          </a:prstGeom>
          <a:noFill/>
          <a:ln/>
        </p:spPr>
        <p:txBody>
          <a:bodyPr wrap="square" lIns="0" tIns="0" rIns="0" bIns="0" rtlCol="0" anchor="b"/>
          <a:lstStyle/>
          <a:p>
            <a:pPr indent="0" marL="0">
              <a:buNone/>
            </a:pPr>
            <a:r>
              <a:rPr lang="en-US" sz="4000" b="1" dirty="0">
                <a:solidFill>
                  <a:srgbClr val="14284B"/>
                </a:solidFill>
                <a:latin typeface="Calibri" pitchFamily="34" charset="0"/>
                <a:ea typeface="Calibri" pitchFamily="34" charset="-122"/>
                <a:cs typeface="Calibri" pitchFamily="34" charset="-120"/>
              </a:rPr>
              <a:t>80%</a:t>
            </a:r>
            <a:endParaRPr lang="en-US" sz="4000" dirty="0"/>
          </a:p>
        </p:txBody>
      </p:sp>
      <p:sp>
        <p:nvSpPr>
          <p:cNvPr id="10" name="Text 7"/>
          <p:cNvSpPr txBox="1"/>
          <p:nvPr/>
        </p:nvSpPr>
        <p:spPr>
          <a:xfrm>
            <a:off x="7589520" y="5285232"/>
            <a:ext cx="4114800" cy="548640"/>
          </a:xfrm>
          <a:prstGeom prst="rect">
            <a:avLst/>
          </a:prstGeom>
          <a:noFill/>
          <a:ln/>
        </p:spPr>
        <p:txBody>
          <a:bodyPr wrap="square" lIns="0" tIns="0" rIns="0" bIns="0" rtlCol="0" anchor="t"/>
          <a:lstStyle/>
          <a:p>
            <a:pPr indent="0" marL="0">
              <a:buNone/>
            </a:pPr>
            <a:r>
              <a:rPr lang="en-US" sz="1300" dirty="0">
                <a:solidFill>
                  <a:srgbClr val="4A5260"/>
                </a:solidFill>
              </a:rPr>
              <a:t>of outcomes inside the 80% interval (target 80%)</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Early warnings with lead time a clinician can act on</a:t>
            </a:r>
            <a:endParaRPr lang="en-US" sz="3000" dirty="0"/>
          </a:p>
        </p:txBody>
      </p:sp>
      <p:sp>
        <p:nvSpPr>
          <p:cNvPr id="3" name="Text 1"/>
          <p:cNvSpPr txBox="1"/>
          <p:nvPr/>
        </p:nvSpPr>
        <p:spPr>
          <a:xfrm>
            <a:off x="457200" y="1371600"/>
            <a:ext cx="2743200" cy="685800"/>
          </a:xfrm>
          <a:prstGeom prst="rect">
            <a:avLst/>
          </a:prstGeom>
          <a:noFill/>
          <a:ln/>
        </p:spPr>
        <p:txBody>
          <a:bodyPr wrap="square" lIns="0" tIns="0" rIns="0" bIns="0" rtlCol="0" anchor="b"/>
          <a:lstStyle/>
          <a:p>
            <a:pPr indent="0" marL="0">
              <a:buNone/>
            </a:pPr>
            <a:r>
              <a:rPr lang="en-US" sz="4000" b="1" dirty="0">
                <a:solidFill>
                  <a:srgbClr val="14284B"/>
                </a:solidFill>
                <a:latin typeface="Calibri" pitchFamily="34" charset="0"/>
                <a:ea typeface="Calibri" pitchFamily="34" charset="-122"/>
                <a:cs typeface="Calibri" pitchFamily="34" charset="-120"/>
              </a:rPr>
              <a:t>86%</a:t>
            </a:r>
            <a:endParaRPr lang="en-US" sz="4000" dirty="0"/>
          </a:p>
        </p:txBody>
      </p:sp>
      <p:sp>
        <p:nvSpPr>
          <p:cNvPr id="4" name="Text 2"/>
          <p:cNvSpPr txBox="1"/>
          <p:nvPr/>
        </p:nvSpPr>
        <p:spPr>
          <a:xfrm>
            <a:off x="457200" y="2084832"/>
            <a:ext cx="2743200" cy="548640"/>
          </a:xfrm>
          <a:prstGeom prst="rect">
            <a:avLst/>
          </a:prstGeom>
          <a:noFill/>
          <a:ln/>
        </p:spPr>
        <p:txBody>
          <a:bodyPr wrap="square" lIns="0" tIns="0" rIns="0" bIns="0" rtlCol="0" anchor="t"/>
          <a:lstStyle/>
          <a:p>
            <a:pPr indent="0" marL="0">
              <a:buNone/>
            </a:pPr>
            <a:r>
              <a:rPr lang="en-US" sz="1300" dirty="0">
                <a:solidFill>
                  <a:srgbClr val="4A5260"/>
                </a:solidFill>
              </a:rPr>
              <a:t>of sustained spikes (&gt;180) flagged in advance</a:t>
            </a:r>
            <a:endParaRPr lang="en-US" sz="1300" dirty="0"/>
          </a:p>
        </p:txBody>
      </p:sp>
      <p:sp>
        <p:nvSpPr>
          <p:cNvPr id="5" name="Text 3"/>
          <p:cNvSpPr txBox="1"/>
          <p:nvPr/>
        </p:nvSpPr>
        <p:spPr>
          <a:xfrm>
            <a:off x="3383280" y="1371600"/>
            <a:ext cx="2743200" cy="685800"/>
          </a:xfrm>
          <a:prstGeom prst="rect">
            <a:avLst/>
          </a:prstGeom>
          <a:noFill/>
          <a:ln/>
        </p:spPr>
        <p:txBody>
          <a:bodyPr wrap="square" lIns="0" tIns="0" rIns="0" bIns="0" rtlCol="0" anchor="b"/>
          <a:lstStyle/>
          <a:p>
            <a:pPr indent="0" marL="0">
              <a:buNone/>
            </a:pPr>
            <a:r>
              <a:rPr lang="en-US" sz="4000" b="1" dirty="0">
                <a:solidFill>
                  <a:srgbClr val="14284B"/>
                </a:solidFill>
                <a:latin typeface="Calibri" pitchFamily="34" charset="0"/>
                <a:ea typeface="Calibri" pitchFamily="34" charset="-122"/>
                <a:cs typeface="Calibri" pitchFamily="34" charset="-120"/>
              </a:rPr>
              <a:t>100 min</a:t>
            </a:r>
            <a:endParaRPr lang="en-US" sz="4000" dirty="0"/>
          </a:p>
        </p:txBody>
      </p:sp>
      <p:sp>
        <p:nvSpPr>
          <p:cNvPr id="6" name="Text 4"/>
          <p:cNvSpPr txBox="1"/>
          <p:nvPr/>
        </p:nvSpPr>
        <p:spPr>
          <a:xfrm>
            <a:off x="3383280" y="2084832"/>
            <a:ext cx="2743200" cy="548640"/>
          </a:xfrm>
          <a:prstGeom prst="rect">
            <a:avLst/>
          </a:prstGeom>
          <a:noFill/>
          <a:ln/>
        </p:spPr>
        <p:txBody>
          <a:bodyPr wrap="square" lIns="0" tIns="0" rIns="0" bIns="0" rtlCol="0" anchor="t"/>
          <a:lstStyle/>
          <a:p>
            <a:pPr indent="0" marL="0">
              <a:buNone/>
            </a:pPr>
            <a:r>
              <a:rPr lang="en-US" sz="1300" dirty="0">
                <a:solidFill>
                  <a:srgbClr val="4A5260"/>
                </a:solidFill>
              </a:rPr>
              <a:t>median warning before the spike begins</a:t>
            </a:r>
            <a:endParaRPr lang="en-US" sz="1300" dirty="0"/>
          </a:p>
        </p:txBody>
      </p:sp>
      <p:sp>
        <p:nvSpPr>
          <p:cNvPr id="7" name="Text 5"/>
          <p:cNvSpPr txBox="1"/>
          <p:nvPr/>
        </p:nvSpPr>
        <p:spPr>
          <a:xfrm>
            <a:off x="6309360" y="1371600"/>
            <a:ext cx="2560320" cy="685800"/>
          </a:xfrm>
          <a:prstGeom prst="rect">
            <a:avLst/>
          </a:prstGeom>
          <a:noFill/>
          <a:ln/>
        </p:spPr>
        <p:txBody>
          <a:bodyPr wrap="square" lIns="0" tIns="0" rIns="0" bIns="0" rtlCol="0" anchor="b"/>
          <a:lstStyle/>
          <a:p>
            <a:pPr indent="0" marL="0">
              <a:buNone/>
            </a:pPr>
            <a:r>
              <a:rPr lang="en-US" sz="4000" b="1" dirty="0">
                <a:solidFill>
                  <a:srgbClr val="14284B"/>
                </a:solidFill>
                <a:latin typeface="Calibri" pitchFamily="34" charset="0"/>
                <a:ea typeface="Calibri" pitchFamily="34" charset="-122"/>
                <a:cs typeface="Calibri" pitchFamily="34" charset="-120"/>
              </a:rPr>
              <a:t>0.45</a:t>
            </a:r>
            <a:endParaRPr lang="en-US" sz="4000" dirty="0"/>
          </a:p>
        </p:txBody>
      </p:sp>
      <p:sp>
        <p:nvSpPr>
          <p:cNvPr id="8" name="Text 6"/>
          <p:cNvSpPr txBox="1"/>
          <p:nvPr/>
        </p:nvSpPr>
        <p:spPr>
          <a:xfrm>
            <a:off x="6309360" y="2084832"/>
            <a:ext cx="2560320" cy="548640"/>
          </a:xfrm>
          <a:prstGeom prst="rect">
            <a:avLst/>
          </a:prstGeom>
          <a:noFill/>
          <a:ln/>
        </p:spPr>
        <p:txBody>
          <a:bodyPr wrap="square" lIns="0" tIns="0" rIns="0" bIns="0" rtlCol="0" anchor="t"/>
          <a:lstStyle/>
          <a:p>
            <a:pPr indent="0" marL="0">
              <a:buNone/>
            </a:pPr>
            <a:r>
              <a:rPr lang="en-US" sz="1300" dirty="0">
                <a:solidFill>
                  <a:srgbClr val="4A5260"/>
                </a:solidFill>
              </a:rPr>
              <a:t>false alert episodes per patient-day</a:t>
            </a:r>
            <a:endParaRPr lang="en-US" sz="1300" dirty="0"/>
          </a:p>
        </p:txBody>
      </p:sp>
      <p:sp>
        <p:nvSpPr>
          <p:cNvPr id="9" name="Text 7"/>
          <p:cNvSpPr txBox="1"/>
          <p:nvPr/>
        </p:nvSpPr>
        <p:spPr>
          <a:xfrm>
            <a:off x="9052560" y="1371600"/>
            <a:ext cx="2651760" cy="685800"/>
          </a:xfrm>
          <a:prstGeom prst="rect">
            <a:avLst/>
          </a:prstGeom>
          <a:noFill/>
          <a:ln/>
        </p:spPr>
        <p:txBody>
          <a:bodyPr wrap="square" lIns="0" tIns="0" rIns="0" bIns="0" rtlCol="0" anchor="b"/>
          <a:lstStyle/>
          <a:p>
            <a:pPr indent="0" marL="0">
              <a:buNone/>
            </a:pPr>
            <a:r>
              <a:rPr lang="en-US" sz="4000" b="1" dirty="0">
                <a:solidFill>
                  <a:srgbClr val="14284B"/>
                </a:solidFill>
                <a:latin typeface="Calibri" pitchFamily="34" charset="0"/>
                <a:ea typeface="Calibri" pitchFamily="34" charset="-122"/>
                <a:cs typeface="Calibri" pitchFamily="34" charset="-120"/>
              </a:rPr>
              <a:t>0.97</a:t>
            </a:r>
            <a:endParaRPr lang="en-US" sz="4000" dirty="0"/>
          </a:p>
        </p:txBody>
      </p:sp>
      <p:sp>
        <p:nvSpPr>
          <p:cNvPr id="10" name="Text 8"/>
          <p:cNvSpPr txBox="1"/>
          <p:nvPr/>
        </p:nvSpPr>
        <p:spPr>
          <a:xfrm>
            <a:off x="9052560" y="2084832"/>
            <a:ext cx="2651760" cy="548640"/>
          </a:xfrm>
          <a:prstGeom prst="rect">
            <a:avLst/>
          </a:prstGeom>
          <a:noFill/>
          <a:ln/>
        </p:spPr>
        <p:txBody>
          <a:bodyPr wrap="square" lIns="0" tIns="0" rIns="0" bIns="0" rtlCol="0" anchor="t"/>
          <a:lstStyle/>
          <a:p>
            <a:pPr indent="0" marL="0">
              <a:buNone/>
            </a:pPr>
            <a:r>
              <a:rPr lang="en-US" sz="1300" dirty="0">
                <a:solidFill>
                  <a:srgbClr val="4A5260"/>
                </a:solidFill>
              </a:rPr>
              <a:t>hypoglycaemia AUROC (spike AUROC 0.96)</a:t>
            </a:r>
            <a:endParaRPr lang="en-US" sz="1300" dirty="0"/>
          </a:p>
        </p:txBody>
      </p:sp>
      <p:pic>
        <p:nvPicPr>
          <p:cNvPr id="11" name="example_forecast.png" descr="F:\Digital Twin\docs\figures\example_forecast.png">    </p:cNvPr>
          <p:cNvPicPr>
            <a:picLocks noChangeAspect="1"/>
          </p:cNvPicPr>
          <p:nvPr/>
        </p:nvPicPr>
        <p:blipFill>
          <a:blip r:embed="rId1"/>
          <a:srcRect l="0" r="0" t="0" b="0"/>
          <a:stretch/>
        </p:blipFill>
        <p:spPr>
          <a:xfrm>
            <a:off x="457200" y="2880360"/>
            <a:ext cx="7498080" cy="3429000"/>
          </a:xfrm>
          <a:prstGeom prst="rect">
            <a:avLst/>
          </a:prstGeom>
        </p:spPr>
      </p:pic>
      <p:sp>
        <p:nvSpPr>
          <p:cNvPr id="12" name="Text 9"/>
          <p:cNvSpPr txBox="1"/>
          <p:nvPr/>
        </p:nvSpPr>
        <p:spPr>
          <a:xfrm>
            <a:off x="8229600" y="3108960"/>
            <a:ext cx="3474720" cy="2194560"/>
          </a:xfrm>
          <a:prstGeom prst="rect">
            <a:avLst/>
          </a:prstGeom>
          <a:noFill/>
          <a:ln/>
        </p:spPr>
        <p:txBody>
          <a:bodyPr wrap="square" lIns="0" tIns="0" rIns="0" bIns="0" rtlCol="0" anchor="ctr"/>
          <a:lstStyle/>
          <a:p>
            <a:pPr indent="0" marL="0">
              <a:buNone/>
            </a:pPr>
            <a:r>
              <a:rPr lang="en-US" sz="1400" dirty="0">
                <a:solidFill>
                  <a:srgbClr val="4A5260"/>
                </a:solidFill>
              </a:rPr>
              <a:t>Every alert carries its reasons from the event model, e.g. carbohydrate still absorbing, a rising trend, insulin sensitivity below baseline, or a sedentary hour after a meal.</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Fusing both streams matters; the twin adds most</a:t>
            </a:r>
            <a:endParaRPr lang="en-US" sz="3000" dirty="0"/>
          </a:p>
        </p:txBody>
      </p:sp>
      <p:pic>
        <p:nvPicPr>
          <p:cNvPr id="3" name="ablation_streams.png" descr="F:\Digital Twin\docs\figures\ablation_streams.png">    </p:cNvPr>
          <p:cNvPicPr>
            <a:picLocks noChangeAspect="1"/>
          </p:cNvPicPr>
          <p:nvPr/>
        </p:nvPicPr>
        <p:blipFill>
          <a:blip r:embed="rId1"/>
          <a:srcRect l="0" r="0" t="0" b="0"/>
          <a:stretch/>
        </p:blipFill>
        <p:spPr>
          <a:xfrm>
            <a:off x="457200" y="1234440"/>
            <a:ext cx="7132320" cy="4206240"/>
          </a:xfrm>
          <a:prstGeom prst="rect">
            <a:avLst/>
          </a:prstGeom>
        </p:spPr>
      </p:pic>
      <p:sp>
        <p:nvSpPr>
          <p:cNvPr id="4" name="Text 1"/>
          <p:cNvSpPr txBox="1"/>
          <p:nvPr/>
        </p:nvSpPr>
        <p:spPr>
          <a:xfrm>
            <a:off x="7863840" y="1371600"/>
            <a:ext cx="3840480" cy="4389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2833"/>
                </a:solidFill>
              </a:rPr>
              <a:t>CGM alone: 24.9 mg/dL at 60 min; spike AUROC 0.92</a:t>
            </a:r>
            <a:endParaRPr lang="en-US" sz="1500" dirty="0"/>
          </a:p>
          <a:p>
            <a:pPr marL="342900" indent="-342900">
              <a:spcAft>
                <a:spcPts val="800"/>
              </a:spcAft>
              <a:buSzPct val="100000"/>
              <a:buChar char="•"/>
            </a:pPr>
            <a:r>
              <a:rPr lang="en-US" sz="1500" dirty="0">
                <a:solidFill>
                  <a:srgbClr val="222833"/>
                </a:solidFill>
              </a:rPr>
              <a:t>Both streams (wearables + meals/meds + EHR): 20.1; AUROC 0.95</a:t>
            </a:r>
            <a:endParaRPr lang="en-US" sz="1500" dirty="0"/>
          </a:p>
          <a:p>
            <a:pPr marL="342900" indent="-342900">
              <a:spcAft>
                <a:spcPts val="800"/>
              </a:spcAft>
              <a:buSzPct val="100000"/>
              <a:buChar char="•"/>
            </a:pPr>
            <a:r>
              <a:rPr lang="en-US" sz="1500" dirty="0">
                <a:solidFill>
                  <a:srgbClr val="222833"/>
                </a:solidFill>
              </a:rPr>
              <a:t>+ physics twin: 18.4; AUROC 0.96</a:t>
            </a:r>
            <a:endParaRPr lang="en-US" sz="1500" dirty="0"/>
          </a:p>
          <a:p>
            <a:pPr marL="342900" indent="-342900">
              <a:spcAft>
                <a:spcPts val="800"/>
              </a:spcAft>
              <a:buSzPct val="100000"/>
              <a:buChar char="•"/>
            </a:pPr>
            <a:r>
              <a:rPr lang="en-US" sz="1500" dirty="0">
                <a:solidFill>
                  <a:srgbClr val="222833"/>
                </a:solidFill>
              </a:rPr>
              <a:t>Each stream helps; the EHR helps most in combination, telling the model whose body the wearables describe</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It transfers to real people and to an external population</a:t>
            </a:r>
            <a:endParaRPr lang="en-US" sz="3000" dirty="0"/>
          </a:p>
        </p:txBody>
      </p:sp>
      <p:pic>
        <p:nvPicPr>
          <p:cNvPr id="3" name="rmse_by_horizon_cgmacros.png" descr="F:\Digital Twin\docs\figures\rmse_by_horizon_cgmacros.png">    </p:cNvPr>
          <p:cNvPicPr>
            <a:picLocks noChangeAspect="1"/>
          </p:cNvPicPr>
          <p:nvPr/>
        </p:nvPicPr>
        <p:blipFill>
          <a:blip r:embed="rId1"/>
          <a:srcRect l="0" r="0" t="0" b="0"/>
          <a:stretch/>
        </p:blipFill>
        <p:spPr>
          <a:xfrm>
            <a:off x="457200" y="1234440"/>
            <a:ext cx="6766560" cy="3931920"/>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498080" y="1371600"/>
          <a:ext cx="4206240" cy="914400"/>
        </p:xfrm>
        <a:graphic>
          <a:graphicData uri="http://schemas.openxmlformats.org/drawingml/2006/table">
            <a:tbl>
              <a:tblPr/>
              <a:tblGrid>
                <a:gridCol w="2011680"/>
                <a:gridCol w="1097280"/>
                <a:gridCol w="1097280"/>
              </a:tblGrid>
              <a:tr h="0">
                <a:tc>
                  <a:txBody>
                    <a:bodyPr/>
                    <a:lstStyle/>
                    <a:p>
                      <a:pPr indent="0" marL="0">
                        <a:buNone/>
                      </a:pPr>
                      <a:r>
                        <a:rPr lang="en-US" sz="1300" b="1" dirty="0">
                          <a:solidFill>
                            <a:srgbClr val="222833"/>
                          </a:solidFill>
                        </a:rPr>
                        <a:t>60-min RMSE (mg/dL)</a:t>
                      </a:r>
                      <a:endParaRPr lang="en-US" sz="1300" dirty="0"/>
                    </a:p>
                  </a:txBody>
                  <a:tcPr marL="91440" marR="91440" marT="45720" marB="45720">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300" b="1" dirty="0">
                          <a:solidFill>
                            <a:srgbClr val="222833"/>
                          </a:solidFill>
                        </a:rPr>
                        <a:t>CGMacros</a:t>
                      </a:r>
                      <a:endParaRPr lang="en-US" sz="1300" dirty="0"/>
                    </a:p>
                  </a:txBody>
                  <a:tcPr marL="91440" marR="91440" marT="45720" marB="45720">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300" b="1" dirty="0">
                          <a:solidFill>
                            <a:srgbClr val="222833"/>
                          </a:solidFill>
                        </a:rPr>
                        <a:t>Shanghai</a:t>
                      </a:r>
                      <a:endParaRPr lang="en-US" sz="1300" dirty="0"/>
                    </a:p>
                  </a:txBody>
                  <a:tcPr marL="91440" marR="91440" marT="45720" marB="45720">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22833"/>
                          </a:solidFill>
                        </a:rPr>
                        <a:t>Persistence</a:t>
                      </a:r>
                      <a:endParaRPr lang="en-US" sz="1300" dirty="0"/>
                    </a:p>
                  </a:txBody>
                  <a:tcPr marL="91440" marR="91440" marT="45720" marB="45720">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300" dirty="0">
                          <a:solidFill>
                            <a:srgbClr val="222833"/>
                          </a:solidFill>
                        </a:rPr>
                        <a:t>28.3</a:t>
                      </a:r>
                      <a:endParaRPr lang="en-US" sz="1300" dirty="0"/>
                    </a:p>
                  </a:txBody>
                  <a:tcPr marL="91440" marR="91440" marT="45720" marB="45720">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300" dirty="0">
                          <a:solidFill>
                            <a:srgbClr val="222833"/>
                          </a:solidFill>
                        </a:rPr>
                        <a:t>27.5</a:t>
                      </a:r>
                      <a:endParaRPr lang="en-US" sz="1300" dirty="0"/>
                    </a:p>
                  </a:txBody>
                  <a:tcPr marL="91440" marR="91440" marT="45720" marB="45720">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22833"/>
                          </a:solidFill>
                        </a:rPr>
                        <a:t>TwinNet, synthetic only</a:t>
                      </a:r>
                      <a:endParaRPr lang="en-US" sz="1300" dirty="0"/>
                    </a:p>
                  </a:txBody>
                  <a:tcPr marL="91440" marR="91440" marT="45720" marB="45720">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300" dirty="0">
                          <a:solidFill>
                            <a:srgbClr val="222833"/>
                          </a:solidFill>
                        </a:rPr>
                        <a:t>26.4</a:t>
                      </a:r>
                      <a:endParaRPr lang="en-US" sz="1300" dirty="0"/>
                    </a:p>
                  </a:txBody>
                  <a:tcPr marL="91440" marR="91440" marT="45720" marB="45720">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300" dirty="0">
                          <a:solidFill>
                            <a:srgbClr val="222833"/>
                          </a:solidFill>
                        </a:rPr>
                        <a:t>32.9</a:t>
                      </a:r>
                      <a:endParaRPr lang="en-US" sz="1300" dirty="0"/>
                    </a:p>
                  </a:txBody>
                  <a:tcPr marL="91440" marR="91440" marT="45720" marB="45720">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22833"/>
                          </a:solidFill>
                        </a:rPr>
                        <a:t>TwinNet, sim-to-real</a:t>
                      </a:r>
                      <a:endParaRPr lang="en-US" sz="1300" dirty="0"/>
                    </a:p>
                  </a:txBody>
                  <a:tcPr marL="91440" marR="91440" marT="45720" marB="45720">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300" dirty="0">
                          <a:solidFill>
                            <a:srgbClr val="222833"/>
                          </a:solidFill>
                        </a:rPr>
                        <a:t>23.5</a:t>
                      </a:r>
                      <a:endParaRPr lang="en-US" sz="1300" dirty="0"/>
                    </a:p>
                  </a:txBody>
                  <a:tcPr marL="91440" marR="91440" marT="45720" marB="45720">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300" dirty="0">
                          <a:solidFill>
                            <a:srgbClr val="222833"/>
                          </a:solidFill>
                        </a:rPr>
                        <a:t>22.3</a:t>
                      </a:r>
                      <a:endParaRPr lang="en-US" sz="1300" dirty="0"/>
                    </a:p>
                  </a:txBody>
                  <a:tcPr marL="91440" marR="91440" marT="45720" marB="45720">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22833"/>
                          </a:solidFill>
                        </a:rPr>
                        <a:t>Clarke A+B, sim-to-real</a:t>
                      </a:r>
                      <a:endParaRPr lang="en-US" sz="1300" dirty="0"/>
                    </a:p>
                  </a:txBody>
                  <a:tcPr marL="91440" marR="91440" marT="45720" marB="45720">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300" dirty="0">
                          <a:solidFill>
                            <a:srgbClr val="222833"/>
                          </a:solidFill>
                        </a:rPr>
                        <a:t>99.4%</a:t>
                      </a:r>
                      <a:endParaRPr lang="en-US" sz="1300" dirty="0"/>
                    </a:p>
                  </a:txBody>
                  <a:tcPr marL="91440" marR="91440" marT="45720" marB="45720">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indent="0" marL="0">
                        <a:buNone/>
                      </a:pPr>
                      <a:r>
                        <a:rPr lang="en-US" sz="1300" dirty="0">
                          <a:solidFill>
                            <a:srgbClr val="222833"/>
                          </a:solidFill>
                        </a:rPr>
                        <a:t>98.9%</a:t>
                      </a:r>
                      <a:endParaRPr lang="en-US" sz="1300" dirty="0"/>
                    </a:p>
                  </a:txBody>
                  <a:tcPr marL="91440" marR="91440" marT="45720" marB="45720">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7498080" y="3931920"/>
            <a:ext cx="4206240" cy="1463040"/>
          </a:xfrm>
          <a:prstGeom prst="rect">
            <a:avLst/>
          </a:prstGeom>
          <a:noFill/>
          <a:ln/>
        </p:spPr>
        <p:txBody>
          <a:bodyPr wrap="square" lIns="0" tIns="0" rIns="0" bIns="0" rtlCol="0" anchor="ctr"/>
          <a:lstStyle/>
          <a:p>
            <a:pPr indent="0" marL="0">
              <a:buNone/>
            </a:pPr>
            <a:r>
              <a:rPr lang="en-US" sz="1300" dirty="0">
                <a:solidFill>
                  <a:srgbClr val="4A5260"/>
                </a:solidFill>
              </a:rPr>
              <a:t>45 CGMacros participants (5-fold patient cross-validation) and 109 ShanghaiT2DM recordings from a different country, sensor and diet, with no wearables at all.</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CGM-light: one week of CGM, then fingersticks</a:t>
            </a:r>
            <a:endParaRPr lang="en-US" sz="3000" dirty="0"/>
          </a:p>
        </p:txBody>
      </p:sp>
      <p:sp>
        <p:nvSpPr>
          <p:cNvPr id="3" name="Text 1"/>
          <p:cNvSpPr txBox="1"/>
          <p:nvPr/>
        </p:nvSpPr>
        <p:spPr>
          <a:xfrm>
            <a:off x="457200" y="987552"/>
            <a:ext cx="9692640" cy="365760"/>
          </a:xfrm>
          <a:prstGeom prst="rect">
            <a:avLst/>
          </a:prstGeom>
          <a:noFill/>
          <a:ln/>
        </p:spPr>
        <p:txBody>
          <a:bodyPr wrap="square" lIns="0" tIns="0" rIns="0" bIns="0" rtlCol="0" anchor="ctr"/>
          <a:lstStyle/>
          <a:p>
            <a:pPr indent="0" marL="0">
              <a:buNone/>
            </a:pPr>
            <a:r>
              <a:rPr lang="en-US" sz="1500" dirty="0">
                <a:solidFill>
                  <a:srgbClr val="4A5260"/>
                </a:solidFill>
              </a:rPr>
              <a:t>An affordability mode for India: the twin keeps estimating continuous glucose after the sensor comes off</a:t>
            </a:r>
            <a:endParaRPr lang="en-US" sz="1500" dirty="0"/>
          </a:p>
        </p:txBody>
      </p:sp>
      <p:sp>
        <p:nvSpPr>
          <p:cNvPr id="4" name="Text 2"/>
          <p:cNvSpPr txBox="1"/>
          <p:nvPr/>
        </p:nvSpPr>
        <p:spPr>
          <a:xfrm>
            <a:off x="457200" y="1737360"/>
            <a:ext cx="3566160" cy="685800"/>
          </a:xfrm>
          <a:prstGeom prst="rect">
            <a:avLst/>
          </a:prstGeom>
          <a:noFill/>
          <a:ln/>
        </p:spPr>
        <p:txBody>
          <a:bodyPr wrap="square" lIns="0" tIns="0" rIns="0" bIns="0" rtlCol="0" anchor="b"/>
          <a:lstStyle/>
          <a:p>
            <a:pPr indent="0" marL="0">
              <a:buNone/>
            </a:pPr>
            <a:r>
              <a:rPr lang="en-US" sz="4000" b="1" dirty="0">
                <a:solidFill>
                  <a:srgbClr val="14284B"/>
                </a:solidFill>
                <a:latin typeface="Calibri" pitchFamily="34" charset="0"/>
                <a:ea typeface="Calibri" pitchFamily="34" charset="-122"/>
                <a:cs typeface="Calibri" pitchFamily="34" charset="-120"/>
              </a:rPr>
              <a:t>6.4%</a:t>
            </a:r>
            <a:endParaRPr lang="en-US" sz="4000" dirty="0"/>
          </a:p>
        </p:txBody>
      </p:sp>
      <p:sp>
        <p:nvSpPr>
          <p:cNvPr id="5" name="Text 3"/>
          <p:cNvSpPr txBox="1"/>
          <p:nvPr/>
        </p:nvSpPr>
        <p:spPr>
          <a:xfrm>
            <a:off x="457200" y="2450592"/>
            <a:ext cx="3566160" cy="548640"/>
          </a:xfrm>
          <a:prstGeom prst="rect">
            <a:avLst/>
          </a:prstGeom>
          <a:noFill/>
          <a:ln/>
        </p:spPr>
        <p:txBody>
          <a:bodyPr wrap="square" lIns="0" tIns="0" rIns="0" bIns="0" rtlCol="0" anchor="t"/>
          <a:lstStyle/>
          <a:p>
            <a:pPr indent="0" marL="0">
              <a:buNone/>
            </a:pPr>
            <a:r>
              <a:rPr lang="en-US" sz="1300" dirty="0">
                <a:solidFill>
                  <a:srgbClr val="4A5260"/>
                </a:solidFill>
              </a:rPr>
              <a:t>twin MARD vs true glucose (carry-forward fingersticks: 23.8%)</a:t>
            </a:r>
            <a:endParaRPr lang="en-US" sz="1300" dirty="0"/>
          </a:p>
        </p:txBody>
      </p:sp>
      <p:sp>
        <p:nvSpPr>
          <p:cNvPr id="6" name="Text 4"/>
          <p:cNvSpPr txBox="1"/>
          <p:nvPr/>
        </p:nvSpPr>
        <p:spPr>
          <a:xfrm>
            <a:off x="4297680" y="1737360"/>
            <a:ext cx="3566160" cy="685800"/>
          </a:xfrm>
          <a:prstGeom prst="rect">
            <a:avLst/>
          </a:prstGeom>
          <a:noFill/>
          <a:ln/>
        </p:spPr>
        <p:txBody>
          <a:bodyPr wrap="square" lIns="0" tIns="0" rIns="0" bIns="0" rtlCol="0" anchor="b"/>
          <a:lstStyle/>
          <a:p>
            <a:pPr indent="0" marL="0">
              <a:buNone/>
            </a:pPr>
            <a:r>
              <a:rPr lang="en-US" sz="4000" b="1" dirty="0">
                <a:solidFill>
                  <a:srgbClr val="14284B"/>
                </a:solidFill>
                <a:latin typeface="Calibri" pitchFamily="34" charset="0"/>
                <a:ea typeface="Calibri" pitchFamily="34" charset="-122"/>
                <a:cs typeface="Calibri" pitchFamily="34" charset="-120"/>
              </a:rPr>
              <a:t>95%</a:t>
            </a:r>
            <a:endParaRPr lang="en-US" sz="4000" dirty="0"/>
          </a:p>
        </p:txBody>
      </p:sp>
      <p:sp>
        <p:nvSpPr>
          <p:cNvPr id="7" name="Text 5"/>
          <p:cNvSpPr txBox="1"/>
          <p:nvPr/>
        </p:nvSpPr>
        <p:spPr>
          <a:xfrm>
            <a:off x="4297680" y="2450592"/>
            <a:ext cx="3566160" cy="548640"/>
          </a:xfrm>
          <a:prstGeom prst="rect">
            <a:avLst/>
          </a:prstGeom>
          <a:noFill/>
          <a:ln/>
        </p:spPr>
        <p:txBody>
          <a:bodyPr wrap="square" lIns="0" tIns="0" rIns="0" bIns="0" rtlCol="0" anchor="t"/>
          <a:lstStyle/>
          <a:p>
            <a:pPr indent="0" marL="0">
              <a:buNone/>
            </a:pPr>
            <a:r>
              <a:rPr lang="en-US" sz="1300" dirty="0">
                <a:solidFill>
                  <a:srgbClr val="4A5260"/>
                </a:solidFill>
              </a:rPr>
              <a:t>of twin estimates within 20% of true glucose (carry-forward: 56%)</a:t>
            </a:r>
            <a:endParaRPr lang="en-US" sz="1300" dirty="0"/>
          </a:p>
        </p:txBody>
      </p:sp>
      <p:sp>
        <p:nvSpPr>
          <p:cNvPr id="8" name="Text 6"/>
          <p:cNvSpPr txBox="1"/>
          <p:nvPr/>
        </p:nvSpPr>
        <p:spPr>
          <a:xfrm>
            <a:off x="8138160" y="1737360"/>
            <a:ext cx="3566160" cy="685800"/>
          </a:xfrm>
          <a:prstGeom prst="rect">
            <a:avLst/>
          </a:prstGeom>
          <a:noFill/>
          <a:ln/>
        </p:spPr>
        <p:txBody>
          <a:bodyPr wrap="square" lIns="0" tIns="0" rIns="0" bIns="0" rtlCol="0" anchor="b"/>
          <a:lstStyle/>
          <a:p>
            <a:pPr indent="0" marL="0">
              <a:buNone/>
            </a:pPr>
            <a:r>
              <a:rPr lang="en-US" sz="4000" b="1" dirty="0">
                <a:solidFill>
                  <a:srgbClr val="14284B"/>
                </a:solidFill>
                <a:latin typeface="Calibri" pitchFamily="34" charset="0"/>
                <a:ea typeface="Calibri" pitchFamily="34" charset="-122"/>
                <a:cs typeface="Calibri" pitchFamily="34" charset="-120"/>
              </a:rPr>
              <a:t>±3.8 pp</a:t>
            </a:r>
            <a:endParaRPr lang="en-US" sz="4000" dirty="0"/>
          </a:p>
        </p:txBody>
      </p:sp>
      <p:sp>
        <p:nvSpPr>
          <p:cNvPr id="9" name="Text 7"/>
          <p:cNvSpPr txBox="1"/>
          <p:nvPr/>
        </p:nvSpPr>
        <p:spPr>
          <a:xfrm>
            <a:off x="8138160" y="2450592"/>
            <a:ext cx="3566160" cy="548640"/>
          </a:xfrm>
          <a:prstGeom prst="rect">
            <a:avLst/>
          </a:prstGeom>
          <a:noFill/>
          <a:ln/>
        </p:spPr>
        <p:txBody>
          <a:bodyPr wrap="square" lIns="0" tIns="0" rIns="0" bIns="0" rtlCol="0" anchor="t"/>
          <a:lstStyle/>
          <a:p>
            <a:pPr indent="0" marL="0">
              <a:buNone/>
            </a:pPr>
            <a:r>
              <a:rPr lang="en-US" sz="1300" dirty="0">
                <a:solidFill>
                  <a:srgbClr val="4A5260"/>
                </a:solidFill>
              </a:rPr>
              <a:t>error in weekly time-in-range (fingersticks alone: ±5.4 pp)</a:t>
            </a:r>
            <a:endParaRPr lang="en-US" sz="1300" dirty="0"/>
          </a:p>
        </p:txBody>
      </p:sp>
      <p:sp>
        <p:nvSpPr>
          <p:cNvPr id="10" name="Shape 8"/>
          <p:cNvSpPr/>
          <p:nvPr/>
        </p:nvSpPr>
        <p:spPr>
          <a:xfrm>
            <a:off x="457200" y="3840480"/>
            <a:ext cx="11247120" cy="1737360"/>
          </a:xfrm>
          <a:prstGeom prst="roundRect">
            <a:avLst>
              <a:gd name="adj" fmla="val 4211"/>
            </a:avLst>
          </a:prstGeom>
          <a:solidFill>
            <a:srgbClr val="F2F5FA"/>
          </a:solidFill>
          <a:ln w="12700">
            <a:solidFill>
              <a:srgbClr val="F2F5FA"/>
            </a:solidFill>
            <a:prstDash val="solid"/>
          </a:ln>
        </p:spPr>
      </p:sp>
      <p:sp>
        <p:nvSpPr>
          <p:cNvPr id="11" name="Text 9"/>
          <p:cNvSpPr txBox="1"/>
          <p:nvPr/>
        </p:nvSpPr>
        <p:spPr>
          <a:xfrm>
            <a:off x="621792" y="3950208"/>
            <a:ext cx="10917936" cy="1517904"/>
          </a:xfrm>
          <a:prstGeom prst="rect">
            <a:avLst/>
          </a:prstGeom>
          <a:noFill/>
          <a:ln/>
        </p:spPr>
        <p:txBody>
          <a:bodyPr wrap="square" lIns="0" tIns="0" rIns="0" bIns="0" rtlCol="0" anchor="t"/>
          <a:lstStyle/>
          <a:p>
            <a:pPr indent="0" marL="0">
              <a:spcAft>
                <a:spcPts val="400"/>
              </a:spcAft>
              <a:buNone/>
            </a:pPr>
            <a:r>
              <a:rPr lang="en-US" sz="1500" b="1" dirty="0">
                <a:solidFill>
                  <a:srgbClr val="14284B"/>
                </a:solidFill>
              </a:rPr>
              <a:t>How it works</a:t>
            </a:r>
            <a:endParaRPr lang="en-US" sz="1500" dirty="0"/>
          </a:p>
          <a:p>
            <a:pPr indent="0" marL="0">
              <a:spcAft>
                <a:spcPts val="400"/>
              </a:spcAft>
              <a:buNone/>
            </a:pPr>
            <a:r>
              <a:rPr lang="en-US" sz="1300" dirty="0">
                <a:solidFill>
                  <a:srgbClr val="4A5260"/>
                </a:solidFill>
              </a:rPr>
              <a:t>Week 1 personalises the twin on CGM. In week 2 only 4 fingerstick checks a day remain; the Unscented Kalman Filter fuses them with logged meals, doses and smartwatch activity to estimate glucose in between. Evaluated on 199 held-out synthetic patients against their true glucose; because the simulator shares the twin's structure this is an upper bound until tested on real CGM-off data.</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The doctor's view: a risk-ranked panel</a:t>
            </a:r>
            <a:endParaRPr lang="en-US" sz="3000" dirty="0"/>
          </a:p>
        </p:txBody>
      </p:sp>
      <p:pic>
        <p:nvPicPr>
          <p:cNvPr id="3" name="panel_light.png" descr="F:\Digital Twin\docs\screenshots\panel_light.png">    </p:cNvPr>
          <p:cNvPicPr>
            <a:picLocks noChangeAspect="1"/>
          </p:cNvPicPr>
          <p:nvPr/>
        </p:nvPicPr>
        <p:blipFill>
          <a:blip r:embed="rId1"/>
          <a:srcRect l="0" r="0" t="0" b="0"/>
          <a:stretch/>
        </p:blipFill>
        <p:spPr>
          <a:xfrm>
            <a:off x="457200" y="1188720"/>
            <a:ext cx="11247120" cy="5120640"/>
          </a:xfrm>
          <a:prstGeom prst="rect">
            <a:avLst/>
          </a:prstGeom>
        </p:spPr>
      </p:pic>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Virtual patient: forecast, reasons, physiology</a:t>
            </a:r>
            <a:endParaRPr lang="en-US" sz="3000" dirty="0"/>
          </a:p>
        </p:txBody>
      </p:sp>
      <p:pic>
        <p:nvPicPr>
          <p:cNvPr id="3" name="patient_crop.png" descr="F:\Digital Twin\docs\screenshots\patient_crop.png">    </p:cNvPr>
          <p:cNvPicPr>
            <a:picLocks noChangeAspect="1"/>
          </p:cNvPicPr>
          <p:nvPr/>
        </p:nvPicPr>
        <p:blipFill>
          <a:blip r:embed="rId1"/>
          <a:srcRect l="0" r="0" t="0" b="0"/>
          <a:stretch/>
        </p:blipFill>
        <p:spPr>
          <a:xfrm>
            <a:off x="457200" y="1188720"/>
            <a:ext cx="11247120" cy="5120640"/>
          </a:xfrm>
          <a:prstGeom prst="rect">
            <a:avLst/>
          </a:prstGeom>
        </p:spPr>
      </p:pic>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What-if on their twin, nudges in their language</a:t>
            </a:r>
            <a:endParaRPr lang="en-US" sz="3000" dirty="0"/>
          </a:p>
        </p:txBody>
      </p:sp>
      <p:pic>
        <p:nvPicPr>
          <p:cNvPr id="3" name="whatif_crop.png" descr="F:\Digital Twin\docs\screenshots\whatif_crop.png">    </p:cNvPr>
          <p:cNvPicPr>
            <a:picLocks noChangeAspect="1"/>
          </p:cNvPicPr>
          <p:nvPr/>
        </p:nvPicPr>
        <p:blipFill>
          <a:blip r:embed="rId1"/>
          <a:srcRect l="0" r="0" t="0" b="0"/>
          <a:stretch/>
        </p:blipFill>
        <p:spPr>
          <a:xfrm>
            <a:off x="457200" y="1188720"/>
            <a:ext cx="8138160" cy="5120640"/>
          </a:xfrm>
          <a:prstGeom prst="rect">
            <a:avLst/>
          </a:prstGeom>
        </p:spPr>
      </p:pic>
      <p:pic>
        <p:nvPicPr>
          <p:cNvPr id="4" name="companion_hi.png" descr="F:\Digital Twin\docs\screenshots\companion_hi.png">    </p:cNvPr>
          <p:cNvPicPr>
            <a:picLocks noChangeAspect="1"/>
          </p:cNvPicPr>
          <p:nvPr/>
        </p:nvPicPr>
        <p:blipFill>
          <a:blip r:embed="rId2"/>
          <a:srcRect l="0" r="0" t="0" b="0"/>
          <a:stretch/>
        </p:blipFill>
        <p:spPr>
          <a:xfrm>
            <a:off x="8869680" y="1188720"/>
            <a:ext cx="2834640" cy="5120640"/>
          </a:xfrm>
          <a:prstGeom prst="rect">
            <a:avLst/>
          </a:prstGeom>
        </p:spPr>
      </p:pic>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Responsible by design</a:t>
            </a:r>
            <a:endParaRPr lang="en-US" sz="3000" dirty="0"/>
          </a:p>
        </p:txBody>
      </p:sp>
      <p:sp>
        <p:nvSpPr>
          <p:cNvPr id="3" name="Shape 1"/>
          <p:cNvSpPr/>
          <p:nvPr/>
        </p:nvSpPr>
        <p:spPr>
          <a:xfrm>
            <a:off x="502920" y="1463040"/>
            <a:ext cx="457200" cy="457200"/>
          </a:xfrm>
          <a:prstGeom prst="ellipse">
            <a:avLst/>
          </a:prstGeom>
          <a:solidFill>
            <a:srgbClr val="E8A317"/>
          </a:solidFill>
          <a:ln w="12700">
            <a:solidFill>
              <a:srgbClr val="E8A317"/>
            </a:solidFill>
            <a:prstDash val="solid"/>
          </a:ln>
        </p:spPr>
      </p:sp>
      <p:sp>
        <p:nvSpPr>
          <p:cNvPr id="4" name="Text 2"/>
          <p:cNvSpPr txBox="1"/>
          <p:nvPr/>
        </p:nvSpPr>
        <p:spPr>
          <a:xfrm>
            <a:off x="502920" y="1463040"/>
            <a:ext cx="457200" cy="457200"/>
          </a:xfrm>
          <a:prstGeom prst="rect">
            <a:avLst/>
          </a:prstGeom>
          <a:noFill/>
          <a:ln/>
        </p:spPr>
        <p:txBody>
          <a:bodyPr wrap="square" lIns="0" tIns="0" rIns="0" bIns="0" rtlCol="0" anchor="ctr"/>
          <a:lstStyle/>
          <a:p>
            <a:pPr algn="ctr" indent="0" marL="0">
              <a:buNone/>
            </a:pPr>
            <a:r>
              <a:rPr lang="en-US" sz="1400" b="1" dirty="0">
                <a:solidFill>
                  <a:srgbClr val="14284B"/>
                </a:solidFill>
              </a:rPr>
              <a:t>1</a:t>
            </a:r>
            <a:endParaRPr lang="en-US" sz="1400" dirty="0"/>
          </a:p>
        </p:txBody>
      </p:sp>
      <p:sp>
        <p:nvSpPr>
          <p:cNvPr id="5" name="Text 3"/>
          <p:cNvSpPr txBox="1"/>
          <p:nvPr/>
        </p:nvSpPr>
        <p:spPr>
          <a:xfrm>
            <a:off x="1188720" y="1371600"/>
            <a:ext cx="10515600" cy="868680"/>
          </a:xfrm>
          <a:prstGeom prst="rect">
            <a:avLst/>
          </a:prstGeom>
          <a:noFill/>
          <a:ln/>
        </p:spPr>
        <p:txBody>
          <a:bodyPr wrap="square" lIns="0" tIns="0" rIns="0" bIns="0" rtlCol="0" anchor="t"/>
          <a:lstStyle/>
          <a:p>
            <a:pPr indent="0" marL="0">
              <a:buNone/>
            </a:pPr>
            <a:r>
              <a:rPr lang="en-US" sz="1600" b="1" dirty="0">
                <a:solidFill>
                  <a:srgbClr val="14284B"/>
                </a:solidFill>
              </a:rPr>
              <a:t>DPDP Act 2023</a:t>
            </a:r>
            <a:endParaRPr lang="en-US" sz="1600" dirty="0"/>
          </a:p>
          <a:p>
            <a:pPr indent="0" marL="0">
              <a:buNone/>
            </a:pPr>
            <a:r>
              <a:rPr lang="en-US" sz="1400" dirty="0">
                <a:solidFill>
                  <a:srgbClr val="4A5260"/>
                </a:solidFill>
              </a:rPr>
              <a:t>Consent artefacts, purpose limitation, data minimisation, purpose-tagged audit trail; synthetic and de-identified data only</a:t>
            </a:r>
            <a:endParaRPr lang="en-US" sz="1600" dirty="0"/>
          </a:p>
        </p:txBody>
      </p:sp>
      <p:sp>
        <p:nvSpPr>
          <p:cNvPr id="6" name="Shape 4"/>
          <p:cNvSpPr/>
          <p:nvPr/>
        </p:nvSpPr>
        <p:spPr>
          <a:xfrm>
            <a:off x="502920" y="2423160"/>
            <a:ext cx="457200" cy="457200"/>
          </a:xfrm>
          <a:prstGeom prst="ellipse">
            <a:avLst/>
          </a:prstGeom>
          <a:solidFill>
            <a:srgbClr val="14284B"/>
          </a:solidFill>
          <a:ln w="12700">
            <a:solidFill>
              <a:srgbClr val="14284B"/>
            </a:solidFill>
            <a:prstDash val="solid"/>
          </a:ln>
        </p:spPr>
      </p:sp>
      <p:sp>
        <p:nvSpPr>
          <p:cNvPr id="7" name="Text 5"/>
          <p:cNvSpPr txBox="1"/>
          <p:nvPr/>
        </p:nvSpPr>
        <p:spPr>
          <a:xfrm>
            <a:off x="502920" y="2423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188720" y="2331720"/>
            <a:ext cx="10515600" cy="868680"/>
          </a:xfrm>
          <a:prstGeom prst="rect">
            <a:avLst/>
          </a:prstGeom>
          <a:noFill/>
          <a:ln/>
        </p:spPr>
        <p:txBody>
          <a:bodyPr wrap="square" lIns="0" tIns="0" rIns="0" bIns="0" rtlCol="0" anchor="t"/>
          <a:lstStyle/>
          <a:p>
            <a:pPr indent="0" marL="0">
              <a:buNone/>
            </a:pPr>
            <a:r>
              <a:rPr lang="en-US" sz="1600" b="1" dirty="0">
                <a:solidFill>
                  <a:srgbClr val="14284B"/>
                </a:solidFill>
              </a:rPr>
              <a:t>ABDM-ready interoperability</a:t>
            </a:r>
            <a:endParaRPr lang="en-US" sz="1600" dirty="0"/>
          </a:p>
          <a:p>
            <a:pPr indent="0" marL="0">
              <a:buNone/>
            </a:pPr>
            <a:r>
              <a:rPr lang="en-US" sz="1400" dirty="0">
                <a:solidFill>
                  <a:srgbClr val="4A5260"/>
                </a:solidFill>
              </a:rPr>
              <a:t>FHIR R4 with SNOMED CT, LOINC, WHO ATC; CGM as SampledData; the forecast exported as a RiskAssessment</a:t>
            </a:r>
            <a:endParaRPr lang="en-US" sz="1600" dirty="0"/>
          </a:p>
        </p:txBody>
      </p:sp>
      <p:sp>
        <p:nvSpPr>
          <p:cNvPr id="9" name="Shape 7"/>
          <p:cNvSpPr/>
          <p:nvPr/>
        </p:nvSpPr>
        <p:spPr>
          <a:xfrm>
            <a:off x="502920" y="3383280"/>
            <a:ext cx="457200" cy="457200"/>
          </a:xfrm>
          <a:prstGeom prst="ellipse">
            <a:avLst/>
          </a:prstGeom>
          <a:solidFill>
            <a:srgbClr val="14284B"/>
          </a:solidFill>
          <a:ln w="12700">
            <a:solidFill>
              <a:srgbClr val="14284B"/>
            </a:solidFill>
            <a:prstDash val="solid"/>
          </a:ln>
        </p:spPr>
      </p:sp>
      <p:sp>
        <p:nvSpPr>
          <p:cNvPr id="10" name="Text 8"/>
          <p:cNvSpPr txBox="1"/>
          <p:nvPr/>
        </p:nvSpPr>
        <p:spPr>
          <a:xfrm>
            <a:off x="502920" y="3383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9"/>
          <p:cNvSpPr txBox="1"/>
          <p:nvPr/>
        </p:nvSpPr>
        <p:spPr>
          <a:xfrm>
            <a:off x="1188720" y="3291840"/>
            <a:ext cx="10515600" cy="868680"/>
          </a:xfrm>
          <a:prstGeom prst="rect">
            <a:avLst/>
          </a:prstGeom>
          <a:noFill/>
          <a:ln/>
        </p:spPr>
        <p:txBody>
          <a:bodyPr wrap="square" lIns="0" tIns="0" rIns="0" bIns="0" rtlCol="0" anchor="t"/>
          <a:lstStyle/>
          <a:p>
            <a:pPr indent="0" marL="0">
              <a:buNone/>
            </a:pPr>
            <a:r>
              <a:rPr lang="en-US" sz="1600" b="1" dirty="0">
                <a:solidFill>
                  <a:srgbClr val="14284B"/>
                </a:solidFill>
              </a:rPr>
              <a:t>Explainable</a:t>
            </a:r>
            <a:endParaRPr lang="en-US" sz="1600" dirty="0"/>
          </a:p>
          <a:p>
            <a:pPr indent="0" marL="0">
              <a:buNone/>
            </a:pPr>
            <a:r>
              <a:rPr lang="en-US" sz="1400" dirty="0">
                <a:solidFill>
                  <a:srgbClr val="4A5260"/>
                </a:solidFill>
              </a:rPr>
              <a:t>Reasons on every alert (SHAP), a visible trust-in-physics gate, organ-level physiology, AGP report</a:t>
            </a:r>
            <a:endParaRPr lang="en-US" sz="1600" dirty="0"/>
          </a:p>
        </p:txBody>
      </p:sp>
      <p:sp>
        <p:nvSpPr>
          <p:cNvPr id="12" name="Shape 10"/>
          <p:cNvSpPr/>
          <p:nvPr/>
        </p:nvSpPr>
        <p:spPr>
          <a:xfrm>
            <a:off x="502920" y="4343400"/>
            <a:ext cx="457200" cy="457200"/>
          </a:xfrm>
          <a:prstGeom prst="ellipse">
            <a:avLst/>
          </a:prstGeom>
          <a:solidFill>
            <a:srgbClr val="14284B"/>
          </a:solidFill>
          <a:ln w="12700">
            <a:solidFill>
              <a:srgbClr val="14284B"/>
            </a:solidFill>
            <a:prstDash val="solid"/>
          </a:ln>
        </p:spPr>
      </p:sp>
      <p:sp>
        <p:nvSpPr>
          <p:cNvPr id="13" name="Text 11"/>
          <p:cNvSpPr txBox="1"/>
          <p:nvPr/>
        </p:nvSpPr>
        <p:spPr>
          <a:xfrm>
            <a:off x="502920"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4" name="Text 12"/>
          <p:cNvSpPr txBox="1"/>
          <p:nvPr/>
        </p:nvSpPr>
        <p:spPr>
          <a:xfrm>
            <a:off x="1188720" y="4251960"/>
            <a:ext cx="10515600" cy="868680"/>
          </a:xfrm>
          <a:prstGeom prst="rect">
            <a:avLst/>
          </a:prstGeom>
          <a:noFill/>
          <a:ln/>
        </p:spPr>
        <p:txBody>
          <a:bodyPr wrap="square" lIns="0" tIns="0" rIns="0" bIns="0" rtlCol="0" anchor="t"/>
          <a:lstStyle/>
          <a:p>
            <a:pPr indent="0" marL="0">
              <a:buNone/>
            </a:pPr>
            <a:r>
              <a:rPr lang="en-US" sz="1600" b="1" dirty="0">
                <a:solidFill>
                  <a:srgbClr val="14284B"/>
                </a:solidFill>
              </a:rPr>
              <a:t>Honest evaluation</a:t>
            </a:r>
            <a:endParaRPr lang="en-US" sz="1600" dirty="0"/>
          </a:p>
          <a:p>
            <a:pPr indent="0" marL="0">
              <a:buNone/>
            </a:pPr>
            <a:r>
              <a:rPr lang="en-US" sz="1400" dirty="0">
                <a:solidFill>
                  <a:srgbClr val="4A5260"/>
                </a:solidFill>
              </a:rPr>
              <a:t>Patient-level splits, external validation, bootstrap CIs, model card with limitations</a:t>
            </a:r>
            <a:endParaRPr lang="en-US" sz="1600" dirty="0"/>
          </a:p>
        </p:txBody>
      </p:sp>
      <p:sp>
        <p:nvSpPr>
          <p:cNvPr id="15" name="Shape 13"/>
          <p:cNvSpPr/>
          <p:nvPr/>
        </p:nvSpPr>
        <p:spPr>
          <a:xfrm>
            <a:off x="502920" y="5303520"/>
            <a:ext cx="457200" cy="457200"/>
          </a:xfrm>
          <a:prstGeom prst="ellipse">
            <a:avLst/>
          </a:prstGeom>
          <a:solidFill>
            <a:srgbClr val="14284B"/>
          </a:solidFill>
          <a:ln w="12700">
            <a:solidFill>
              <a:srgbClr val="14284B"/>
            </a:solidFill>
            <a:prstDash val="solid"/>
          </a:ln>
        </p:spPr>
      </p:sp>
      <p:sp>
        <p:nvSpPr>
          <p:cNvPr id="16" name="Text 14"/>
          <p:cNvSpPr txBox="1"/>
          <p:nvPr/>
        </p:nvSpPr>
        <p:spPr>
          <a:xfrm>
            <a:off x="502920" y="5303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7" name="Text 15"/>
          <p:cNvSpPr txBox="1"/>
          <p:nvPr/>
        </p:nvSpPr>
        <p:spPr>
          <a:xfrm>
            <a:off x="1188720" y="5212080"/>
            <a:ext cx="10515600" cy="868680"/>
          </a:xfrm>
          <a:prstGeom prst="rect">
            <a:avLst/>
          </a:prstGeom>
          <a:noFill/>
          <a:ln/>
        </p:spPr>
        <p:txBody>
          <a:bodyPr wrap="square" lIns="0" tIns="0" rIns="0" bIns="0" rtlCol="0" anchor="t"/>
          <a:lstStyle/>
          <a:p>
            <a:pPr indent="0" marL="0">
              <a:buNone/>
            </a:pPr>
            <a:r>
              <a:rPr lang="en-US" sz="1600" b="1" dirty="0">
                <a:solidFill>
                  <a:srgbClr val="14284B"/>
                </a:solidFill>
              </a:rPr>
              <a:t>Regulatory path</a:t>
            </a:r>
            <a:endParaRPr lang="en-US" sz="1600" dirty="0"/>
          </a:p>
          <a:p>
            <a:pPr indent="0" marL="0">
              <a:buNone/>
            </a:pPr>
            <a:r>
              <a:rPr lang="en-US" sz="1400" dirty="0">
                <a:solidFill>
                  <a:srgbClr val="4A5260"/>
                </a:solidFill>
              </a:rPr>
              <a:t>Decision support, not autonomous treatment: CDSCO Software as a Medical Device route with prospective validation</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92608"/>
            <a:ext cx="9692640" cy="685800"/>
          </a:xfrm>
          <a:prstGeom prst="rect">
            <a:avLst/>
          </a:prstGeom>
          <a:noFill/>
          <a:ln/>
        </p:spPr>
        <p:txBody>
          <a:bodyPr wrap="square" lIns="0" tIns="0" rIns="0" bIns="0" rtlCol="0" anchor="t">
            <a:normAutofit/>
          </a:bodyPr>
          <a:lstStyle/>
          <a:p>
            <a:pPr indent="0" marL="0">
              <a:buNone/>
            </a:pPr>
            <a:r>
              <a:rPr lang="en-US" sz="3000" b="1" dirty="0">
                <a:solidFill>
                  <a:srgbClr val="14284B"/>
                </a:solidFill>
                <a:latin typeface="Cambria" pitchFamily="34" charset="0"/>
                <a:ea typeface="Cambria" pitchFamily="34" charset="-122"/>
                <a:cs typeface="Cambria" pitchFamily="34" charset="-120"/>
              </a:rPr>
              <a:t>From proof of concept to Indian clinics</a:t>
            </a:r>
            <a:endParaRPr lang="en-US" sz="3000" dirty="0"/>
          </a:p>
        </p:txBody>
      </p:sp>
      <p:sp>
        <p:nvSpPr>
          <p:cNvPr id="3" name="Shape 1"/>
          <p:cNvSpPr/>
          <p:nvPr/>
        </p:nvSpPr>
        <p:spPr>
          <a:xfrm>
            <a:off x="502920" y="1600200"/>
            <a:ext cx="365760" cy="365760"/>
          </a:xfrm>
          <a:prstGeom prst="ellipse">
            <a:avLst/>
          </a:prstGeom>
          <a:solidFill>
            <a:srgbClr val="E8A317"/>
          </a:solidFill>
          <a:ln w="12700">
            <a:solidFill>
              <a:srgbClr val="E8A317"/>
            </a:solidFill>
            <a:prstDash val="solid"/>
          </a:ln>
        </p:spPr>
      </p:sp>
      <p:sp>
        <p:nvSpPr>
          <p:cNvPr id="4" name="Shape 2"/>
          <p:cNvSpPr/>
          <p:nvPr/>
        </p:nvSpPr>
        <p:spPr>
          <a:xfrm>
            <a:off x="914400" y="1783080"/>
            <a:ext cx="2331720" cy="0"/>
          </a:xfrm>
          <a:prstGeom prst="line">
            <a:avLst/>
          </a:prstGeom>
          <a:noFill/>
          <a:ln w="25400">
            <a:solidFill>
              <a:srgbClr val="C9D1DE"/>
            </a:solidFill>
            <a:prstDash val="solid"/>
          </a:ln>
        </p:spPr>
      </p:sp>
      <p:sp>
        <p:nvSpPr>
          <p:cNvPr id="5" name="Text 3"/>
          <p:cNvSpPr txBox="1"/>
          <p:nvPr/>
        </p:nvSpPr>
        <p:spPr>
          <a:xfrm>
            <a:off x="457200" y="2148840"/>
            <a:ext cx="2606040" cy="2103120"/>
          </a:xfrm>
          <a:prstGeom prst="rect">
            <a:avLst/>
          </a:prstGeom>
          <a:noFill/>
          <a:ln/>
        </p:spPr>
        <p:txBody>
          <a:bodyPr wrap="square" lIns="0" tIns="0" rIns="0" bIns="0" rtlCol="0" anchor="t"/>
          <a:lstStyle/>
          <a:p>
            <a:pPr indent="0" marL="0">
              <a:spcAft>
                <a:spcPts val="400"/>
              </a:spcAft>
              <a:buNone/>
            </a:pPr>
            <a:r>
              <a:rPr lang="en-US" sz="1400" b="1" dirty="0">
                <a:solidFill>
                  <a:srgbClr val="7A8291"/>
                </a:solidFill>
              </a:rPr>
              <a:t>Now</a:t>
            </a:r>
            <a:endParaRPr lang="en-US" sz="1400" dirty="0"/>
          </a:p>
          <a:p>
            <a:pPr indent="0" marL="0">
              <a:spcAft>
                <a:spcPts val="400"/>
              </a:spcAft>
              <a:buNone/>
            </a:pPr>
            <a:r>
              <a:rPr lang="en-US" sz="1800" b="1" dirty="0">
                <a:solidFill>
                  <a:srgbClr val="14284B"/>
                </a:solidFill>
              </a:rPr>
              <a:t>Proof of concept</a:t>
            </a:r>
            <a:endParaRPr lang="en-US" sz="1400" dirty="0"/>
          </a:p>
          <a:p>
            <a:pPr indent="0" marL="0">
              <a:spcAft>
                <a:spcPts val="400"/>
              </a:spcAft>
              <a:buNone/>
            </a:pPr>
            <a:r>
              <a:rPr lang="en-US" sz="1300" dirty="0">
                <a:solidFill>
                  <a:srgbClr val="4A5260"/>
                </a:solidFill>
              </a:rPr>
              <a:t>Twin, TwinNet, dashboard, FHIR; validated on synthetic, US and Chinese data</a:t>
            </a:r>
            <a:endParaRPr lang="en-US" sz="1400" dirty="0"/>
          </a:p>
        </p:txBody>
      </p:sp>
      <p:sp>
        <p:nvSpPr>
          <p:cNvPr id="6" name="Shape 4"/>
          <p:cNvSpPr/>
          <p:nvPr/>
        </p:nvSpPr>
        <p:spPr>
          <a:xfrm>
            <a:off x="3337560" y="1600200"/>
            <a:ext cx="365760" cy="365760"/>
          </a:xfrm>
          <a:prstGeom prst="ellipse">
            <a:avLst/>
          </a:prstGeom>
          <a:solidFill>
            <a:srgbClr val="14284B"/>
          </a:solidFill>
          <a:ln w="12700">
            <a:solidFill>
              <a:srgbClr val="14284B"/>
            </a:solidFill>
            <a:prstDash val="solid"/>
          </a:ln>
        </p:spPr>
      </p:sp>
      <p:sp>
        <p:nvSpPr>
          <p:cNvPr id="7" name="Shape 5"/>
          <p:cNvSpPr/>
          <p:nvPr/>
        </p:nvSpPr>
        <p:spPr>
          <a:xfrm>
            <a:off x="3749040" y="1783080"/>
            <a:ext cx="2331720" cy="0"/>
          </a:xfrm>
          <a:prstGeom prst="line">
            <a:avLst/>
          </a:prstGeom>
          <a:noFill/>
          <a:ln w="25400">
            <a:solidFill>
              <a:srgbClr val="C9D1DE"/>
            </a:solidFill>
            <a:prstDash val="solid"/>
          </a:ln>
        </p:spPr>
      </p:sp>
      <p:sp>
        <p:nvSpPr>
          <p:cNvPr id="8" name="Text 6"/>
          <p:cNvSpPr txBox="1"/>
          <p:nvPr/>
        </p:nvSpPr>
        <p:spPr>
          <a:xfrm>
            <a:off x="3291840" y="2148840"/>
            <a:ext cx="2606040" cy="2103120"/>
          </a:xfrm>
          <a:prstGeom prst="rect">
            <a:avLst/>
          </a:prstGeom>
          <a:noFill/>
          <a:ln/>
        </p:spPr>
        <p:txBody>
          <a:bodyPr wrap="square" lIns="0" tIns="0" rIns="0" bIns="0" rtlCol="0" anchor="t"/>
          <a:lstStyle/>
          <a:p>
            <a:pPr indent="0" marL="0">
              <a:spcAft>
                <a:spcPts val="400"/>
              </a:spcAft>
              <a:buNone/>
            </a:pPr>
            <a:r>
              <a:rPr lang="en-US" sz="1400" b="1" dirty="0">
                <a:solidFill>
                  <a:srgbClr val="7A8291"/>
                </a:solidFill>
              </a:rPr>
              <a:t>3 months</a:t>
            </a:r>
            <a:endParaRPr lang="en-US" sz="1400" dirty="0"/>
          </a:p>
          <a:p>
            <a:pPr indent="0" marL="0">
              <a:spcAft>
                <a:spcPts val="400"/>
              </a:spcAft>
              <a:buNone/>
            </a:pPr>
            <a:r>
              <a:rPr lang="en-US" sz="1800" b="1" dirty="0">
                <a:solidFill>
                  <a:srgbClr val="14284B"/>
                </a:solidFill>
              </a:rPr>
              <a:t>Co-design</a:t>
            </a:r>
            <a:endParaRPr lang="en-US" sz="1400" dirty="0"/>
          </a:p>
          <a:p>
            <a:pPr indent="0" marL="0">
              <a:spcAft>
                <a:spcPts val="400"/>
              </a:spcAft>
              <a:buNone/>
            </a:pPr>
            <a:r>
              <a:rPr lang="en-US" sz="1300" dirty="0">
                <a:solidFill>
                  <a:srgbClr val="4A5260"/>
                </a:solidFill>
              </a:rPr>
              <a:t>Diabetologist review of alerts and thresholds; native-speaker review of patient text</a:t>
            </a:r>
            <a:endParaRPr lang="en-US" sz="1400" dirty="0"/>
          </a:p>
        </p:txBody>
      </p:sp>
      <p:sp>
        <p:nvSpPr>
          <p:cNvPr id="9" name="Shape 7"/>
          <p:cNvSpPr/>
          <p:nvPr/>
        </p:nvSpPr>
        <p:spPr>
          <a:xfrm>
            <a:off x="6172200" y="1600200"/>
            <a:ext cx="365760" cy="365760"/>
          </a:xfrm>
          <a:prstGeom prst="ellipse">
            <a:avLst/>
          </a:prstGeom>
          <a:solidFill>
            <a:srgbClr val="14284B"/>
          </a:solidFill>
          <a:ln w="12700">
            <a:solidFill>
              <a:srgbClr val="14284B"/>
            </a:solidFill>
            <a:prstDash val="solid"/>
          </a:ln>
        </p:spPr>
      </p:sp>
      <p:sp>
        <p:nvSpPr>
          <p:cNvPr id="10" name="Shape 8"/>
          <p:cNvSpPr/>
          <p:nvPr/>
        </p:nvSpPr>
        <p:spPr>
          <a:xfrm>
            <a:off x="6583680" y="1783080"/>
            <a:ext cx="2331720" cy="0"/>
          </a:xfrm>
          <a:prstGeom prst="line">
            <a:avLst/>
          </a:prstGeom>
          <a:noFill/>
          <a:ln w="25400">
            <a:solidFill>
              <a:srgbClr val="C9D1DE"/>
            </a:solidFill>
            <a:prstDash val="solid"/>
          </a:ln>
        </p:spPr>
      </p:sp>
      <p:sp>
        <p:nvSpPr>
          <p:cNvPr id="11" name="Text 9"/>
          <p:cNvSpPr txBox="1"/>
          <p:nvPr/>
        </p:nvSpPr>
        <p:spPr>
          <a:xfrm>
            <a:off x="6126480" y="2148840"/>
            <a:ext cx="2606040" cy="2103120"/>
          </a:xfrm>
          <a:prstGeom prst="rect">
            <a:avLst/>
          </a:prstGeom>
          <a:noFill/>
          <a:ln/>
        </p:spPr>
        <p:txBody>
          <a:bodyPr wrap="square" lIns="0" tIns="0" rIns="0" bIns="0" rtlCol="0" anchor="t"/>
          <a:lstStyle/>
          <a:p>
            <a:pPr indent="0" marL="0">
              <a:spcAft>
                <a:spcPts val="400"/>
              </a:spcAft>
              <a:buNone/>
            </a:pPr>
            <a:r>
              <a:rPr lang="en-US" sz="1400" b="1" dirty="0">
                <a:solidFill>
                  <a:srgbClr val="7A8291"/>
                </a:solidFill>
              </a:rPr>
              <a:t>6 months</a:t>
            </a:r>
            <a:endParaRPr lang="en-US" sz="1400" dirty="0"/>
          </a:p>
          <a:p>
            <a:pPr indent="0" marL="0">
              <a:spcAft>
                <a:spcPts val="400"/>
              </a:spcAft>
              <a:buNone/>
            </a:pPr>
            <a:r>
              <a:rPr lang="en-US" sz="1800" b="1" dirty="0">
                <a:solidFill>
                  <a:srgbClr val="14284B"/>
                </a:solidFill>
              </a:rPr>
              <a:t>Pilot</a:t>
            </a:r>
            <a:endParaRPr lang="en-US" sz="1400" dirty="0"/>
          </a:p>
          <a:p>
            <a:pPr indent="0" marL="0">
              <a:spcAft>
                <a:spcPts val="400"/>
              </a:spcAft>
              <a:buNone/>
            </a:pPr>
            <a:r>
              <a:rPr lang="en-US" sz="1300" dirty="0">
                <a:solidFill>
                  <a:srgbClr val="4A5260"/>
                </a:solidFill>
              </a:rPr>
              <a:t>50–100 people with T2D in Bengaluru clinics: CGM + smartwatch + ABDM-linked EHR</a:t>
            </a:r>
            <a:endParaRPr lang="en-US" sz="1400" dirty="0"/>
          </a:p>
        </p:txBody>
      </p:sp>
      <p:sp>
        <p:nvSpPr>
          <p:cNvPr id="12" name="Shape 10"/>
          <p:cNvSpPr/>
          <p:nvPr/>
        </p:nvSpPr>
        <p:spPr>
          <a:xfrm>
            <a:off x="9006840" y="1600200"/>
            <a:ext cx="365760" cy="365760"/>
          </a:xfrm>
          <a:prstGeom prst="ellipse">
            <a:avLst/>
          </a:prstGeom>
          <a:solidFill>
            <a:srgbClr val="14284B"/>
          </a:solidFill>
          <a:ln w="12700">
            <a:solidFill>
              <a:srgbClr val="14284B"/>
            </a:solidFill>
            <a:prstDash val="solid"/>
          </a:ln>
        </p:spPr>
      </p:sp>
      <p:sp>
        <p:nvSpPr>
          <p:cNvPr id="13" name="Text 11"/>
          <p:cNvSpPr txBox="1"/>
          <p:nvPr/>
        </p:nvSpPr>
        <p:spPr>
          <a:xfrm>
            <a:off x="8961120" y="2148840"/>
            <a:ext cx="2606040" cy="2103120"/>
          </a:xfrm>
          <a:prstGeom prst="rect">
            <a:avLst/>
          </a:prstGeom>
          <a:noFill/>
          <a:ln/>
        </p:spPr>
        <p:txBody>
          <a:bodyPr wrap="square" lIns="0" tIns="0" rIns="0" bIns="0" rtlCol="0" anchor="t"/>
          <a:lstStyle/>
          <a:p>
            <a:pPr indent="0" marL="0">
              <a:spcAft>
                <a:spcPts val="400"/>
              </a:spcAft>
              <a:buNone/>
            </a:pPr>
            <a:r>
              <a:rPr lang="en-US" sz="1400" b="1" dirty="0">
                <a:solidFill>
                  <a:srgbClr val="7A8291"/>
                </a:solidFill>
              </a:rPr>
              <a:t>12 months</a:t>
            </a:r>
            <a:endParaRPr lang="en-US" sz="1400" dirty="0"/>
          </a:p>
          <a:p>
            <a:pPr indent="0" marL="0">
              <a:spcAft>
                <a:spcPts val="400"/>
              </a:spcAft>
              <a:buNone/>
            </a:pPr>
            <a:r>
              <a:rPr lang="en-US" sz="1800" b="1" dirty="0">
                <a:solidFill>
                  <a:srgbClr val="14284B"/>
                </a:solidFill>
              </a:rPr>
              <a:t>Validation</a:t>
            </a:r>
            <a:endParaRPr lang="en-US" sz="1400" dirty="0"/>
          </a:p>
          <a:p>
            <a:pPr indent="0" marL="0">
              <a:spcAft>
                <a:spcPts val="400"/>
              </a:spcAft>
              <a:buNone/>
            </a:pPr>
            <a:r>
              <a:rPr lang="en-US" sz="1300" dirty="0">
                <a:solidFill>
                  <a:srgbClr val="4A5260"/>
                </a:solidFill>
              </a:rPr>
              <a:t>Prospective accuracy and outcome study; CDSCO SaMD submission</a:t>
            </a:r>
            <a:endParaRPr lang="en-US" sz="1400" dirty="0"/>
          </a:p>
        </p:txBody>
      </p:sp>
      <p:sp>
        <p:nvSpPr>
          <p:cNvPr id="14" name="Shape 12"/>
          <p:cNvSpPr/>
          <p:nvPr/>
        </p:nvSpPr>
        <p:spPr>
          <a:xfrm>
            <a:off x="457200" y="4572000"/>
            <a:ext cx="11247120" cy="1371600"/>
          </a:xfrm>
          <a:prstGeom prst="roundRect">
            <a:avLst>
              <a:gd name="adj" fmla="val 5333"/>
            </a:avLst>
          </a:prstGeom>
          <a:solidFill>
            <a:srgbClr val="F2F5FA"/>
          </a:solidFill>
          <a:ln w="12700">
            <a:solidFill>
              <a:srgbClr val="F2F5FA"/>
            </a:solidFill>
            <a:prstDash val="solid"/>
          </a:ln>
        </p:spPr>
      </p:sp>
      <p:sp>
        <p:nvSpPr>
          <p:cNvPr id="15" name="Text 13"/>
          <p:cNvSpPr txBox="1"/>
          <p:nvPr/>
        </p:nvSpPr>
        <p:spPr>
          <a:xfrm>
            <a:off x="621792" y="4681728"/>
            <a:ext cx="10917936" cy="1152144"/>
          </a:xfrm>
          <a:prstGeom prst="rect">
            <a:avLst/>
          </a:prstGeom>
          <a:noFill/>
          <a:ln/>
        </p:spPr>
        <p:txBody>
          <a:bodyPr wrap="square" lIns="0" tIns="0" rIns="0" bIns="0" rtlCol="0" anchor="t"/>
          <a:lstStyle/>
          <a:p>
            <a:pPr indent="0" marL="0">
              <a:spcAft>
                <a:spcPts val="400"/>
              </a:spcAft>
              <a:buNone/>
            </a:pPr>
            <a:r>
              <a:rPr lang="en-US" sz="1500" b="1" dirty="0">
                <a:solidFill>
                  <a:srgbClr val="14284B"/>
                </a:solidFill>
              </a:rPr>
              <a:t>Impact we are aiming for</a:t>
            </a:r>
            <a:endParaRPr lang="en-US" sz="1500" dirty="0"/>
          </a:p>
          <a:p>
            <a:pPr indent="0" marL="0">
              <a:spcAft>
                <a:spcPts val="400"/>
              </a:spcAft>
              <a:buNone/>
            </a:pPr>
            <a:r>
              <a:rPr lang="en-US" sz="1300" dirty="0">
                <a:solidFill>
                  <a:srgbClr val="4A5260"/>
                </a:solidFill>
              </a:rPr>
              <a:t>Fewer nocturnal hypoglycaemia episodes in people on sulfonylureas and premixed insulin, more time in range through personalised meal and activity advice, and a care team that sees risk before it becomes an emergency.</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29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731520" y="1828800"/>
            <a:ext cx="100584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731520" y="2834640"/>
            <a:ext cx="10058400" cy="548640"/>
          </a:xfrm>
          <a:prstGeom prst="rect">
            <a:avLst/>
          </a:prstGeom>
          <a:noFill/>
          <a:ln/>
        </p:spPr>
        <p:txBody>
          <a:bodyPr wrap="square" lIns="0" tIns="0" rIns="0" bIns="0" rtlCol="0" anchor="ctr"/>
          <a:lstStyle/>
          <a:p>
            <a:pPr indent="0" marL="0">
              <a:buNone/>
            </a:pPr>
            <a:r>
              <a:rPr lang="en-US" sz="2000" dirty="0">
                <a:solidFill>
                  <a:srgbClr val="DCE4F2"/>
                </a:solidFill>
              </a:rPr>
              <a:t>MadhuTwin: model · sync · simulate, for every person living with diabetes</a:t>
            </a:r>
            <a:endParaRPr lang="en-US" sz="2000" dirty="0"/>
          </a:p>
        </p:txBody>
      </p:sp>
      <p:sp>
        <p:nvSpPr>
          <p:cNvPr id="4" name="Text 2"/>
          <p:cNvSpPr txBox="1"/>
          <p:nvPr/>
        </p:nvSpPr>
        <p:spPr>
          <a:xfrm>
            <a:off x="731520" y="4023360"/>
            <a:ext cx="10058400" cy="457200"/>
          </a:xfrm>
          <a:prstGeom prst="rect">
            <a:avLst/>
          </a:prstGeom>
          <a:noFill/>
          <a:ln/>
        </p:spPr>
        <p:txBody>
          <a:bodyPr wrap="square" lIns="0" tIns="0" rIns="0" bIns="0" rtlCol="0" anchor="ctr"/>
          <a:lstStyle/>
          <a:p>
            <a:pPr indent="0" marL="0">
              <a:buNone/>
            </a:pPr>
            <a:r>
              <a:rPr lang="en-US" sz="1600" dirty="0">
                <a:solidFill>
                  <a:srgbClr val="FFFFFF"/>
                </a:solidFill>
              </a:rPr>
              <a:t>Code, data pipeline, evaluation and dashboard: GitHub repository TODO(team) · Apache-2.0</a:t>
            </a:r>
            <a:endParaRPr lang="en-US" sz="1600" dirty="0"/>
          </a:p>
        </p:txBody>
      </p:sp>
      <p:sp>
        <p:nvSpPr>
          <p:cNvPr id="5" name="Text 3"/>
          <p:cNvSpPr txBox="1"/>
          <p:nvPr/>
        </p:nvSpPr>
        <p:spPr>
          <a:xfrm>
            <a:off x="731520" y="4572000"/>
            <a:ext cx="10058400" cy="457200"/>
          </a:xfrm>
          <a:prstGeom prst="rect">
            <a:avLst/>
          </a:prstGeom>
          <a:noFill/>
          <a:ln/>
        </p:spPr>
        <p:txBody>
          <a:bodyPr wrap="square" lIns="0" tIns="0" rIns="0" bIns="0" rtlCol="0" anchor="ctr"/>
          <a:lstStyle/>
          <a:p>
            <a:pPr indent="0" marL="0">
              <a:buNone/>
            </a:pPr>
            <a:r>
              <a:rPr lang="en-US" sz="1600" dirty="0">
                <a:solidFill>
                  <a:srgbClr val="AEBBD3"/>
                </a:solidFill>
              </a:rPr>
              <a:t>Team: TODO(team)</a:t>
            </a:r>
            <a:endParaRPr lang="en-US" sz="1600" dirty="0"/>
          </a:p>
        </p:txBody>
      </p:sp>
    </p:spTree>
  </p:cSld>
  <p:clrMapOvr>
    <a:masterClrMapping/>
  </p:clrMapOvr>
</p:sld>
</file>

<file path=ppt/theme/theme1.xml><?xml version="1.0" encoding="utf-8"?>
<a:theme xmlns:a="http://schemas.openxmlformats.org/drawingml/2006/main" name="MadhuTwin">
  <a:themeElements>
    <a:clrScheme name="MadhuTwin">
      <a:dk1>
        <a:srgbClr val="16181D"/>
      </a:dk1>
      <a:lt1>
        <a:srgbClr val="FFFFFF"/>
      </a:lt1>
      <a:dk2>
        <a:srgbClr val="14284B"/>
      </a:dk2>
      <a:lt2>
        <a:srgbClr val="EEF2F8"/>
      </a:lt2>
      <a:accent1>
        <a:srgbClr val="2A78D6"/>
      </a:accent1>
      <a:accent2>
        <a:srgbClr val="EB6834"/>
      </a:accent2>
      <a:accent3>
        <a:srgbClr val="1BAF7A"/>
      </a:accent3>
      <a:accent4>
        <a:srgbClr val="E8A317"/>
      </a:accent4>
      <a:accent5>
        <a:srgbClr val="6B5FD3"/>
      </a:accent5>
      <a:accent6>
        <a:srgbClr val="D03B3B"/>
      </a:accent6>
      <a:hlink>
        <a:srgbClr val="2A78D6"/>
      </a:hlink>
      <a:folHlink>
        <a:srgbClr val="6B5FD3"/>
      </a:folHlink>
    </a:clrScheme>
    <a:fontScheme name="MadhuTw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MadhuTwin: a hybrid digital twin for Type 2 Diabetes</dc:title>
  <dc:subject>Happiest Health Digital Twin Challenge 2026</dc:subject>
  <dc:creator>MadhuTwin team</dc:creator>
  <cp:lastModifiedBy>MadhuTwin team</cp:lastModifiedBy>
  <cp:revision>1</cp:revision>
  <dcterms:created xsi:type="dcterms:W3CDTF">2026-10-07T23:27:18Z</dcterms:created>
  <dcterms:modified xsi:type="dcterms:W3CDTF">2026-10-07T23:27:18Z</dcterms:modified>
</cp:coreProperties>
</file>