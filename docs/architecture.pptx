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MadhuTwin architecture: two data streams fused into a living digital twin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</a:rPr>
              <a:t>Type 2 Diabetes · predicts glucose spikes and hypoglycaemia up to 2 hours ahead · doctor-facing dashboard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B"/>
                </a:solidFill>
              </a:rPr>
              <a:t>1 · Data streams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069080" y="1280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B"/>
                </a:solidFill>
              </a:rPr>
              <a:t>2 · Digital twin core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82396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B"/>
                </a:solidFill>
              </a:rPr>
              <a:t>3 · Clinician experience</a:t>
            </a:r>
            <a:endParaRPr lang="en-US" sz="1300" dirty="0"/>
          </a:p>
        </p:txBody>
      </p:sp>
      <p:sp>
        <p:nvSpPr>
          <p:cNvPr id="7" name="ehr"/>
          <p:cNvSpPr/>
          <p:nvPr/>
        </p:nvSpPr>
        <p:spPr>
          <a:xfrm>
            <a:off x="457200" y="164592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EAF2FC"/>
          </a:solidFill>
          <a:ln w="9525">
            <a:solidFill>
              <a:srgbClr val="BFD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719072"/>
            <a:ext cx="298094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/ historical: EHR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diagnoses (SNOMED CT)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Labs: HbA1c, FPG, insulin, lipids, eGFR (LOINC)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with timing (WHO ATC)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· TCF7L2 rs7903146 · polygenic risk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bundles, ABDM-aligned</a:t>
            </a:r>
            <a:endParaRPr lang="en-US" sz="1300" dirty="0"/>
          </a:p>
        </p:txBody>
      </p:sp>
      <p:sp>
        <p:nvSpPr>
          <p:cNvPr id="9" name="wearables"/>
          <p:cNvSpPr/>
          <p:nvPr/>
        </p:nvSpPr>
        <p:spPr>
          <a:xfrm>
            <a:off x="457200" y="361188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DF0EA"/>
          </a:solidFill>
          <a:ln w="9525">
            <a:solidFill>
              <a:srgbClr val="F4CDB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685032"/>
            <a:ext cx="298094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real-time: wearables &amp; IoT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every 5–15 min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HRV (RMSSD), steps, METs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stages (hypnogram)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meals (Indian foods) and doses</a:t>
            </a:r>
            <a:endParaRPr lang="en-US" sz="1300" dirty="0"/>
          </a:p>
        </p:txBody>
      </p:sp>
      <p:sp>
        <p:nvSpPr>
          <p:cNvPr id="11" name="sources"/>
          <p:cNvSpPr/>
          <p:nvPr/>
        </p:nvSpPr>
        <p:spPr>
          <a:xfrm>
            <a:off x="457200" y="53035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5376672"/>
            <a:ext cx="29809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India cohort 1,000 × 14 d · CGMacros (45, real) · BIG IDEAs (16, real HRV) · ShanghaiT2DM (100, external)</a:t>
            </a:r>
            <a:endParaRPr lang="en-US" sz="1100" dirty="0"/>
          </a:p>
        </p:txBody>
      </p:sp>
      <p:sp>
        <p:nvSpPr>
          <p:cNvPr id="13" name="ingest"/>
          <p:cNvSpPr/>
          <p:nvPr/>
        </p:nvSpPr>
        <p:spPr>
          <a:xfrm>
            <a:off x="4069080" y="1645920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78808" y="1719072"/>
            <a:ext cx="4123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fuse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5-min schema · missing-aware · EHR vector + 21 dynamic channels</a:t>
            </a:r>
            <a:endParaRPr lang="en-US" sz="1100" dirty="0"/>
          </a:p>
        </p:txBody>
      </p:sp>
      <p:sp>
        <p:nvSpPr>
          <p:cNvPr id="15" name="MODEL"/>
          <p:cNvSpPr/>
          <p:nvPr/>
        </p:nvSpPr>
        <p:spPr>
          <a:xfrm>
            <a:off x="4069080" y="256032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2633472"/>
            <a:ext cx="1161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CE4F2"/>
                </a:solidFill>
              </a:rPr>
              <a:t>Personalised glucose–insulin physiology (MAP fit, EHR priors)</a:t>
            </a:r>
            <a:endParaRPr lang="en-US" sz="1400" dirty="0"/>
          </a:p>
        </p:txBody>
      </p:sp>
      <p:sp>
        <p:nvSpPr>
          <p:cNvPr id="17" name="SYNC"/>
          <p:cNvSpPr/>
          <p:nvPr/>
        </p:nvSpPr>
        <p:spPr>
          <a:xfrm>
            <a:off x="5577840" y="256032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633472"/>
            <a:ext cx="1161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SYNC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CE4F2"/>
                </a:solidFill>
              </a:rPr>
              <a:t>Unscented Kalman filter every 5 min: state + insulin-sensitivity drift</a:t>
            </a:r>
            <a:endParaRPr lang="en-US" sz="1400" dirty="0"/>
          </a:p>
        </p:txBody>
      </p:sp>
      <p:sp>
        <p:nvSpPr>
          <p:cNvPr id="19" name="SIMULATE"/>
          <p:cNvSpPr/>
          <p:nvPr/>
        </p:nvSpPr>
        <p:spPr>
          <a:xfrm>
            <a:off x="7086600" y="256032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2633472"/>
            <a:ext cx="1161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SIMULATE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CE4F2"/>
                </a:solidFill>
              </a:rPr>
              <a:t>2-h forecasts and what-if: meals, walks, sleep, illness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13248" y="3218688"/>
            <a:ext cx="146304" cy="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22008" y="3218688"/>
            <a:ext cx="146304" cy="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23" name="twinnet"/>
          <p:cNvSpPr/>
          <p:nvPr/>
        </p:nvSpPr>
        <p:spPr>
          <a:xfrm>
            <a:off x="4069080" y="4069080"/>
            <a:ext cx="4343400" cy="2103120"/>
          </a:xfrm>
          <a:prstGeom prst="roundRect">
            <a:avLst>
              <a:gd name="adj" fmla="val 3478"/>
            </a:avLst>
          </a:prstGeom>
          <a:solidFill>
            <a:srgbClr val="EAF2FC"/>
          </a:solidFill>
          <a:ln w="9525">
            <a:solidFill>
              <a:srgbClr val="BFD5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78808" y="4142232"/>
            <a:ext cx="41239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TwinNet: physics-gated fusion network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dilated TCN over 6 h × 21 channels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encoder conditions the dynamics (FiLM)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learns how much to trust the physics twin per horizon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5–120 min quantiles (conformal 80% band) + spike / hypo probability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per person, averaged with LightGBM; SHAP reasons</a:t>
            </a:r>
            <a:endParaRPr lang="en-US" sz="1300" dirty="0"/>
          </a:p>
        </p:txBody>
      </p:sp>
      <p:sp>
        <p:nvSpPr>
          <p:cNvPr id="25" name="api"/>
          <p:cNvSpPr/>
          <p:nvPr/>
        </p:nvSpPr>
        <p:spPr>
          <a:xfrm>
            <a:off x="8823960" y="16459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33688" y="1719072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replay · audit trail · FHIR export</a:t>
            </a:r>
            <a:endParaRPr lang="en-US" sz="1100" dirty="0"/>
          </a:p>
        </p:txBody>
      </p:sp>
      <p:sp>
        <p:nvSpPr>
          <p:cNvPr id="27" name="dashboard"/>
          <p:cNvSpPr/>
          <p:nvPr/>
        </p:nvSpPr>
        <p:spPr>
          <a:xfrm>
            <a:off x="8823960" y="2560320"/>
            <a:ext cx="2926080" cy="2514600"/>
          </a:xfrm>
          <a:prstGeom prst="roundRect">
            <a:avLst>
              <a:gd name="adj" fmla="val 2909"/>
            </a:avLst>
          </a:prstGeom>
          <a:solidFill>
            <a:srgbClr val="EAF7F1"/>
          </a:solidFill>
          <a:ln w="9525">
            <a:solidFill>
              <a:srgbClr val="BCE6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33688" y="2633472"/>
            <a:ext cx="270662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 remote-monitoring panel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patient: organ-level physiology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CGM + 2 h forecast cone + alerts with reasons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 report (international consensus)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 with Indian meals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twin (grounded assistant)</a:t>
            </a:r>
            <a:endParaRPr lang="en-US" sz="1300" dirty="0"/>
          </a:p>
        </p:txBody>
      </p:sp>
      <p:sp>
        <p:nvSpPr>
          <p:cNvPr id="29" name="fhir"/>
          <p:cNvSpPr/>
          <p:nvPr/>
        </p:nvSpPr>
        <p:spPr>
          <a:xfrm>
            <a:off x="8823960" y="51663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33688" y="5239512"/>
            <a:ext cx="2706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RiskAssessment carries the twin's forecast to any EHR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flipV="1">
            <a:off x="3657600" y="2011680"/>
            <a:ext cx="411480" cy="640080"/>
          </a:xfrm>
          <a:prstGeom prst="line">
            <a:avLst/>
          </a:prstGeom>
          <a:noFill/>
          <a:ln w="2540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3657600" y="2240280"/>
            <a:ext cx="411480" cy="2148840"/>
          </a:xfrm>
          <a:prstGeom prst="line">
            <a:avLst/>
          </a:prstGeom>
          <a:noFill/>
          <a:ln w="2540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17920" y="2377440"/>
            <a:ext cx="0" cy="182880"/>
          </a:xfrm>
          <a:prstGeom prst="line">
            <a:avLst/>
          </a:prstGeom>
          <a:noFill/>
          <a:ln w="2540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17920" y="3886200"/>
            <a:ext cx="0" cy="182880"/>
          </a:xfrm>
          <a:prstGeom prst="line">
            <a:avLst/>
          </a:prstGeom>
          <a:noFill/>
          <a:ln w="2540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8412480" y="3931920"/>
            <a:ext cx="411480" cy="1097280"/>
          </a:xfrm>
          <a:prstGeom prst="line">
            <a:avLst/>
          </a:prstGeom>
          <a:noFill/>
          <a:ln w="2540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12480" y="3218688"/>
            <a:ext cx="411480" cy="0"/>
          </a:xfrm>
          <a:prstGeom prst="line">
            <a:avLst/>
          </a:prstGeom>
          <a:noFill/>
          <a:ln w="2540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37" name="governance"/>
          <p:cNvSpPr/>
          <p:nvPr/>
        </p:nvSpPr>
        <p:spPr>
          <a:xfrm>
            <a:off x="457200" y="6309360"/>
            <a:ext cx="11292840" cy="384048"/>
          </a:xfrm>
          <a:prstGeom prst="roundRect">
            <a:avLst>
              <a:gd name="adj" fmla="val 14286"/>
            </a:avLst>
          </a:prstGeom>
          <a:solidFill>
            <a:srgbClr val="FFF5DC"/>
          </a:solidFill>
          <a:ln w="12700">
            <a:solidFill>
              <a:srgbClr val="F2D5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4360" y="63276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300"/>
                </a:solidFill>
              </a:rPr>
              <a:t>Governance  </a:t>
            </a:r>
            <a:pPr indent="0" marL="0">
              <a:buNone/>
            </a:pPr>
            <a:r>
              <a:rPr lang="en-US" sz="1100" dirty="0">
                <a:solidFill>
                  <a:srgbClr val="4A3A10"/>
                </a:solidFill>
              </a:rPr>
              <a:t>consent artefacts · purpose-tagged audit log · de-identified &amp; synthetic data · model card · DPDP Act 2023 · CDSCO SaMD pathway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MadhuTwin architecture</dc:title>
  <dc:subject>PptxGenJS Presentation</dc:subject>
  <dc:creator>MadhuTwin team</dc:creator>
  <cp:lastModifiedBy>MadhuTwin team</cp:lastModifiedBy>
  <cp:revision>1</cp:revision>
  <dcterms:created xsi:type="dcterms:W3CDTF">2026-10-08T01:52:29Z</dcterms:created>
  <dcterms:modified xsi:type="dcterms:W3CDTF">2026-10-08T01:52:29Z</dcterms:modified>
</cp:coreProperties>
</file>